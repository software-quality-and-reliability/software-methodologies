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6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71" r:id="rId16"/>
    <p:sldId id="272" r:id="rId17"/>
    <p:sldId id="273" r:id="rId18"/>
    <p:sldId id="274" r:id="rId19"/>
    <p:sldId id="275" r:id="rId20"/>
    <p:sldId id="276"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4" r:id="rId47"/>
    <p:sldId id="305" r:id="rId48"/>
    <p:sldId id="306" r:id="rId49"/>
    <p:sldId id="307" r:id="rId50"/>
    <p:sldId id="308" r:id="rId51"/>
    <p:sldId id="309" r:id="rId52"/>
    <p:sldId id="310" r:id="rId53"/>
    <p:sldId id="311" r:id="rId54"/>
    <p:sldId id="312" r:id="rId55"/>
    <p:sldId id="313" r:id="rId56"/>
    <p:sldId id="314" r:id="rId57"/>
    <p:sldId id="315" r:id="rId58"/>
    <p:sldId id="316" r:id="rId59"/>
    <p:sldId id="317" r:id="rId60"/>
    <p:sldId id="318" r:id="rId61"/>
    <p:sldId id="319" r:id="rId62"/>
    <p:sldId id="320" r:id="rId63"/>
    <p:sldId id="321" r:id="rId64"/>
    <p:sldId id="322" r:id="rId65"/>
    <p:sldId id="323" r:id="rId66"/>
  </p:sldIdLst>
  <p:sldSz cx="12192000" cy="6858000"/>
  <p:notesSz cx="6858000" cy="9144000"/>
  <p:embeddedFontLst>
    <p:embeddedFont>
      <p:font typeface="Calibri" panose="020F0502020204030204" pitchFamily="34" charset="0"/>
      <p:regular r:id="rId68"/>
      <p:bold r:id="rId69"/>
      <p:italic r:id="rId70"/>
      <p:boldItalic r:id="rId71"/>
    </p:embeddedFont>
    <p:embeddedFont>
      <p:font typeface="Corbel" panose="020B0503020204020204" pitchFamily="34" charset="0"/>
      <p:regular r:id="rId72"/>
      <p:bold r:id="rId73"/>
      <p:italic r:id="rId74"/>
      <p:boldItalic r:id="rId75"/>
    </p:embeddedFont>
    <p:embeddedFont>
      <p:font typeface="Verdana" panose="020B0604030504040204" pitchFamily="34" charset="0"/>
      <p:regular r:id="rId76"/>
      <p:bold r:id="rId77"/>
      <p:italic r:id="rId78"/>
      <p:boldItalic r:id="rId7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3" roundtripDataSignature="AMtx7mhE+M/0K1P7jAznGXkqV03kgTBjy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9" d="100"/>
          <a:sy n="109" d="100"/>
        </p:scale>
        <p:origin x="63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font" Target="fonts/font1.fntdata"/><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7.fntdata"/><Relationship Id="rId79" Type="http://schemas.openxmlformats.org/officeDocument/2006/relationships/font" Target="fonts/font12.fntdata"/><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font" Target="fonts/font2.fntdata"/><Relationship Id="rId77" Type="http://schemas.openxmlformats.org/officeDocument/2006/relationships/font" Target="fonts/font10.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5.fntdata"/><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3.fntdata"/><Relationship Id="rId75" Type="http://schemas.openxmlformats.org/officeDocument/2006/relationships/font" Target="fonts/font8.fntdata"/><Relationship Id="rId83"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6.fntdata"/><Relationship Id="rId78" Type="http://schemas.openxmlformats.org/officeDocument/2006/relationships/font" Target="fonts/font11.fntdata"/><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9.fntdata"/><Relationship Id="rId7" Type="http://schemas.openxmlformats.org/officeDocument/2006/relationships/slide" Target="slides/slide6.xml"/><Relationship Id="rId71" Type="http://schemas.openxmlformats.org/officeDocument/2006/relationships/font" Target="fonts/font4.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l-GR"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 name="Google Shape;16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0" name="Google Shape;20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7" name="Google Shape;20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4" name="Google Shape;214;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 name="Google Shape;22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6" name="Google Shape;236;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3" name="Google Shape;243;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0" name="Google Shape;250;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7" name="Google Shape;257;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5" name="Google Shape;265;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2" name="Google Shape;27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9" name="Google Shape;279;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6" name="Google Shape;286;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1" name="Google Shape;301;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2adfc9e2d43_1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8" name="Google Shape;308;g2adfc9e2d43_1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5" name="Google Shape;31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2" name="Google Shape;322;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9" name="Google Shape;329;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5" name="Google Shape;335;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3" name="Google Shape;343;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0" name="Google Shape;350;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7" name="Google Shape;357;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4" name="Google Shape;364;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2" name="Google Shape;372;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9" name="Google Shape;379;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6" name="Google Shape;386;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3" name="Google Shape;393;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1" name="Google Shape;401;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8" name="Google Shape;408;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5" name="Google Shape;415;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2" name="Google Shape;422;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9" name="Google Shape;429;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6" name="Google Shape;436;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4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1" name="Google Shape;451;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8" name="Google Shape;458;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p4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5" name="Google Shape;465;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4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3" name="Google Shape;473;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5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7" name="Google Shape;487;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p5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4" name="Google Shape;494;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p5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1" name="Google Shape;501;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5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8" name="Google Shape;508;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p5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6" name="Google Shape;516;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p5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3" name="Google Shape;523;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p5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0" name="Google Shape;530;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p5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7" name="Google Shape;537;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p5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3" name="Google Shape;543;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p5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9" name="Google Shape;549;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p6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0" name="Google Shape;560;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p6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0" name="Google Shape;570;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9"/>
        <p:cNvGrpSpPr/>
        <p:nvPr/>
      </p:nvGrpSpPr>
      <p:grpSpPr>
        <a:xfrm>
          <a:off x="0" y="0"/>
          <a:ext cx="0" cy="0"/>
          <a:chOff x="0" y="0"/>
          <a:chExt cx="0" cy="0"/>
        </a:xfrm>
      </p:grpSpPr>
      <p:sp>
        <p:nvSpPr>
          <p:cNvPr id="580" name="Google Shape;580;p6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1" name="Google Shape;581;p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p6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2" name="Google Shape;592;p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p6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9" name="Google Shape;599;p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3"/>
        <p:cNvGrpSpPr/>
        <p:nvPr/>
      </p:nvGrpSpPr>
      <p:grpSpPr>
        <a:xfrm>
          <a:off x="0" y="0"/>
          <a:ext cx="0" cy="0"/>
          <a:chOff x="0" y="0"/>
          <a:chExt cx="0" cy="0"/>
        </a:xfrm>
      </p:grpSpPr>
      <p:sp>
        <p:nvSpPr>
          <p:cNvPr id="604" name="Google Shape;604;p6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5" name="Google Shape;605;p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9"/>
        <p:cNvGrpSpPr/>
        <p:nvPr/>
      </p:nvGrpSpPr>
      <p:grpSpPr>
        <a:xfrm>
          <a:off x="0" y="0"/>
          <a:ext cx="0" cy="0"/>
          <a:chOff x="0" y="0"/>
          <a:chExt cx="0" cy="0"/>
        </a:xfrm>
      </p:grpSpPr>
      <p:sp>
        <p:nvSpPr>
          <p:cNvPr id="610" name="Google Shape;610;p6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1" name="Google Shape;611;p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p6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7" name="Google Shape;617;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6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3" name="Google Shape;623;p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p6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9" name="Google Shape;629;p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22"/>
        <p:cNvGrpSpPr/>
        <p:nvPr/>
      </p:nvGrpSpPr>
      <p:grpSpPr>
        <a:xfrm>
          <a:off x="0" y="0"/>
          <a:ext cx="0" cy="0"/>
          <a:chOff x="0" y="0"/>
          <a:chExt cx="0" cy="0"/>
        </a:xfrm>
      </p:grpSpPr>
      <p:grpSp>
        <p:nvGrpSpPr>
          <p:cNvPr id="23" name="Google Shape;23;p71"/>
          <p:cNvGrpSpPr/>
          <p:nvPr/>
        </p:nvGrpSpPr>
        <p:grpSpPr>
          <a:xfrm>
            <a:off x="546100" y="-4763"/>
            <a:ext cx="5014912" cy="6862763"/>
            <a:chOff x="2928938" y="-4763"/>
            <a:chExt cx="5014912" cy="6862763"/>
          </a:xfrm>
        </p:grpSpPr>
        <p:sp>
          <p:nvSpPr>
            <p:cNvPr id="24" name="Google Shape;24;p71"/>
            <p:cNvSpPr/>
            <p:nvPr/>
          </p:nvSpPr>
          <p:spPr>
            <a:xfrm>
              <a:off x="3367088" y="-4763"/>
              <a:ext cx="1063625" cy="2782888"/>
            </a:xfrm>
            <a:custGeom>
              <a:avLst/>
              <a:gdLst/>
              <a:ahLst/>
              <a:cxnLst/>
              <a:rect l="l" t="t" r="r" b="b"/>
              <a:pathLst>
                <a:path w="670" h="1753" extrusionOk="0">
                  <a:moveTo>
                    <a:pt x="0" y="1696"/>
                  </a:moveTo>
                  <a:lnTo>
                    <a:pt x="225" y="1753"/>
                  </a:lnTo>
                  <a:lnTo>
                    <a:pt x="670" y="0"/>
                  </a:lnTo>
                  <a:lnTo>
                    <a:pt x="430" y="0"/>
                  </a:lnTo>
                  <a:lnTo>
                    <a:pt x="0" y="1696"/>
                  </a:lnTo>
                  <a:close/>
                </a:path>
              </a:pathLst>
            </a:custGeom>
            <a:solidFill>
              <a:schemeClr val="accent1"/>
            </a:solidFill>
            <a:ln>
              <a:noFill/>
            </a:ln>
          </p:spPr>
        </p:sp>
        <p:sp>
          <p:nvSpPr>
            <p:cNvPr id="25" name="Google Shape;25;p71"/>
            <p:cNvSpPr/>
            <p:nvPr/>
          </p:nvSpPr>
          <p:spPr>
            <a:xfrm>
              <a:off x="2928938" y="-4763"/>
              <a:ext cx="1035050" cy="2673350"/>
            </a:xfrm>
            <a:custGeom>
              <a:avLst/>
              <a:gdLst/>
              <a:ahLst/>
              <a:cxnLst/>
              <a:rect l="l" t="t" r="r" b="b"/>
              <a:pathLst>
                <a:path w="652" h="1684" extrusionOk="0">
                  <a:moveTo>
                    <a:pt x="225" y="1684"/>
                  </a:moveTo>
                  <a:lnTo>
                    <a:pt x="652" y="0"/>
                  </a:lnTo>
                  <a:lnTo>
                    <a:pt x="411" y="0"/>
                  </a:lnTo>
                  <a:lnTo>
                    <a:pt x="0" y="1627"/>
                  </a:lnTo>
                  <a:lnTo>
                    <a:pt x="219" y="1681"/>
                  </a:lnTo>
                  <a:lnTo>
                    <a:pt x="225" y="1684"/>
                  </a:lnTo>
                  <a:close/>
                </a:path>
              </a:pathLst>
            </a:custGeom>
            <a:solidFill>
              <a:srgbClr val="595959"/>
            </a:solidFill>
            <a:ln>
              <a:noFill/>
            </a:ln>
          </p:spPr>
        </p:sp>
        <p:sp>
          <p:nvSpPr>
            <p:cNvPr id="26" name="Google Shape;26;p71"/>
            <p:cNvSpPr/>
            <p:nvPr/>
          </p:nvSpPr>
          <p:spPr>
            <a:xfrm>
              <a:off x="2928938" y="2582862"/>
              <a:ext cx="2693987" cy="4275138"/>
            </a:xfrm>
            <a:custGeom>
              <a:avLst/>
              <a:gdLst/>
              <a:ahLst/>
              <a:cxnLst/>
              <a:rect l="l" t="t" r="r" b="b"/>
              <a:pathLst>
                <a:path w="1697" h="2693" extrusionOk="0">
                  <a:moveTo>
                    <a:pt x="0" y="0"/>
                  </a:moveTo>
                  <a:lnTo>
                    <a:pt x="1622" y="2693"/>
                  </a:lnTo>
                  <a:lnTo>
                    <a:pt x="1697" y="2693"/>
                  </a:lnTo>
                  <a:lnTo>
                    <a:pt x="0" y="0"/>
                  </a:lnTo>
                  <a:close/>
                </a:path>
              </a:pathLst>
            </a:custGeom>
            <a:solidFill>
              <a:srgbClr val="262626"/>
            </a:solidFill>
            <a:ln>
              <a:noFill/>
            </a:ln>
          </p:spPr>
        </p:sp>
        <p:sp>
          <p:nvSpPr>
            <p:cNvPr id="27" name="Google Shape;27;p71"/>
            <p:cNvSpPr/>
            <p:nvPr/>
          </p:nvSpPr>
          <p:spPr>
            <a:xfrm>
              <a:off x="3371850" y="2692400"/>
              <a:ext cx="3332162" cy="4165600"/>
            </a:xfrm>
            <a:custGeom>
              <a:avLst/>
              <a:gdLst/>
              <a:ahLst/>
              <a:cxnLst/>
              <a:rect l="l" t="t" r="r" b="b"/>
              <a:pathLst>
                <a:path w="2099" h="2624" extrusionOk="0">
                  <a:moveTo>
                    <a:pt x="2099" y="2624"/>
                  </a:moveTo>
                  <a:lnTo>
                    <a:pt x="0" y="0"/>
                  </a:lnTo>
                  <a:lnTo>
                    <a:pt x="2021" y="2624"/>
                  </a:lnTo>
                  <a:lnTo>
                    <a:pt x="2099" y="2624"/>
                  </a:lnTo>
                  <a:close/>
                </a:path>
              </a:pathLst>
            </a:custGeom>
            <a:solidFill>
              <a:srgbClr val="0B5982"/>
            </a:solidFill>
            <a:ln>
              <a:noFill/>
            </a:ln>
          </p:spPr>
        </p:sp>
        <p:sp>
          <p:nvSpPr>
            <p:cNvPr id="28" name="Google Shape;28;p71"/>
            <p:cNvSpPr/>
            <p:nvPr/>
          </p:nvSpPr>
          <p:spPr>
            <a:xfrm>
              <a:off x="3367088" y="2687637"/>
              <a:ext cx="4576762" cy="4170363"/>
            </a:xfrm>
            <a:custGeom>
              <a:avLst/>
              <a:gdLst/>
              <a:ahLst/>
              <a:cxnLst/>
              <a:rect l="l" t="t" r="r" b="b"/>
              <a:pathLst>
                <a:path w="2883" h="2627" extrusionOk="0">
                  <a:moveTo>
                    <a:pt x="0" y="0"/>
                  </a:moveTo>
                  <a:lnTo>
                    <a:pt x="3" y="3"/>
                  </a:lnTo>
                  <a:lnTo>
                    <a:pt x="2102" y="2627"/>
                  </a:lnTo>
                  <a:lnTo>
                    <a:pt x="2883" y="2627"/>
                  </a:lnTo>
                  <a:lnTo>
                    <a:pt x="225" y="57"/>
                  </a:lnTo>
                  <a:lnTo>
                    <a:pt x="0" y="0"/>
                  </a:lnTo>
                  <a:close/>
                </a:path>
              </a:pathLst>
            </a:custGeom>
            <a:solidFill>
              <a:srgbClr val="1186C3"/>
            </a:solidFill>
            <a:ln>
              <a:noFill/>
            </a:ln>
          </p:spPr>
        </p:sp>
        <p:sp>
          <p:nvSpPr>
            <p:cNvPr id="29" name="Google Shape;29;p71"/>
            <p:cNvSpPr/>
            <p:nvPr/>
          </p:nvSpPr>
          <p:spPr>
            <a:xfrm>
              <a:off x="2928938" y="2578100"/>
              <a:ext cx="3584575" cy="4279900"/>
            </a:xfrm>
            <a:custGeom>
              <a:avLst/>
              <a:gdLst/>
              <a:ahLst/>
              <a:cxnLst/>
              <a:rect l="l" t="t" r="r" b="b"/>
              <a:pathLst>
                <a:path w="2258" h="2696" extrusionOk="0">
                  <a:moveTo>
                    <a:pt x="2258" y="2696"/>
                  </a:moveTo>
                  <a:lnTo>
                    <a:pt x="264" y="111"/>
                  </a:lnTo>
                  <a:lnTo>
                    <a:pt x="228" y="60"/>
                  </a:lnTo>
                  <a:lnTo>
                    <a:pt x="225" y="57"/>
                  </a:lnTo>
                  <a:lnTo>
                    <a:pt x="0" y="0"/>
                  </a:lnTo>
                  <a:lnTo>
                    <a:pt x="0" y="3"/>
                  </a:lnTo>
                  <a:lnTo>
                    <a:pt x="1697" y="2696"/>
                  </a:lnTo>
                  <a:lnTo>
                    <a:pt x="2258" y="2696"/>
                  </a:lnTo>
                  <a:close/>
                </a:path>
              </a:pathLst>
            </a:custGeom>
            <a:solidFill>
              <a:srgbClr val="3F3F3F"/>
            </a:solidFill>
            <a:ln>
              <a:noFill/>
            </a:ln>
          </p:spPr>
        </p:sp>
      </p:grpSp>
      <p:sp>
        <p:nvSpPr>
          <p:cNvPr id="30" name="Google Shape;30;p71"/>
          <p:cNvSpPr txBox="1">
            <a:spLocks noGrp="1"/>
          </p:cNvSpPr>
          <p:nvPr>
            <p:ph type="ctrTitle"/>
          </p:nvPr>
        </p:nvSpPr>
        <p:spPr>
          <a:xfrm>
            <a:off x="2928401" y="1380068"/>
            <a:ext cx="8574622" cy="2616199"/>
          </a:xfrm>
          <a:prstGeom prst="rect">
            <a:avLst/>
          </a:prstGeom>
          <a:noFill/>
          <a:ln>
            <a:noFill/>
          </a:ln>
        </p:spPr>
        <p:txBody>
          <a:bodyPr spcFirstLastPara="1" wrap="square" lIns="91425" tIns="45700" rIns="91425" bIns="45700" anchor="b" anchorCtr="0">
            <a:normAutofit/>
          </a:bodyPr>
          <a:lstStyle>
            <a:lvl1pPr lvl="0" algn="r">
              <a:spcBef>
                <a:spcPts val="0"/>
              </a:spcBef>
              <a:spcAft>
                <a:spcPts val="0"/>
              </a:spcAft>
              <a:buClr>
                <a:schemeClr val="dk1"/>
              </a:buClr>
              <a:buSzPts val="6000"/>
              <a:buFont typeface="Corbel"/>
              <a:buNone/>
              <a:defRPr sz="6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71"/>
          <p:cNvSpPr txBox="1">
            <a:spLocks noGrp="1"/>
          </p:cNvSpPr>
          <p:nvPr>
            <p:ph type="subTitle" idx="1"/>
          </p:nvPr>
        </p:nvSpPr>
        <p:spPr>
          <a:xfrm>
            <a:off x="4515377" y="3996267"/>
            <a:ext cx="6987645" cy="1388534"/>
          </a:xfrm>
          <a:prstGeom prst="rect">
            <a:avLst/>
          </a:prstGeom>
          <a:noFill/>
          <a:ln>
            <a:noFill/>
          </a:ln>
        </p:spPr>
        <p:txBody>
          <a:bodyPr spcFirstLastPara="1" wrap="square" lIns="91425" tIns="45700" rIns="91425" bIns="45700" anchor="t" anchorCtr="0">
            <a:normAutofit/>
          </a:bodyPr>
          <a:lstStyle>
            <a:lvl1pPr lvl="0" algn="r">
              <a:spcBef>
                <a:spcPts val="420"/>
              </a:spcBef>
              <a:spcAft>
                <a:spcPts val="0"/>
              </a:spcAft>
              <a:buSzPts val="3045"/>
              <a:buNone/>
              <a:defRPr sz="2100">
                <a:solidFill>
                  <a:schemeClr val="dk1"/>
                </a:solidFill>
              </a:defRPr>
            </a:lvl1pPr>
            <a:lvl2pPr lvl="1" algn="ctr">
              <a:spcBef>
                <a:spcPts val="600"/>
              </a:spcBef>
              <a:spcAft>
                <a:spcPts val="0"/>
              </a:spcAft>
              <a:buSzPts val="2900"/>
              <a:buNone/>
              <a:defRPr>
                <a:solidFill>
                  <a:srgbClr val="888888"/>
                </a:solidFill>
              </a:defRPr>
            </a:lvl2pPr>
            <a:lvl3pPr lvl="2" algn="ctr">
              <a:spcBef>
                <a:spcPts val="600"/>
              </a:spcBef>
              <a:spcAft>
                <a:spcPts val="0"/>
              </a:spcAft>
              <a:buSzPts val="2610"/>
              <a:buNone/>
              <a:defRPr>
                <a:solidFill>
                  <a:srgbClr val="888888"/>
                </a:solidFill>
              </a:defRPr>
            </a:lvl3pPr>
            <a:lvl4pPr lvl="3" algn="ctr">
              <a:spcBef>
                <a:spcPts val="600"/>
              </a:spcBef>
              <a:spcAft>
                <a:spcPts val="0"/>
              </a:spcAft>
              <a:buSzPts val="2320"/>
              <a:buNone/>
              <a:defRPr>
                <a:solidFill>
                  <a:srgbClr val="888888"/>
                </a:solidFill>
              </a:defRPr>
            </a:lvl4pPr>
            <a:lvl5pPr lvl="4" algn="ctr">
              <a:spcBef>
                <a:spcPts val="600"/>
              </a:spcBef>
              <a:spcAft>
                <a:spcPts val="0"/>
              </a:spcAft>
              <a:buSzPts val="2030"/>
              <a:buNone/>
              <a:defRPr>
                <a:solidFill>
                  <a:srgbClr val="888888"/>
                </a:solidFill>
              </a:defRPr>
            </a:lvl5pPr>
            <a:lvl6pPr lvl="5" algn="ctr">
              <a:spcBef>
                <a:spcPts val="600"/>
              </a:spcBef>
              <a:spcAft>
                <a:spcPts val="0"/>
              </a:spcAft>
              <a:buSzPts val="2030"/>
              <a:buNone/>
              <a:defRPr>
                <a:solidFill>
                  <a:srgbClr val="888888"/>
                </a:solidFill>
              </a:defRPr>
            </a:lvl6pPr>
            <a:lvl7pPr lvl="6" algn="ctr">
              <a:spcBef>
                <a:spcPts val="600"/>
              </a:spcBef>
              <a:spcAft>
                <a:spcPts val="0"/>
              </a:spcAft>
              <a:buSzPts val="2030"/>
              <a:buNone/>
              <a:defRPr>
                <a:solidFill>
                  <a:srgbClr val="888888"/>
                </a:solidFill>
              </a:defRPr>
            </a:lvl7pPr>
            <a:lvl8pPr lvl="7" algn="ctr">
              <a:spcBef>
                <a:spcPts val="600"/>
              </a:spcBef>
              <a:spcAft>
                <a:spcPts val="0"/>
              </a:spcAft>
              <a:buSzPts val="2030"/>
              <a:buNone/>
              <a:defRPr>
                <a:solidFill>
                  <a:srgbClr val="888888"/>
                </a:solidFill>
              </a:defRPr>
            </a:lvl8pPr>
            <a:lvl9pPr lvl="8" algn="ctr">
              <a:spcBef>
                <a:spcPts val="600"/>
              </a:spcBef>
              <a:spcAft>
                <a:spcPts val="600"/>
              </a:spcAft>
              <a:buSzPts val="2030"/>
              <a:buNone/>
              <a:defRPr>
                <a:solidFill>
                  <a:srgbClr val="888888"/>
                </a:solidFill>
              </a:defRPr>
            </a:lvl9pPr>
          </a:lstStyle>
          <a:p>
            <a:endParaRPr/>
          </a:p>
        </p:txBody>
      </p:sp>
      <p:sp>
        <p:nvSpPr>
          <p:cNvPr id="32" name="Google Shape;32;p71"/>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71"/>
          <p:cNvSpPr txBox="1">
            <a:spLocks noGrp="1"/>
          </p:cNvSpPr>
          <p:nvPr>
            <p:ph type="ftr" idx="11"/>
          </p:nvPr>
        </p:nvSpPr>
        <p:spPr>
          <a:xfrm>
            <a:off x="5332412" y="5883275"/>
            <a:ext cx="4324044"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71"/>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5"/>
        <p:cNvGrpSpPr/>
        <p:nvPr/>
      </p:nvGrpSpPr>
      <p:grpSpPr>
        <a:xfrm>
          <a:off x="0" y="0"/>
          <a:ext cx="0" cy="0"/>
          <a:chOff x="0" y="0"/>
          <a:chExt cx="0" cy="0"/>
        </a:xfrm>
      </p:grpSpPr>
      <p:sp>
        <p:nvSpPr>
          <p:cNvPr id="36" name="Google Shape;36;p72"/>
          <p:cNvSpPr txBox="1">
            <a:spLocks noGrp="1"/>
          </p:cNvSpPr>
          <p:nvPr>
            <p:ph type="title"/>
          </p:nvPr>
        </p:nvSpPr>
        <p:spPr>
          <a:xfrm>
            <a:off x="1484311" y="685800"/>
            <a:ext cx="10018713" cy="1752599"/>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72"/>
          <p:cNvSpPr txBox="1">
            <a:spLocks noGrp="1"/>
          </p:cNvSpPr>
          <p:nvPr>
            <p:ph type="body" idx="1"/>
          </p:nvPr>
        </p:nvSpPr>
        <p:spPr>
          <a:xfrm>
            <a:off x="1484310" y="2666999"/>
            <a:ext cx="10018713" cy="3124201"/>
          </a:xfrm>
          <a:prstGeom prst="rect">
            <a:avLst/>
          </a:prstGeom>
          <a:noFill/>
          <a:ln>
            <a:noFill/>
          </a:ln>
        </p:spPr>
        <p:txBody>
          <a:bodyPr spcFirstLastPara="1" wrap="square" lIns="91425" tIns="45700" rIns="91425" bIns="45700" anchor="ctr" anchorCtr="0">
            <a:normAutofit/>
          </a:bodyPr>
          <a:lstStyle>
            <a:lvl1pPr marL="457200" lvl="0" indent="-394335" algn="l">
              <a:spcBef>
                <a:spcPts val="360"/>
              </a:spcBef>
              <a:spcAft>
                <a:spcPts val="0"/>
              </a:spcAft>
              <a:buSzPts val="2610"/>
              <a:buChar char="•"/>
              <a:defRPr/>
            </a:lvl1pPr>
            <a:lvl2pPr marL="914400" lvl="1" indent="-394335" algn="l">
              <a:spcBef>
                <a:spcPts val="600"/>
              </a:spcBef>
              <a:spcAft>
                <a:spcPts val="0"/>
              </a:spcAft>
              <a:buSzPts val="2610"/>
              <a:buChar char="•"/>
              <a:defRPr/>
            </a:lvl2pPr>
            <a:lvl3pPr marL="1371600" lvl="2" indent="-394335" algn="l">
              <a:spcBef>
                <a:spcPts val="600"/>
              </a:spcBef>
              <a:spcAft>
                <a:spcPts val="0"/>
              </a:spcAft>
              <a:buSzPts val="2610"/>
              <a:buChar char="•"/>
              <a:defRPr/>
            </a:lvl3pPr>
            <a:lvl4pPr marL="1828800" lvl="3" indent="-394335" algn="l">
              <a:spcBef>
                <a:spcPts val="600"/>
              </a:spcBef>
              <a:spcAft>
                <a:spcPts val="0"/>
              </a:spcAft>
              <a:buSzPts val="2610"/>
              <a:buChar char="•"/>
              <a:defRPr/>
            </a:lvl4pPr>
            <a:lvl5pPr marL="2286000" lvl="4" indent="-394335" algn="l">
              <a:spcBef>
                <a:spcPts val="600"/>
              </a:spcBef>
              <a:spcAft>
                <a:spcPts val="0"/>
              </a:spcAft>
              <a:buSzPts val="2610"/>
              <a:buChar char="•"/>
              <a:defRPr/>
            </a:lvl5pPr>
            <a:lvl6pPr marL="2743200" lvl="5" indent="-394335" algn="l">
              <a:spcBef>
                <a:spcPts val="600"/>
              </a:spcBef>
              <a:spcAft>
                <a:spcPts val="0"/>
              </a:spcAft>
              <a:buSzPts val="2610"/>
              <a:buChar char="•"/>
              <a:defRPr/>
            </a:lvl6pPr>
            <a:lvl7pPr marL="3200400" lvl="6" indent="-394335" algn="l">
              <a:spcBef>
                <a:spcPts val="600"/>
              </a:spcBef>
              <a:spcAft>
                <a:spcPts val="0"/>
              </a:spcAft>
              <a:buSzPts val="2610"/>
              <a:buChar char="•"/>
              <a:defRPr/>
            </a:lvl7pPr>
            <a:lvl8pPr marL="3657600" lvl="7" indent="-394334" algn="l">
              <a:spcBef>
                <a:spcPts val="600"/>
              </a:spcBef>
              <a:spcAft>
                <a:spcPts val="0"/>
              </a:spcAft>
              <a:buSzPts val="2610"/>
              <a:buChar char="•"/>
              <a:defRPr/>
            </a:lvl8pPr>
            <a:lvl9pPr marL="4114800" lvl="8" indent="-394334" algn="l">
              <a:spcBef>
                <a:spcPts val="600"/>
              </a:spcBef>
              <a:spcAft>
                <a:spcPts val="600"/>
              </a:spcAft>
              <a:buSzPts val="2610"/>
              <a:buChar char="•"/>
              <a:defRPr/>
            </a:lvl9pPr>
          </a:lstStyle>
          <a:p>
            <a:endParaRPr/>
          </a:p>
        </p:txBody>
      </p:sp>
      <p:sp>
        <p:nvSpPr>
          <p:cNvPr id="38" name="Google Shape;38;p72"/>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72"/>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72"/>
          <p:cNvSpPr txBox="1">
            <a:spLocks noGrp="1"/>
          </p:cNvSpPr>
          <p:nvPr>
            <p:ph type="sldNum" idx="12"/>
          </p:nvPr>
        </p:nvSpPr>
        <p:spPr>
          <a:xfrm>
            <a:off x="10951856" y="5867131"/>
            <a:ext cx="5511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1"/>
        <p:cNvGrpSpPr/>
        <p:nvPr/>
      </p:nvGrpSpPr>
      <p:grpSpPr>
        <a:xfrm>
          <a:off x="0" y="0"/>
          <a:ext cx="0" cy="0"/>
          <a:chOff x="0" y="0"/>
          <a:chExt cx="0" cy="0"/>
        </a:xfrm>
      </p:grpSpPr>
      <p:sp>
        <p:nvSpPr>
          <p:cNvPr id="42" name="Google Shape;42;p73"/>
          <p:cNvSpPr txBox="1">
            <a:spLocks noGrp="1"/>
          </p:cNvSpPr>
          <p:nvPr>
            <p:ph type="title"/>
          </p:nvPr>
        </p:nvSpPr>
        <p:spPr>
          <a:xfrm>
            <a:off x="1484312" y="1600200"/>
            <a:ext cx="3549121" cy="1371600"/>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chemeClr val="dk1"/>
              </a:buClr>
              <a:buSzPts val="2400"/>
              <a:buFont typeface="Corbel"/>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73"/>
          <p:cNvSpPr txBox="1">
            <a:spLocks noGrp="1"/>
          </p:cNvSpPr>
          <p:nvPr>
            <p:ph type="body" idx="1"/>
          </p:nvPr>
        </p:nvSpPr>
        <p:spPr>
          <a:xfrm>
            <a:off x="5262033" y="685799"/>
            <a:ext cx="6240990" cy="5105401"/>
          </a:xfrm>
          <a:prstGeom prst="rect">
            <a:avLst/>
          </a:prstGeom>
          <a:noFill/>
          <a:ln>
            <a:noFill/>
          </a:ln>
        </p:spPr>
        <p:txBody>
          <a:bodyPr spcFirstLastPara="1" wrap="square" lIns="91425" tIns="45700" rIns="91425" bIns="45700" anchor="ctr" anchorCtr="0">
            <a:normAutofit/>
          </a:bodyPr>
          <a:lstStyle>
            <a:lvl1pPr marL="457200" lvl="0" indent="-412750" algn="l">
              <a:spcBef>
                <a:spcPts val="400"/>
              </a:spcBef>
              <a:spcAft>
                <a:spcPts val="0"/>
              </a:spcAft>
              <a:buSzPts val="2900"/>
              <a:buChar char="•"/>
              <a:defRPr sz="2000"/>
            </a:lvl1pPr>
            <a:lvl2pPr marL="914400" lvl="1" indent="-394335" algn="l">
              <a:spcBef>
                <a:spcPts val="600"/>
              </a:spcBef>
              <a:spcAft>
                <a:spcPts val="0"/>
              </a:spcAft>
              <a:buSzPts val="2610"/>
              <a:buChar char="•"/>
              <a:defRPr sz="1800"/>
            </a:lvl2pPr>
            <a:lvl3pPr marL="1371600" lvl="2" indent="-375919" algn="l">
              <a:spcBef>
                <a:spcPts val="600"/>
              </a:spcBef>
              <a:spcAft>
                <a:spcPts val="0"/>
              </a:spcAft>
              <a:buSzPts val="2320"/>
              <a:buChar char="•"/>
              <a:defRPr sz="1600"/>
            </a:lvl3pPr>
            <a:lvl4pPr marL="1828800" lvl="3" indent="-357505" algn="l">
              <a:spcBef>
                <a:spcPts val="600"/>
              </a:spcBef>
              <a:spcAft>
                <a:spcPts val="0"/>
              </a:spcAft>
              <a:buSzPts val="2030"/>
              <a:buChar char="•"/>
              <a:defRPr sz="1400"/>
            </a:lvl4pPr>
            <a:lvl5pPr marL="2286000" lvl="4" indent="-357504" algn="l">
              <a:spcBef>
                <a:spcPts val="600"/>
              </a:spcBef>
              <a:spcAft>
                <a:spcPts val="0"/>
              </a:spcAft>
              <a:buSzPts val="2030"/>
              <a:buChar char="•"/>
              <a:defRPr sz="1400"/>
            </a:lvl5pPr>
            <a:lvl6pPr marL="2743200" lvl="5" indent="-357504" algn="l">
              <a:spcBef>
                <a:spcPts val="600"/>
              </a:spcBef>
              <a:spcAft>
                <a:spcPts val="0"/>
              </a:spcAft>
              <a:buSzPts val="2030"/>
              <a:buChar char="•"/>
              <a:defRPr sz="1400"/>
            </a:lvl6pPr>
            <a:lvl7pPr marL="3200400" lvl="6" indent="-357504" algn="l">
              <a:spcBef>
                <a:spcPts val="600"/>
              </a:spcBef>
              <a:spcAft>
                <a:spcPts val="0"/>
              </a:spcAft>
              <a:buSzPts val="2030"/>
              <a:buChar char="•"/>
              <a:defRPr sz="1400"/>
            </a:lvl7pPr>
            <a:lvl8pPr marL="3657600" lvl="7" indent="-357504" algn="l">
              <a:spcBef>
                <a:spcPts val="600"/>
              </a:spcBef>
              <a:spcAft>
                <a:spcPts val="0"/>
              </a:spcAft>
              <a:buSzPts val="2030"/>
              <a:buChar char="•"/>
              <a:defRPr sz="1400"/>
            </a:lvl8pPr>
            <a:lvl9pPr marL="4114800" lvl="8" indent="-357504" algn="l">
              <a:spcBef>
                <a:spcPts val="600"/>
              </a:spcBef>
              <a:spcAft>
                <a:spcPts val="600"/>
              </a:spcAft>
              <a:buSzPts val="2030"/>
              <a:buChar char="•"/>
              <a:defRPr sz="1400"/>
            </a:lvl9pPr>
          </a:lstStyle>
          <a:p>
            <a:endParaRPr/>
          </a:p>
        </p:txBody>
      </p:sp>
      <p:sp>
        <p:nvSpPr>
          <p:cNvPr id="44" name="Google Shape;44;p73"/>
          <p:cNvSpPr txBox="1">
            <a:spLocks noGrp="1"/>
          </p:cNvSpPr>
          <p:nvPr>
            <p:ph type="body" idx="2"/>
          </p:nvPr>
        </p:nvSpPr>
        <p:spPr>
          <a:xfrm>
            <a:off x="1484312" y="2971800"/>
            <a:ext cx="3549121" cy="1828800"/>
          </a:xfrm>
          <a:prstGeom prst="rect">
            <a:avLst/>
          </a:prstGeom>
          <a:noFill/>
          <a:ln>
            <a:noFill/>
          </a:ln>
        </p:spPr>
        <p:txBody>
          <a:bodyPr spcFirstLastPara="1" wrap="square" lIns="91425" tIns="45700" rIns="91425" bIns="45700" anchor="ctr" anchorCtr="0">
            <a:normAutofit/>
          </a:bodyPr>
          <a:lstStyle>
            <a:lvl1pPr marL="457200" lvl="0" indent="-228600" algn="ctr">
              <a:spcBef>
                <a:spcPts val="320"/>
              </a:spcBef>
              <a:spcAft>
                <a:spcPts val="0"/>
              </a:spcAft>
              <a:buSzPts val="2320"/>
              <a:buNone/>
              <a:defRPr sz="1600"/>
            </a:lvl1pPr>
            <a:lvl2pPr marL="914400" lvl="1" indent="-228600" algn="l">
              <a:spcBef>
                <a:spcPts val="600"/>
              </a:spcBef>
              <a:spcAft>
                <a:spcPts val="0"/>
              </a:spcAft>
              <a:buSzPts val="1740"/>
              <a:buNone/>
              <a:defRPr sz="1200"/>
            </a:lvl2pPr>
            <a:lvl3pPr marL="1371600" lvl="2" indent="-228600" algn="l">
              <a:spcBef>
                <a:spcPts val="600"/>
              </a:spcBef>
              <a:spcAft>
                <a:spcPts val="0"/>
              </a:spcAft>
              <a:buSzPts val="1450"/>
              <a:buNone/>
              <a:defRPr sz="1000"/>
            </a:lvl3pPr>
            <a:lvl4pPr marL="1828800" lvl="3" indent="-228600" algn="l">
              <a:spcBef>
                <a:spcPts val="600"/>
              </a:spcBef>
              <a:spcAft>
                <a:spcPts val="0"/>
              </a:spcAft>
              <a:buSzPts val="1305"/>
              <a:buNone/>
              <a:defRPr sz="900"/>
            </a:lvl4pPr>
            <a:lvl5pPr marL="2286000" lvl="4" indent="-228600" algn="l">
              <a:spcBef>
                <a:spcPts val="600"/>
              </a:spcBef>
              <a:spcAft>
                <a:spcPts val="0"/>
              </a:spcAft>
              <a:buSzPts val="1305"/>
              <a:buNone/>
              <a:defRPr sz="900"/>
            </a:lvl5pPr>
            <a:lvl6pPr marL="2743200" lvl="5" indent="-228600" algn="l">
              <a:spcBef>
                <a:spcPts val="600"/>
              </a:spcBef>
              <a:spcAft>
                <a:spcPts val="0"/>
              </a:spcAft>
              <a:buSzPts val="1305"/>
              <a:buNone/>
              <a:defRPr sz="900"/>
            </a:lvl6pPr>
            <a:lvl7pPr marL="3200400" lvl="6" indent="-228600" algn="l">
              <a:spcBef>
                <a:spcPts val="600"/>
              </a:spcBef>
              <a:spcAft>
                <a:spcPts val="0"/>
              </a:spcAft>
              <a:buSzPts val="1305"/>
              <a:buNone/>
              <a:defRPr sz="900"/>
            </a:lvl7pPr>
            <a:lvl8pPr marL="3657600" lvl="7" indent="-228600" algn="l">
              <a:spcBef>
                <a:spcPts val="600"/>
              </a:spcBef>
              <a:spcAft>
                <a:spcPts val="0"/>
              </a:spcAft>
              <a:buSzPts val="1305"/>
              <a:buNone/>
              <a:defRPr sz="900"/>
            </a:lvl8pPr>
            <a:lvl9pPr marL="4114800" lvl="8" indent="-228600" algn="l">
              <a:spcBef>
                <a:spcPts val="600"/>
              </a:spcBef>
              <a:spcAft>
                <a:spcPts val="600"/>
              </a:spcAft>
              <a:buSzPts val="1305"/>
              <a:buNone/>
              <a:defRPr sz="900"/>
            </a:lvl9pPr>
          </a:lstStyle>
          <a:p>
            <a:endParaRPr/>
          </a:p>
        </p:txBody>
      </p:sp>
      <p:sp>
        <p:nvSpPr>
          <p:cNvPr id="45" name="Google Shape;45;p73"/>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73"/>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3"/>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74"/>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74"/>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74"/>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2"/>
        <p:cNvGrpSpPr/>
        <p:nvPr/>
      </p:nvGrpSpPr>
      <p:grpSpPr>
        <a:xfrm>
          <a:off x="0" y="0"/>
          <a:ext cx="0" cy="0"/>
          <a:chOff x="0" y="0"/>
          <a:chExt cx="0" cy="0"/>
        </a:xfrm>
      </p:grpSpPr>
      <p:sp>
        <p:nvSpPr>
          <p:cNvPr id="53" name="Google Shape;53;p75"/>
          <p:cNvSpPr txBox="1">
            <a:spLocks noGrp="1"/>
          </p:cNvSpPr>
          <p:nvPr>
            <p:ph type="title"/>
          </p:nvPr>
        </p:nvSpPr>
        <p:spPr>
          <a:xfrm>
            <a:off x="2572279" y="2666999"/>
            <a:ext cx="8930747" cy="2110382"/>
          </a:xfrm>
          <a:prstGeom prst="rect">
            <a:avLst/>
          </a:prstGeom>
          <a:noFill/>
          <a:ln>
            <a:noFill/>
          </a:ln>
        </p:spPr>
        <p:txBody>
          <a:bodyPr spcFirstLastPara="1" wrap="square" lIns="91425" tIns="45700" rIns="91425" bIns="45700" anchor="b" anchorCtr="0">
            <a:normAutofit/>
          </a:bodyPr>
          <a:lstStyle>
            <a:lvl1pPr lvl="0" algn="r">
              <a:spcBef>
                <a:spcPts val="0"/>
              </a:spcBef>
              <a:spcAft>
                <a:spcPts val="0"/>
              </a:spcAft>
              <a:buClr>
                <a:schemeClr val="dk1"/>
              </a:buClr>
              <a:buSzPts val="4000"/>
              <a:buFont typeface="Corbel"/>
              <a:buNone/>
              <a:defRPr sz="40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75"/>
          <p:cNvSpPr txBox="1">
            <a:spLocks noGrp="1"/>
          </p:cNvSpPr>
          <p:nvPr>
            <p:ph type="body" idx="1"/>
          </p:nvPr>
        </p:nvSpPr>
        <p:spPr>
          <a:xfrm>
            <a:off x="2572278" y="4777381"/>
            <a:ext cx="8930748" cy="860400"/>
          </a:xfrm>
          <a:prstGeom prst="rect">
            <a:avLst/>
          </a:prstGeom>
          <a:noFill/>
          <a:ln>
            <a:noFill/>
          </a:ln>
        </p:spPr>
        <p:txBody>
          <a:bodyPr spcFirstLastPara="1" wrap="square" lIns="91425" tIns="45700" rIns="91425" bIns="45700" anchor="t" anchorCtr="0">
            <a:normAutofit/>
          </a:bodyPr>
          <a:lstStyle>
            <a:lvl1pPr marL="457200" lvl="0" indent="-228600" algn="r">
              <a:spcBef>
                <a:spcPts val="400"/>
              </a:spcBef>
              <a:spcAft>
                <a:spcPts val="0"/>
              </a:spcAft>
              <a:buSzPts val="2900"/>
              <a:buNone/>
              <a:defRPr sz="2000">
                <a:solidFill>
                  <a:schemeClr val="dk1"/>
                </a:solidFill>
              </a:defRPr>
            </a:lvl1pPr>
            <a:lvl2pPr marL="914400" lvl="1" indent="-228600" algn="l">
              <a:spcBef>
                <a:spcPts val="600"/>
              </a:spcBef>
              <a:spcAft>
                <a:spcPts val="0"/>
              </a:spcAft>
              <a:buSzPts val="2610"/>
              <a:buNone/>
              <a:defRPr sz="1800">
                <a:solidFill>
                  <a:srgbClr val="888888"/>
                </a:solidFill>
              </a:defRPr>
            </a:lvl2pPr>
            <a:lvl3pPr marL="1371600" lvl="2" indent="-228600" algn="l">
              <a:spcBef>
                <a:spcPts val="600"/>
              </a:spcBef>
              <a:spcAft>
                <a:spcPts val="0"/>
              </a:spcAft>
              <a:buSzPts val="2320"/>
              <a:buNone/>
              <a:defRPr sz="1600">
                <a:solidFill>
                  <a:srgbClr val="888888"/>
                </a:solidFill>
              </a:defRPr>
            </a:lvl3pPr>
            <a:lvl4pPr marL="1828800" lvl="3" indent="-228600" algn="l">
              <a:spcBef>
                <a:spcPts val="600"/>
              </a:spcBef>
              <a:spcAft>
                <a:spcPts val="0"/>
              </a:spcAft>
              <a:buSzPts val="2030"/>
              <a:buNone/>
              <a:defRPr sz="1400">
                <a:solidFill>
                  <a:srgbClr val="888888"/>
                </a:solidFill>
              </a:defRPr>
            </a:lvl4pPr>
            <a:lvl5pPr marL="2286000" lvl="4" indent="-228600" algn="l">
              <a:spcBef>
                <a:spcPts val="600"/>
              </a:spcBef>
              <a:spcAft>
                <a:spcPts val="0"/>
              </a:spcAft>
              <a:buSzPts val="2030"/>
              <a:buNone/>
              <a:defRPr sz="1400">
                <a:solidFill>
                  <a:srgbClr val="888888"/>
                </a:solidFill>
              </a:defRPr>
            </a:lvl5pPr>
            <a:lvl6pPr marL="2743200" lvl="5" indent="-228600" algn="l">
              <a:spcBef>
                <a:spcPts val="600"/>
              </a:spcBef>
              <a:spcAft>
                <a:spcPts val="0"/>
              </a:spcAft>
              <a:buSzPts val="2030"/>
              <a:buNone/>
              <a:defRPr sz="1400">
                <a:solidFill>
                  <a:srgbClr val="888888"/>
                </a:solidFill>
              </a:defRPr>
            </a:lvl6pPr>
            <a:lvl7pPr marL="3200400" lvl="6" indent="-228600" algn="l">
              <a:spcBef>
                <a:spcPts val="600"/>
              </a:spcBef>
              <a:spcAft>
                <a:spcPts val="0"/>
              </a:spcAft>
              <a:buSzPts val="2030"/>
              <a:buNone/>
              <a:defRPr sz="1400">
                <a:solidFill>
                  <a:srgbClr val="888888"/>
                </a:solidFill>
              </a:defRPr>
            </a:lvl7pPr>
            <a:lvl8pPr marL="3657600" lvl="7" indent="-228600" algn="l">
              <a:spcBef>
                <a:spcPts val="600"/>
              </a:spcBef>
              <a:spcAft>
                <a:spcPts val="0"/>
              </a:spcAft>
              <a:buSzPts val="2030"/>
              <a:buNone/>
              <a:defRPr sz="1400">
                <a:solidFill>
                  <a:srgbClr val="888888"/>
                </a:solidFill>
              </a:defRPr>
            </a:lvl8pPr>
            <a:lvl9pPr marL="4114800" lvl="8" indent="-228600" algn="l">
              <a:spcBef>
                <a:spcPts val="600"/>
              </a:spcBef>
              <a:spcAft>
                <a:spcPts val="600"/>
              </a:spcAft>
              <a:buSzPts val="2030"/>
              <a:buNone/>
              <a:defRPr sz="1400">
                <a:solidFill>
                  <a:srgbClr val="888888"/>
                </a:solidFill>
              </a:defRPr>
            </a:lvl9pPr>
          </a:lstStyle>
          <a:p>
            <a:endParaRPr/>
          </a:p>
        </p:txBody>
      </p:sp>
      <p:sp>
        <p:nvSpPr>
          <p:cNvPr id="55" name="Google Shape;55;p75"/>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75"/>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75"/>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8"/>
        <p:cNvGrpSpPr/>
        <p:nvPr/>
      </p:nvGrpSpPr>
      <p:grpSpPr>
        <a:xfrm>
          <a:off x="0" y="0"/>
          <a:ext cx="0" cy="0"/>
          <a:chOff x="0" y="0"/>
          <a:chExt cx="0" cy="0"/>
        </a:xfrm>
      </p:grpSpPr>
      <p:sp>
        <p:nvSpPr>
          <p:cNvPr id="59" name="Google Shape;59;p76"/>
          <p:cNvSpPr txBox="1">
            <a:spLocks noGrp="1"/>
          </p:cNvSpPr>
          <p:nvPr>
            <p:ph type="title"/>
          </p:nvPr>
        </p:nvSpPr>
        <p:spPr>
          <a:xfrm>
            <a:off x="1484311" y="685800"/>
            <a:ext cx="10018713" cy="1752599"/>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76"/>
          <p:cNvSpPr txBox="1">
            <a:spLocks noGrp="1"/>
          </p:cNvSpPr>
          <p:nvPr>
            <p:ph type="body" idx="1"/>
          </p:nvPr>
        </p:nvSpPr>
        <p:spPr>
          <a:xfrm>
            <a:off x="1484312" y="2666999"/>
            <a:ext cx="4895055" cy="3124201"/>
          </a:xfrm>
          <a:prstGeom prst="rect">
            <a:avLst/>
          </a:prstGeom>
          <a:noFill/>
          <a:ln>
            <a:noFill/>
          </a:ln>
        </p:spPr>
        <p:txBody>
          <a:bodyPr spcFirstLastPara="1" wrap="square" lIns="91425" tIns="45700" rIns="91425" bIns="45700" anchor="ctr" anchorCtr="0">
            <a:normAutofit/>
          </a:bodyPr>
          <a:lstStyle>
            <a:lvl1pPr marL="457200" lvl="0" indent="-394335" algn="l">
              <a:spcBef>
                <a:spcPts val="360"/>
              </a:spcBef>
              <a:spcAft>
                <a:spcPts val="0"/>
              </a:spcAft>
              <a:buSzPts val="2610"/>
              <a:buChar char="•"/>
              <a:defRPr sz="1800"/>
            </a:lvl1pPr>
            <a:lvl2pPr marL="914400" lvl="1" indent="-375919" algn="l">
              <a:spcBef>
                <a:spcPts val="600"/>
              </a:spcBef>
              <a:spcAft>
                <a:spcPts val="0"/>
              </a:spcAft>
              <a:buSzPts val="2320"/>
              <a:buChar char="•"/>
              <a:defRPr sz="1600"/>
            </a:lvl2pPr>
            <a:lvl3pPr marL="1371600" lvl="2" indent="-357505" algn="l">
              <a:spcBef>
                <a:spcPts val="600"/>
              </a:spcBef>
              <a:spcAft>
                <a:spcPts val="0"/>
              </a:spcAft>
              <a:buSzPts val="2030"/>
              <a:buChar char="•"/>
              <a:defRPr sz="1400"/>
            </a:lvl3pPr>
            <a:lvl4pPr marL="1828800" lvl="3" indent="-339089" algn="l">
              <a:spcBef>
                <a:spcPts val="600"/>
              </a:spcBef>
              <a:spcAft>
                <a:spcPts val="0"/>
              </a:spcAft>
              <a:buSzPts val="1740"/>
              <a:buChar char="•"/>
              <a:defRPr sz="1200"/>
            </a:lvl4pPr>
            <a:lvl5pPr marL="2286000" lvl="4" indent="-339089" algn="l">
              <a:spcBef>
                <a:spcPts val="600"/>
              </a:spcBef>
              <a:spcAft>
                <a:spcPts val="0"/>
              </a:spcAft>
              <a:buSzPts val="1740"/>
              <a:buChar char="•"/>
              <a:defRPr sz="1200"/>
            </a:lvl5pPr>
            <a:lvl6pPr marL="2743200" lvl="5" indent="-339089" algn="l">
              <a:spcBef>
                <a:spcPts val="600"/>
              </a:spcBef>
              <a:spcAft>
                <a:spcPts val="0"/>
              </a:spcAft>
              <a:buSzPts val="1740"/>
              <a:buChar char="•"/>
              <a:defRPr sz="1200"/>
            </a:lvl6pPr>
            <a:lvl7pPr marL="3200400" lvl="6" indent="-339089" algn="l">
              <a:spcBef>
                <a:spcPts val="600"/>
              </a:spcBef>
              <a:spcAft>
                <a:spcPts val="0"/>
              </a:spcAft>
              <a:buSzPts val="1740"/>
              <a:buChar char="•"/>
              <a:defRPr sz="1200"/>
            </a:lvl7pPr>
            <a:lvl8pPr marL="3657600" lvl="7" indent="-339090" algn="l">
              <a:spcBef>
                <a:spcPts val="600"/>
              </a:spcBef>
              <a:spcAft>
                <a:spcPts val="0"/>
              </a:spcAft>
              <a:buSzPts val="1740"/>
              <a:buChar char="•"/>
              <a:defRPr sz="1200"/>
            </a:lvl8pPr>
            <a:lvl9pPr marL="4114800" lvl="8" indent="-339090" algn="l">
              <a:spcBef>
                <a:spcPts val="600"/>
              </a:spcBef>
              <a:spcAft>
                <a:spcPts val="600"/>
              </a:spcAft>
              <a:buSzPts val="1740"/>
              <a:buChar char="•"/>
              <a:defRPr sz="1200"/>
            </a:lvl9pPr>
          </a:lstStyle>
          <a:p>
            <a:endParaRPr/>
          </a:p>
        </p:txBody>
      </p:sp>
      <p:sp>
        <p:nvSpPr>
          <p:cNvPr id="61" name="Google Shape;61;p76"/>
          <p:cNvSpPr txBox="1">
            <a:spLocks noGrp="1"/>
          </p:cNvSpPr>
          <p:nvPr>
            <p:ph type="body" idx="2"/>
          </p:nvPr>
        </p:nvSpPr>
        <p:spPr>
          <a:xfrm>
            <a:off x="6607967" y="2667000"/>
            <a:ext cx="4895056" cy="3124200"/>
          </a:xfrm>
          <a:prstGeom prst="rect">
            <a:avLst/>
          </a:prstGeom>
          <a:noFill/>
          <a:ln>
            <a:noFill/>
          </a:ln>
        </p:spPr>
        <p:txBody>
          <a:bodyPr spcFirstLastPara="1" wrap="square" lIns="91425" tIns="45700" rIns="91425" bIns="45700" anchor="ctr" anchorCtr="0">
            <a:normAutofit/>
          </a:bodyPr>
          <a:lstStyle>
            <a:lvl1pPr marL="457200" lvl="0" indent="-394335" algn="l">
              <a:spcBef>
                <a:spcPts val="360"/>
              </a:spcBef>
              <a:spcAft>
                <a:spcPts val="0"/>
              </a:spcAft>
              <a:buSzPts val="2610"/>
              <a:buChar char="•"/>
              <a:defRPr sz="1800"/>
            </a:lvl1pPr>
            <a:lvl2pPr marL="914400" lvl="1" indent="-375919" algn="l">
              <a:spcBef>
                <a:spcPts val="600"/>
              </a:spcBef>
              <a:spcAft>
                <a:spcPts val="0"/>
              </a:spcAft>
              <a:buSzPts val="2320"/>
              <a:buChar char="•"/>
              <a:defRPr sz="1600"/>
            </a:lvl2pPr>
            <a:lvl3pPr marL="1371600" lvl="2" indent="-357505" algn="l">
              <a:spcBef>
                <a:spcPts val="600"/>
              </a:spcBef>
              <a:spcAft>
                <a:spcPts val="0"/>
              </a:spcAft>
              <a:buSzPts val="2030"/>
              <a:buChar char="•"/>
              <a:defRPr sz="1400"/>
            </a:lvl3pPr>
            <a:lvl4pPr marL="1828800" lvl="3" indent="-339089" algn="l">
              <a:spcBef>
                <a:spcPts val="600"/>
              </a:spcBef>
              <a:spcAft>
                <a:spcPts val="0"/>
              </a:spcAft>
              <a:buSzPts val="1740"/>
              <a:buChar char="•"/>
              <a:defRPr sz="1200"/>
            </a:lvl4pPr>
            <a:lvl5pPr marL="2286000" lvl="4" indent="-339089" algn="l">
              <a:spcBef>
                <a:spcPts val="600"/>
              </a:spcBef>
              <a:spcAft>
                <a:spcPts val="0"/>
              </a:spcAft>
              <a:buSzPts val="1740"/>
              <a:buChar char="•"/>
              <a:defRPr sz="1200"/>
            </a:lvl5pPr>
            <a:lvl6pPr marL="2743200" lvl="5" indent="-339089" algn="l">
              <a:spcBef>
                <a:spcPts val="600"/>
              </a:spcBef>
              <a:spcAft>
                <a:spcPts val="0"/>
              </a:spcAft>
              <a:buSzPts val="1740"/>
              <a:buChar char="•"/>
              <a:defRPr sz="1200"/>
            </a:lvl6pPr>
            <a:lvl7pPr marL="3200400" lvl="6" indent="-339089" algn="l">
              <a:spcBef>
                <a:spcPts val="600"/>
              </a:spcBef>
              <a:spcAft>
                <a:spcPts val="0"/>
              </a:spcAft>
              <a:buSzPts val="1740"/>
              <a:buChar char="•"/>
              <a:defRPr sz="1200"/>
            </a:lvl7pPr>
            <a:lvl8pPr marL="3657600" lvl="7" indent="-339090" algn="l">
              <a:spcBef>
                <a:spcPts val="600"/>
              </a:spcBef>
              <a:spcAft>
                <a:spcPts val="0"/>
              </a:spcAft>
              <a:buSzPts val="1740"/>
              <a:buChar char="•"/>
              <a:defRPr sz="1200"/>
            </a:lvl8pPr>
            <a:lvl9pPr marL="4114800" lvl="8" indent="-339090" algn="l">
              <a:spcBef>
                <a:spcPts val="600"/>
              </a:spcBef>
              <a:spcAft>
                <a:spcPts val="600"/>
              </a:spcAft>
              <a:buSzPts val="1740"/>
              <a:buChar char="•"/>
              <a:defRPr sz="1200"/>
            </a:lvl9pPr>
          </a:lstStyle>
          <a:p>
            <a:endParaRPr/>
          </a:p>
        </p:txBody>
      </p:sp>
      <p:sp>
        <p:nvSpPr>
          <p:cNvPr id="62" name="Google Shape;62;p76"/>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76"/>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76"/>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5"/>
        <p:cNvGrpSpPr/>
        <p:nvPr/>
      </p:nvGrpSpPr>
      <p:grpSpPr>
        <a:xfrm>
          <a:off x="0" y="0"/>
          <a:ext cx="0" cy="0"/>
          <a:chOff x="0" y="0"/>
          <a:chExt cx="0" cy="0"/>
        </a:xfrm>
      </p:grpSpPr>
      <p:sp>
        <p:nvSpPr>
          <p:cNvPr id="66" name="Google Shape;66;p77"/>
          <p:cNvSpPr txBox="1">
            <a:spLocks noGrp="1"/>
          </p:cNvSpPr>
          <p:nvPr>
            <p:ph type="title"/>
          </p:nvPr>
        </p:nvSpPr>
        <p:spPr>
          <a:xfrm>
            <a:off x="1484311" y="685800"/>
            <a:ext cx="10018713" cy="1752599"/>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000"/>
              <a:buFont typeface="Corbe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77"/>
          <p:cNvSpPr txBox="1">
            <a:spLocks noGrp="1"/>
          </p:cNvSpPr>
          <p:nvPr>
            <p:ph type="body" idx="1"/>
          </p:nvPr>
        </p:nvSpPr>
        <p:spPr>
          <a:xfrm>
            <a:off x="1772179" y="2658533"/>
            <a:ext cx="4607188" cy="576262"/>
          </a:xfrm>
          <a:prstGeom prst="rect">
            <a:avLst/>
          </a:prstGeom>
          <a:noFill/>
          <a:ln>
            <a:noFill/>
          </a:ln>
        </p:spPr>
        <p:txBody>
          <a:bodyPr spcFirstLastPara="1" wrap="square" lIns="91425" tIns="45700" rIns="91425" bIns="45700" anchor="b" anchorCtr="0">
            <a:noAutofit/>
          </a:bodyPr>
          <a:lstStyle>
            <a:lvl1pPr marL="457200" lvl="0" indent="-228600" algn="l">
              <a:spcBef>
                <a:spcPts val="560"/>
              </a:spcBef>
              <a:spcAft>
                <a:spcPts val="0"/>
              </a:spcAft>
              <a:buSzPts val="4060"/>
              <a:buNone/>
              <a:defRPr sz="2800" b="0">
                <a:solidFill>
                  <a:srgbClr val="1186C3"/>
                </a:solidFill>
              </a:defRPr>
            </a:lvl1pPr>
            <a:lvl2pPr marL="914400" lvl="1" indent="-228600" algn="l">
              <a:spcBef>
                <a:spcPts val="600"/>
              </a:spcBef>
              <a:spcAft>
                <a:spcPts val="0"/>
              </a:spcAft>
              <a:buSzPts val="2900"/>
              <a:buNone/>
              <a:defRPr sz="2000" b="1"/>
            </a:lvl2pPr>
            <a:lvl3pPr marL="1371600" lvl="2" indent="-228600" algn="l">
              <a:spcBef>
                <a:spcPts val="600"/>
              </a:spcBef>
              <a:spcAft>
                <a:spcPts val="0"/>
              </a:spcAft>
              <a:buSzPts val="2610"/>
              <a:buNone/>
              <a:defRPr sz="1800" b="1"/>
            </a:lvl3pPr>
            <a:lvl4pPr marL="1828800" lvl="3" indent="-228600" algn="l">
              <a:spcBef>
                <a:spcPts val="600"/>
              </a:spcBef>
              <a:spcAft>
                <a:spcPts val="0"/>
              </a:spcAft>
              <a:buSzPts val="2320"/>
              <a:buNone/>
              <a:defRPr sz="1600" b="1"/>
            </a:lvl4pPr>
            <a:lvl5pPr marL="2286000" lvl="4" indent="-228600" algn="l">
              <a:spcBef>
                <a:spcPts val="600"/>
              </a:spcBef>
              <a:spcAft>
                <a:spcPts val="0"/>
              </a:spcAft>
              <a:buSzPts val="2320"/>
              <a:buNone/>
              <a:defRPr sz="1600" b="1"/>
            </a:lvl5pPr>
            <a:lvl6pPr marL="2743200" lvl="5" indent="-228600" algn="l">
              <a:spcBef>
                <a:spcPts val="600"/>
              </a:spcBef>
              <a:spcAft>
                <a:spcPts val="0"/>
              </a:spcAft>
              <a:buSzPts val="2320"/>
              <a:buNone/>
              <a:defRPr sz="1600" b="1"/>
            </a:lvl6pPr>
            <a:lvl7pPr marL="3200400" lvl="6" indent="-228600" algn="l">
              <a:spcBef>
                <a:spcPts val="600"/>
              </a:spcBef>
              <a:spcAft>
                <a:spcPts val="0"/>
              </a:spcAft>
              <a:buSzPts val="2320"/>
              <a:buNone/>
              <a:defRPr sz="1600" b="1"/>
            </a:lvl7pPr>
            <a:lvl8pPr marL="3657600" lvl="7" indent="-228600" algn="l">
              <a:spcBef>
                <a:spcPts val="600"/>
              </a:spcBef>
              <a:spcAft>
                <a:spcPts val="0"/>
              </a:spcAft>
              <a:buSzPts val="2320"/>
              <a:buNone/>
              <a:defRPr sz="1600" b="1"/>
            </a:lvl8pPr>
            <a:lvl9pPr marL="4114800" lvl="8" indent="-228600" algn="l">
              <a:spcBef>
                <a:spcPts val="600"/>
              </a:spcBef>
              <a:spcAft>
                <a:spcPts val="600"/>
              </a:spcAft>
              <a:buSzPts val="2320"/>
              <a:buNone/>
              <a:defRPr sz="1600" b="1"/>
            </a:lvl9pPr>
          </a:lstStyle>
          <a:p>
            <a:endParaRPr/>
          </a:p>
        </p:txBody>
      </p:sp>
      <p:sp>
        <p:nvSpPr>
          <p:cNvPr id="68" name="Google Shape;68;p77"/>
          <p:cNvSpPr txBox="1">
            <a:spLocks noGrp="1"/>
          </p:cNvSpPr>
          <p:nvPr>
            <p:ph type="body" idx="2"/>
          </p:nvPr>
        </p:nvSpPr>
        <p:spPr>
          <a:xfrm>
            <a:off x="1484311" y="3335337"/>
            <a:ext cx="4895056" cy="2455862"/>
          </a:xfrm>
          <a:prstGeom prst="rect">
            <a:avLst/>
          </a:prstGeom>
          <a:noFill/>
          <a:ln>
            <a:noFill/>
          </a:ln>
        </p:spPr>
        <p:txBody>
          <a:bodyPr spcFirstLastPara="1" wrap="square" lIns="91425" tIns="45700" rIns="91425" bIns="45700" anchor="t" anchorCtr="0">
            <a:normAutofit/>
          </a:bodyPr>
          <a:lstStyle>
            <a:lvl1pPr marL="457200" lvl="0" indent="-394335" algn="l">
              <a:spcBef>
                <a:spcPts val="360"/>
              </a:spcBef>
              <a:spcAft>
                <a:spcPts val="0"/>
              </a:spcAft>
              <a:buSzPts val="2610"/>
              <a:buChar char="•"/>
              <a:defRPr sz="1800"/>
            </a:lvl1pPr>
            <a:lvl2pPr marL="914400" lvl="1" indent="-375919" algn="l">
              <a:spcBef>
                <a:spcPts val="600"/>
              </a:spcBef>
              <a:spcAft>
                <a:spcPts val="0"/>
              </a:spcAft>
              <a:buSzPts val="2320"/>
              <a:buChar char="•"/>
              <a:defRPr sz="1600"/>
            </a:lvl2pPr>
            <a:lvl3pPr marL="1371600" lvl="2" indent="-357505" algn="l">
              <a:spcBef>
                <a:spcPts val="600"/>
              </a:spcBef>
              <a:spcAft>
                <a:spcPts val="0"/>
              </a:spcAft>
              <a:buSzPts val="2030"/>
              <a:buChar char="•"/>
              <a:defRPr sz="1400"/>
            </a:lvl3pPr>
            <a:lvl4pPr marL="1828800" lvl="3" indent="-339089" algn="l">
              <a:spcBef>
                <a:spcPts val="600"/>
              </a:spcBef>
              <a:spcAft>
                <a:spcPts val="0"/>
              </a:spcAft>
              <a:buSzPts val="1740"/>
              <a:buChar char="•"/>
              <a:defRPr sz="1200"/>
            </a:lvl4pPr>
            <a:lvl5pPr marL="2286000" lvl="4" indent="-339089" algn="l">
              <a:spcBef>
                <a:spcPts val="600"/>
              </a:spcBef>
              <a:spcAft>
                <a:spcPts val="0"/>
              </a:spcAft>
              <a:buSzPts val="1740"/>
              <a:buChar char="•"/>
              <a:defRPr sz="1200"/>
            </a:lvl5pPr>
            <a:lvl6pPr marL="2743200" lvl="5" indent="-339089" algn="l">
              <a:spcBef>
                <a:spcPts val="600"/>
              </a:spcBef>
              <a:spcAft>
                <a:spcPts val="0"/>
              </a:spcAft>
              <a:buSzPts val="1740"/>
              <a:buChar char="•"/>
              <a:defRPr sz="1200"/>
            </a:lvl6pPr>
            <a:lvl7pPr marL="3200400" lvl="6" indent="-339089" algn="l">
              <a:spcBef>
                <a:spcPts val="600"/>
              </a:spcBef>
              <a:spcAft>
                <a:spcPts val="0"/>
              </a:spcAft>
              <a:buSzPts val="1740"/>
              <a:buChar char="•"/>
              <a:defRPr sz="1200"/>
            </a:lvl7pPr>
            <a:lvl8pPr marL="3657600" lvl="7" indent="-339090" algn="l">
              <a:spcBef>
                <a:spcPts val="600"/>
              </a:spcBef>
              <a:spcAft>
                <a:spcPts val="0"/>
              </a:spcAft>
              <a:buSzPts val="1740"/>
              <a:buChar char="•"/>
              <a:defRPr sz="1200"/>
            </a:lvl8pPr>
            <a:lvl9pPr marL="4114800" lvl="8" indent="-339090" algn="l">
              <a:spcBef>
                <a:spcPts val="600"/>
              </a:spcBef>
              <a:spcAft>
                <a:spcPts val="600"/>
              </a:spcAft>
              <a:buSzPts val="1740"/>
              <a:buChar char="•"/>
              <a:defRPr sz="1200"/>
            </a:lvl9pPr>
          </a:lstStyle>
          <a:p>
            <a:endParaRPr/>
          </a:p>
        </p:txBody>
      </p:sp>
      <p:sp>
        <p:nvSpPr>
          <p:cNvPr id="69" name="Google Shape;69;p77"/>
          <p:cNvSpPr txBox="1">
            <a:spLocks noGrp="1"/>
          </p:cNvSpPr>
          <p:nvPr>
            <p:ph type="body" idx="3"/>
          </p:nvPr>
        </p:nvSpPr>
        <p:spPr>
          <a:xfrm>
            <a:off x="6880487" y="2667000"/>
            <a:ext cx="4622537" cy="576262"/>
          </a:xfrm>
          <a:prstGeom prst="rect">
            <a:avLst/>
          </a:prstGeom>
          <a:noFill/>
          <a:ln>
            <a:noFill/>
          </a:ln>
        </p:spPr>
        <p:txBody>
          <a:bodyPr spcFirstLastPara="1" wrap="square" lIns="91425" tIns="45700" rIns="91425" bIns="45700" anchor="b" anchorCtr="0">
            <a:noAutofit/>
          </a:bodyPr>
          <a:lstStyle>
            <a:lvl1pPr marL="457200" lvl="0" indent="-228600" algn="l">
              <a:spcBef>
                <a:spcPts val="560"/>
              </a:spcBef>
              <a:spcAft>
                <a:spcPts val="0"/>
              </a:spcAft>
              <a:buSzPts val="4060"/>
              <a:buNone/>
              <a:defRPr sz="2800" b="0">
                <a:solidFill>
                  <a:srgbClr val="1186C3"/>
                </a:solidFill>
              </a:defRPr>
            </a:lvl1pPr>
            <a:lvl2pPr marL="914400" lvl="1" indent="-228600" algn="l">
              <a:spcBef>
                <a:spcPts val="600"/>
              </a:spcBef>
              <a:spcAft>
                <a:spcPts val="0"/>
              </a:spcAft>
              <a:buSzPts val="2900"/>
              <a:buNone/>
              <a:defRPr sz="2000" b="1"/>
            </a:lvl2pPr>
            <a:lvl3pPr marL="1371600" lvl="2" indent="-228600" algn="l">
              <a:spcBef>
                <a:spcPts val="600"/>
              </a:spcBef>
              <a:spcAft>
                <a:spcPts val="0"/>
              </a:spcAft>
              <a:buSzPts val="2610"/>
              <a:buNone/>
              <a:defRPr sz="1800" b="1"/>
            </a:lvl3pPr>
            <a:lvl4pPr marL="1828800" lvl="3" indent="-228600" algn="l">
              <a:spcBef>
                <a:spcPts val="600"/>
              </a:spcBef>
              <a:spcAft>
                <a:spcPts val="0"/>
              </a:spcAft>
              <a:buSzPts val="2320"/>
              <a:buNone/>
              <a:defRPr sz="1600" b="1"/>
            </a:lvl4pPr>
            <a:lvl5pPr marL="2286000" lvl="4" indent="-228600" algn="l">
              <a:spcBef>
                <a:spcPts val="600"/>
              </a:spcBef>
              <a:spcAft>
                <a:spcPts val="0"/>
              </a:spcAft>
              <a:buSzPts val="2320"/>
              <a:buNone/>
              <a:defRPr sz="1600" b="1"/>
            </a:lvl5pPr>
            <a:lvl6pPr marL="2743200" lvl="5" indent="-228600" algn="l">
              <a:spcBef>
                <a:spcPts val="600"/>
              </a:spcBef>
              <a:spcAft>
                <a:spcPts val="0"/>
              </a:spcAft>
              <a:buSzPts val="2320"/>
              <a:buNone/>
              <a:defRPr sz="1600" b="1"/>
            </a:lvl6pPr>
            <a:lvl7pPr marL="3200400" lvl="6" indent="-228600" algn="l">
              <a:spcBef>
                <a:spcPts val="600"/>
              </a:spcBef>
              <a:spcAft>
                <a:spcPts val="0"/>
              </a:spcAft>
              <a:buSzPts val="2320"/>
              <a:buNone/>
              <a:defRPr sz="1600" b="1"/>
            </a:lvl7pPr>
            <a:lvl8pPr marL="3657600" lvl="7" indent="-228600" algn="l">
              <a:spcBef>
                <a:spcPts val="600"/>
              </a:spcBef>
              <a:spcAft>
                <a:spcPts val="0"/>
              </a:spcAft>
              <a:buSzPts val="2320"/>
              <a:buNone/>
              <a:defRPr sz="1600" b="1"/>
            </a:lvl8pPr>
            <a:lvl9pPr marL="4114800" lvl="8" indent="-228600" algn="l">
              <a:spcBef>
                <a:spcPts val="600"/>
              </a:spcBef>
              <a:spcAft>
                <a:spcPts val="600"/>
              </a:spcAft>
              <a:buSzPts val="2320"/>
              <a:buNone/>
              <a:defRPr sz="1600" b="1"/>
            </a:lvl9pPr>
          </a:lstStyle>
          <a:p>
            <a:endParaRPr/>
          </a:p>
        </p:txBody>
      </p:sp>
      <p:sp>
        <p:nvSpPr>
          <p:cNvPr id="70" name="Google Shape;70;p77"/>
          <p:cNvSpPr txBox="1">
            <a:spLocks noGrp="1"/>
          </p:cNvSpPr>
          <p:nvPr>
            <p:ph type="body" idx="4"/>
          </p:nvPr>
        </p:nvSpPr>
        <p:spPr>
          <a:xfrm>
            <a:off x="6607967" y="3335337"/>
            <a:ext cx="4895056" cy="2455862"/>
          </a:xfrm>
          <a:prstGeom prst="rect">
            <a:avLst/>
          </a:prstGeom>
          <a:noFill/>
          <a:ln>
            <a:noFill/>
          </a:ln>
        </p:spPr>
        <p:txBody>
          <a:bodyPr spcFirstLastPara="1" wrap="square" lIns="91425" tIns="45700" rIns="91425" bIns="45700" anchor="t" anchorCtr="0">
            <a:normAutofit/>
          </a:bodyPr>
          <a:lstStyle>
            <a:lvl1pPr marL="457200" lvl="0" indent="-394335" algn="l">
              <a:spcBef>
                <a:spcPts val="360"/>
              </a:spcBef>
              <a:spcAft>
                <a:spcPts val="0"/>
              </a:spcAft>
              <a:buSzPts val="2610"/>
              <a:buChar char="•"/>
              <a:defRPr sz="1800"/>
            </a:lvl1pPr>
            <a:lvl2pPr marL="914400" lvl="1" indent="-375919" algn="l">
              <a:spcBef>
                <a:spcPts val="600"/>
              </a:spcBef>
              <a:spcAft>
                <a:spcPts val="0"/>
              </a:spcAft>
              <a:buSzPts val="2320"/>
              <a:buChar char="•"/>
              <a:defRPr sz="1600"/>
            </a:lvl2pPr>
            <a:lvl3pPr marL="1371600" lvl="2" indent="-357505" algn="l">
              <a:spcBef>
                <a:spcPts val="600"/>
              </a:spcBef>
              <a:spcAft>
                <a:spcPts val="0"/>
              </a:spcAft>
              <a:buSzPts val="2030"/>
              <a:buChar char="•"/>
              <a:defRPr sz="1400"/>
            </a:lvl3pPr>
            <a:lvl4pPr marL="1828800" lvl="3" indent="-339089" algn="l">
              <a:spcBef>
                <a:spcPts val="600"/>
              </a:spcBef>
              <a:spcAft>
                <a:spcPts val="0"/>
              </a:spcAft>
              <a:buSzPts val="1740"/>
              <a:buChar char="•"/>
              <a:defRPr sz="1200"/>
            </a:lvl4pPr>
            <a:lvl5pPr marL="2286000" lvl="4" indent="-339089" algn="l">
              <a:spcBef>
                <a:spcPts val="600"/>
              </a:spcBef>
              <a:spcAft>
                <a:spcPts val="0"/>
              </a:spcAft>
              <a:buSzPts val="1740"/>
              <a:buChar char="•"/>
              <a:defRPr sz="1200"/>
            </a:lvl5pPr>
            <a:lvl6pPr marL="2743200" lvl="5" indent="-339089" algn="l">
              <a:spcBef>
                <a:spcPts val="600"/>
              </a:spcBef>
              <a:spcAft>
                <a:spcPts val="0"/>
              </a:spcAft>
              <a:buSzPts val="1740"/>
              <a:buChar char="•"/>
              <a:defRPr sz="1200"/>
            </a:lvl6pPr>
            <a:lvl7pPr marL="3200400" lvl="6" indent="-339089" algn="l">
              <a:spcBef>
                <a:spcPts val="600"/>
              </a:spcBef>
              <a:spcAft>
                <a:spcPts val="0"/>
              </a:spcAft>
              <a:buSzPts val="1740"/>
              <a:buChar char="•"/>
              <a:defRPr sz="1200"/>
            </a:lvl7pPr>
            <a:lvl8pPr marL="3657600" lvl="7" indent="-339090" algn="l">
              <a:spcBef>
                <a:spcPts val="600"/>
              </a:spcBef>
              <a:spcAft>
                <a:spcPts val="0"/>
              </a:spcAft>
              <a:buSzPts val="1740"/>
              <a:buChar char="•"/>
              <a:defRPr sz="1200"/>
            </a:lvl8pPr>
            <a:lvl9pPr marL="4114800" lvl="8" indent="-339090" algn="l">
              <a:spcBef>
                <a:spcPts val="600"/>
              </a:spcBef>
              <a:spcAft>
                <a:spcPts val="600"/>
              </a:spcAft>
              <a:buSzPts val="1740"/>
              <a:buChar char="•"/>
              <a:defRPr sz="1200"/>
            </a:lvl9pPr>
          </a:lstStyle>
          <a:p>
            <a:endParaRPr/>
          </a:p>
        </p:txBody>
      </p:sp>
      <p:sp>
        <p:nvSpPr>
          <p:cNvPr id="71" name="Google Shape;71;p77"/>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77"/>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77"/>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4"/>
        <p:cNvGrpSpPr/>
        <p:nvPr/>
      </p:nvGrpSpPr>
      <p:grpSpPr>
        <a:xfrm>
          <a:off x="0" y="0"/>
          <a:ext cx="0" cy="0"/>
          <a:chOff x="0" y="0"/>
          <a:chExt cx="0" cy="0"/>
        </a:xfrm>
      </p:grpSpPr>
      <p:sp>
        <p:nvSpPr>
          <p:cNvPr id="75" name="Google Shape;75;p78"/>
          <p:cNvSpPr txBox="1">
            <a:spLocks noGrp="1"/>
          </p:cNvSpPr>
          <p:nvPr>
            <p:ph type="title"/>
          </p:nvPr>
        </p:nvSpPr>
        <p:spPr>
          <a:xfrm>
            <a:off x="1484311" y="685800"/>
            <a:ext cx="10018713" cy="1752599"/>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78"/>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78"/>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78"/>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9"/>
        <p:cNvGrpSpPr/>
        <p:nvPr/>
      </p:nvGrpSpPr>
      <p:grpSpPr>
        <a:xfrm>
          <a:off x="0" y="0"/>
          <a:ext cx="0" cy="0"/>
          <a:chOff x="0" y="0"/>
          <a:chExt cx="0" cy="0"/>
        </a:xfrm>
      </p:grpSpPr>
      <p:sp>
        <p:nvSpPr>
          <p:cNvPr id="80" name="Google Shape;80;p79"/>
          <p:cNvSpPr txBox="1">
            <a:spLocks noGrp="1"/>
          </p:cNvSpPr>
          <p:nvPr>
            <p:ph type="title"/>
          </p:nvPr>
        </p:nvSpPr>
        <p:spPr>
          <a:xfrm>
            <a:off x="1482724" y="1752599"/>
            <a:ext cx="5426158" cy="1371600"/>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chemeClr val="dk1"/>
              </a:buClr>
              <a:buSzPts val="2800"/>
              <a:buFont typeface="Corbel"/>
              <a:buNone/>
              <a:defRPr sz="28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79"/>
          <p:cNvSpPr>
            <a:spLocks noGrp="1"/>
          </p:cNvSpPr>
          <p:nvPr>
            <p:ph type="pic" idx="2"/>
          </p:nvPr>
        </p:nvSpPr>
        <p:spPr>
          <a:xfrm>
            <a:off x="7594682" y="914400"/>
            <a:ext cx="3280974" cy="4572000"/>
          </a:xfrm>
          <a:prstGeom prst="roundRect">
            <a:avLst>
              <a:gd name="adj" fmla="val 4280"/>
            </a:avLst>
          </a:prstGeom>
          <a:noFill/>
          <a:ln w="38100" cap="flat" cmpd="sng">
            <a:solidFill>
              <a:schemeClr val="lt2"/>
            </a:solidFill>
            <a:prstDash val="solid"/>
            <a:round/>
            <a:headEnd type="none" w="sm" len="sm"/>
            <a:tailEnd type="none" w="sm" len="sm"/>
          </a:ln>
        </p:spPr>
      </p:sp>
      <p:sp>
        <p:nvSpPr>
          <p:cNvPr id="82" name="Google Shape;82;p79"/>
          <p:cNvSpPr txBox="1">
            <a:spLocks noGrp="1"/>
          </p:cNvSpPr>
          <p:nvPr>
            <p:ph type="body" idx="1"/>
          </p:nvPr>
        </p:nvSpPr>
        <p:spPr>
          <a:xfrm>
            <a:off x="1482724" y="3124199"/>
            <a:ext cx="5426158" cy="1828800"/>
          </a:xfrm>
          <a:prstGeom prst="rect">
            <a:avLst/>
          </a:prstGeom>
          <a:noFill/>
          <a:ln>
            <a:noFill/>
          </a:ln>
        </p:spPr>
        <p:txBody>
          <a:bodyPr spcFirstLastPara="1" wrap="square" lIns="91425" tIns="45700" rIns="91425" bIns="45700" anchor="ctr" anchorCtr="0">
            <a:normAutofit/>
          </a:bodyPr>
          <a:lstStyle>
            <a:lvl1pPr marL="457200" lvl="0" indent="-228600" algn="ctr">
              <a:spcBef>
                <a:spcPts val="360"/>
              </a:spcBef>
              <a:spcAft>
                <a:spcPts val="0"/>
              </a:spcAft>
              <a:buSzPts val="2610"/>
              <a:buNone/>
              <a:defRPr sz="1800"/>
            </a:lvl1pPr>
            <a:lvl2pPr marL="914400" lvl="1" indent="-228600" algn="l">
              <a:spcBef>
                <a:spcPts val="600"/>
              </a:spcBef>
              <a:spcAft>
                <a:spcPts val="0"/>
              </a:spcAft>
              <a:buSzPts val="1740"/>
              <a:buNone/>
              <a:defRPr sz="1200"/>
            </a:lvl2pPr>
            <a:lvl3pPr marL="1371600" lvl="2" indent="-228600" algn="l">
              <a:spcBef>
                <a:spcPts val="600"/>
              </a:spcBef>
              <a:spcAft>
                <a:spcPts val="0"/>
              </a:spcAft>
              <a:buSzPts val="1450"/>
              <a:buNone/>
              <a:defRPr sz="1000"/>
            </a:lvl3pPr>
            <a:lvl4pPr marL="1828800" lvl="3" indent="-228600" algn="l">
              <a:spcBef>
                <a:spcPts val="600"/>
              </a:spcBef>
              <a:spcAft>
                <a:spcPts val="0"/>
              </a:spcAft>
              <a:buSzPts val="1305"/>
              <a:buNone/>
              <a:defRPr sz="900"/>
            </a:lvl4pPr>
            <a:lvl5pPr marL="2286000" lvl="4" indent="-228600" algn="l">
              <a:spcBef>
                <a:spcPts val="600"/>
              </a:spcBef>
              <a:spcAft>
                <a:spcPts val="0"/>
              </a:spcAft>
              <a:buSzPts val="1305"/>
              <a:buNone/>
              <a:defRPr sz="900"/>
            </a:lvl5pPr>
            <a:lvl6pPr marL="2743200" lvl="5" indent="-228600" algn="l">
              <a:spcBef>
                <a:spcPts val="600"/>
              </a:spcBef>
              <a:spcAft>
                <a:spcPts val="0"/>
              </a:spcAft>
              <a:buSzPts val="1305"/>
              <a:buNone/>
              <a:defRPr sz="900"/>
            </a:lvl6pPr>
            <a:lvl7pPr marL="3200400" lvl="6" indent="-228600" algn="l">
              <a:spcBef>
                <a:spcPts val="600"/>
              </a:spcBef>
              <a:spcAft>
                <a:spcPts val="0"/>
              </a:spcAft>
              <a:buSzPts val="1305"/>
              <a:buNone/>
              <a:defRPr sz="900"/>
            </a:lvl7pPr>
            <a:lvl8pPr marL="3657600" lvl="7" indent="-228600" algn="l">
              <a:spcBef>
                <a:spcPts val="600"/>
              </a:spcBef>
              <a:spcAft>
                <a:spcPts val="0"/>
              </a:spcAft>
              <a:buSzPts val="1305"/>
              <a:buNone/>
              <a:defRPr sz="900"/>
            </a:lvl8pPr>
            <a:lvl9pPr marL="4114800" lvl="8" indent="-228600" algn="l">
              <a:spcBef>
                <a:spcPts val="600"/>
              </a:spcBef>
              <a:spcAft>
                <a:spcPts val="600"/>
              </a:spcAft>
              <a:buSzPts val="1305"/>
              <a:buNone/>
              <a:defRPr sz="900"/>
            </a:lvl9pPr>
          </a:lstStyle>
          <a:p>
            <a:endParaRPr/>
          </a:p>
        </p:txBody>
      </p:sp>
      <p:sp>
        <p:nvSpPr>
          <p:cNvPr id="83" name="Google Shape;83;p79"/>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79"/>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79"/>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86"/>
        <p:cNvGrpSpPr/>
        <p:nvPr/>
      </p:nvGrpSpPr>
      <p:grpSpPr>
        <a:xfrm>
          <a:off x="0" y="0"/>
          <a:ext cx="0" cy="0"/>
          <a:chOff x="0" y="0"/>
          <a:chExt cx="0" cy="0"/>
        </a:xfrm>
      </p:grpSpPr>
      <p:sp>
        <p:nvSpPr>
          <p:cNvPr id="87" name="Google Shape;87;p80"/>
          <p:cNvSpPr txBox="1">
            <a:spLocks noGrp="1"/>
          </p:cNvSpPr>
          <p:nvPr>
            <p:ph type="title"/>
          </p:nvPr>
        </p:nvSpPr>
        <p:spPr>
          <a:xfrm>
            <a:off x="1484311" y="4732865"/>
            <a:ext cx="10018711" cy="566738"/>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chemeClr val="dk1"/>
              </a:buClr>
              <a:buSzPts val="2400"/>
              <a:buFont typeface="Corbel"/>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80"/>
          <p:cNvSpPr>
            <a:spLocks noGrp="1"/>
          </p:cNvSpPr>
          <p:nvPr>
            <p:ph type="pic" idx="2"/>
          </p:nvPr>
        </p:nvSpPr>
        <p:spPr>
          <a:xfrm>
            <a:off x="2386012" y="932112"/>
            <a:ext cx="8225944" cy="3164976"/>
          </a:xfrm>
          <a:prstGeom prst="roundRect">
            <a:avLst>
              <a:gd name="adj" fmla="val 4380"/>
            </a:avLst>
          </a:prstGeom>
          <a:noFill/>
          <a:ln w="38100" cap="flat" cmpd="sng">
            <a:solidFill>
              <a:schemeClr val="lt2"/>
            </a:solidFill>
            <a:prstDash val="solid"/>
            <a:round/>
            <a:headEnd type="none" w="sm" len="sm"/>
            <a:tailEnd type="none" w="sm" len="sm"/>
          </a:ln>
        </p:spPr>
      </p:sp>
      <p:sp>
        <p:nvSpPr>
          <p:cNvPr id="89" name="Google Shape;89;p80"/>
          <p:cNvSpPr txBox="1">
            <a:spLocks noGrp="1"/>
          </p:cNvSpPr>
          <p:nvPr>
            <p:ph type="body" idx="1"/>
          </p:nvPr>
        </p:nvSpPr>
        <p:spPr>
          <a:xfrm>
            <a:off x="1484311" y="5299603"/>
            <a:ext cx="10018711" cy="493712"/>
          </a:xfrm>
          <a:prstGeom prst="rect">
            <a:avLst/>
          </a:prstGeom>
          <a:noFill/>
          <a:ln>
            <a:noFill/>
          </a:ln>
        </p:spPr>
        <p:txBody>
          <a:bodyPr spcFirstLastPara="1" wrap="square" lIns="91425" tIns="45700" rIns="91425" bIns="45700" anchor="ctr" anchorCtr="0">
            <a:normAutofit/>
          </a:bodyPr>
          <a:lstStyle>
            <a:lvl1pPr marL="457200" lvl="0" indent="-228600" algn="ctr">
              <a:spcBef>
                <a:spcPts val="280"/>
              </a:spcBef>
              <a:spcAft>
                <a:spcPts val="0"/>
              </a:spcAft>
              <a:buSzPts val="2030"/>
              <a:buNone/>
              <a:defRPr sz="1400"/>
            </a:lvl1pPr>
            <a:lvl2pPr marL="914400" lvl="1" indent="-228600" algn="l">
              <a:spcBef>
                <a:spcPts val="600"/>
              </a:spcBef>
              <a:spcAft>
                <a:spcPts val="0"/>
              </a:spcAft>
              <a:buSzPts val="1740"/>
              <a:buNone/>
              <a:defRPr sz="1200"/>
            </a:lvl2pPr>
            <a:lvl3pPr marL="1371600" lvl="2" indent="-228600" algn="l">
              <a:spcBef>
                <a:spcPts val="600"/>
              </a:spcBef>
              <a:spcAft>
                <a:spcPts val="0"/>
              </a:spcAft>
              <a:buSzPts val="1450"/>
              <a:buNone/>
              <a:defRPr sz="1000"/>
            </a:lvl3pPr>
            <a:lvl4pPr marL="1828800" lvl="3" indent="-228600" algn="l">
              <a:spcBef>
                <a:spcPts val="600"/>
              </a:spcBef>
              <a:spcAft>
                <a:spcPts val="0"/>
              </a:spcAft>
              <a:buSzPts val="1305"/>
              <a:buNone/>
              <a:defRPr sz="900"/>
            </a:lvl4pPr>
            <a:lvl5pPr marL="2286000" lvl="4" indent="-228600" algn="l">
              <a:spcBef>
                <a:spcPts val="600"/>
              </a:spcBef>
              <a:spcAft>
                <a:spcPts val="0"/>
              </a:spcAft>
              <a:buSzPts val="1305"/>
              <a:buNone/>
              <a:defRPr sz="900"/>
            </a:lvl5pPr>
            <a:lvl6pPr marL="2743200" lvl="5" indent="-228600" algn="l">
              <a:spcBef>
                <a:spcPts val="600"/>
              </a:spcBef>
              <a:spcAft>
                <a:spcPts val="0"/>
              </a:spcAft>
              <a:buSzPts val="1305"/>
              <a:buNone/>
              <a:defRPr sz="900"/>
            </a:lvl6pPr>
            <a:lvl7pPr marL="3200400" lvl="6" indent="-228600" algn="l">
              <a:spcBef>
                <a:spcPts val="600"/>
              </a:spcBef>
              <a:spcAft>
                <a:spcPts val="0"/>
              </a:spcAft>
              <a:buSzPts val="1305"/>
              <a:buNone/>
              <a:defRPr sz="900"/>
            </a:lvl7pPr>
            <a:lvl8pPr marL="3657600" lvl="7" indent="-228600" algn="l">
              <a:spcBef>
                <a:spcPts val="600"/>
              </a:spcBef>
              <a:spcAft>
                <a:spcPts val="0"/>
              </a:spcAft>
              <a:buSzPts val="1305"/>
              <a:buNone/>
              <a:defRPr sz="900"/>
            </a:lvl8pPr>
            <a:lvl9pPr marL="4114800" lvl="8" indent="-228600" algn="l">
              <a:spcBef>
                <a:spcPts val="600"/>
              </a:spcBef>
              <a:spcAft>
                <a:spcPts val="600"/>
              </a:spcAft>
              <a:buSzPts val="1305"/>
              <a:buNone/>
              <a:defRPr sz="900"/>
            </a:lvl9pPr>
          </a:lstStyle>
          <a:p>
            <a:endParaRPr/>
          </a:p>
        </p:txBody>
      </p:sp>
      <p:sp>
        <p:nvSpPr>
          <p:cNvPr id="90" name="Google Shape;90;p80"/>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80"/>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80"/>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93"/>
        <p:cNvGrpSpPr/>
        <p:nvPr/>
      </p:nvGrpSpPr>
      <p:grpSpPr>
        <a:xfrm>
          <a:off x="0" y="0"/>
          <a:ext cx="0" cy="0"/>
          <a:chOff x="0" y="0"/>
          <a:chExt cx="0" cy="0"/>
        </a:xfrm>
      </p:grpSpPr>
      <p:sp>
        <p:nvSpPr>
          <p:cNvPr id="94" name="Google Shape;94;p81"/>
          <p:cNvSpPr txBox="1">
            <a:spLocks noGrp="1"/>
          </p:cNvSpPr>
          <p:nvPr>
            <p:ph type="title"/>
          </p:nvPr>
        </p:nvSpPr>
        <p:spPr>
          <a:xfrm>
            <a:off x="1484312" y="685800"/>
            <a:ext cx="10018711" cy="3048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3200"/>
              <a:buFont typeface="Corbel"/>
              <a:buNone/>
              <a:defRPr sz="32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81"/>
          <p:cNvSpPr txBox="1">
            <a:spLocks noGrp="1"/>
          </p:cNvSpPr>
          <p:nvPr>
            <p:ph type="body" idx="1"/>
          </p:nvPr>
        </p:nvSpPr>
        <p:spPr>
          <a:xfrm>
            <a:off x="1484312" y="4343400"/>
            <a:ext cx="10018713" cy="1447800"/>
          </a:xfrm>
          <a:prstGeom prst="rect">
            <a:avLst/>
          </a:prstGeom>
          <a:noFill/>
          <a:ln>
            <a:noFill/>
          </a:ln>
        </p:spPr>
        <p:txBody>
          <a:bodyPr spcFirstLastPara="1" wrap="square" lIns="91425" tIns="45700" rIns="91425" bIns="45700" anchor="ctr" anchorCtr="0">
            <a:normAutofit/>
          </a:bodyPr>
          <a:lstStyle>
            <a:lvl1pPr marL="457200" lvl="0" indent="-228600" algn="ctr">
              <a:spcBef>
                <a:spcPts val="400"/>
              </a:spcBef>
              <a:spcAft>
                <a:spcPts val="0"/>
              </a:spcAft>
              <a:buSzPts val="2900"/>
              <a:buNone/>
              <a:defRPr sz="2000">
                <a:solidFill>
                  <a:schemeClr val="dk1"/>
                </a:solidFill>
              </a:defRPr>
            </a:lvl1pPr>
            <a:lvl2pPr marL="914400" lvl="1" indent="-228600" algn="l">
              <a:spcBef>
                <a:spcPts val="600"/>
              </a:spcBef>
              <a:spcAft>
                <a:spcPts val="0"/>
              </a:spcAft>
              <a:buSzPts val="2610"/>
              <a:buNone/>
              <a:defRPr sz="1800">
                <a:solidFill>
                  <a:srgbClr val="888888"/>
                </a:solidFill>
              </a:defRPr>
            </a:lvl2pPr>
            <a:lvl3pPr marL="1371600" lvl="2" indent="-228600" algn="l">
              <a:spcBef>
                <a:spcPts val="600"/>
              </a:spcBef>
              <a:spcAft>
                <a:spcPts val="0"/>
              </a:spcAft>
              <a:buSzPts val="2320"/>
              <a:buNone/>
              <a:defRPr sz="1600">
                <a:solidFill>
                  <a:srgbClr val="888888"/>
                </a:solidFill>
              </a:defRPr>
            </a:lvl3pPr>
            <a:lvl4pPr marL="1828800" lvl="3" indent="-228600" algn="l">
              <a:spcBef>
                <a:spcPts val="600"/>
              </a:spcBef>
              <a:spcAft>
                <a:spcPts val="0"/>
              </a:spcAft>
              <a:buSzPts val="2030"/>
              <a:buNone/>
              <a:defRPr sz="1400">
                <a:solidFill>
                  <a:srgbClr val="888888"/>
                </a:solidFill>
              </a:defRPr>
            </a:lvl4pPr>
            <a:lvl5pPr marL="2286000" lvl="4" indent="-228600" algn="l">
              <a:spcBef>
                <a:spcPts val="600"/>
              </a:spcBef>
              <a:spcAft>
                <a:spcPts val="0"/>
              </a:spcAft>
              <a:buSzPts val="2030"/>
              <a:buNone/>
              <a:defRPr sz="1400">
                <a:solidFill>
                  <a:srgbClr val="888888"/>
                </a:solidFill>
              </a:defRPr>
            </a:lvl5pPr>
            <a:lvl6pPr marL="2743200" lvl="5" indent="-228600" algn="l">
              <a:spcBef>
                <a:spcPts val="600"/>
              </a:spcBef>
              <a:spcAft>
                <a:spcPts val="0"/>
              </a:spcAft>
              <a:buSzPts val="2030"/>
              <a:buNone/>
              <a:defRPr sz="1400">
                <a:solidFill>
                  <a:srgbClr val="888888"/>
                </a:solidFill>
              </a:defRPr>
            </a:lvl6pPr>
            <a:lvl7pPr marL="3200400" lvl="6" indent="-228600" algn="l">
              <a:spcBef>
                <a:spcPts val="600"/>
              </a:spcBef>
              <a:spcAft>
                <a:spcPts val="0"/>
              </a:spcAft>
              <a:buSzPts val="2030"/>
              <a:buNone/>
              <a:defRPr sz="1400">
                <a:solidFill>
                  <a:srgbClr val="888888"/>
                </a:solidFill>
              </a:defRPr>
            </a:lvl7pPr>
            <a:lvl8pPr marL="3657600" lvl="7" indent="-228600" algn="l">
              <a:spcBef>
                <a:spcPts val="600"/>
              </a:spcBef>
              <a:spcAft>
                <a:spcPts val="0"/>
              </a:spcAft>
              <a:buSzPts val="2030"/>
              <a:buNone/>
              <a:defRPr sz="1400">
                <a:solidFill>
                  <a:srgbClr val="888888"/>
                </a:solidFill>
              </a:defRPr>
            </a:lvl8pPr>
            <a:lvl9pPr marL="4114800" lvl="8" indent="-228600" algn="l">
              <a:spcBef>
                <a:spcPts val="600"/>
              </a:spcBef>
              <a:spcAft>
                <a:spcPts val="600"/>
              </a:spcAft>
              <a:buSzPts val="2030"/>
              <a:buNone/>
              <a:defRPr sz="1400">
                <a:solidFill>
                  <a:srgbClr val="888888"/>
                </a:solidFill>
              </a:defRPr>
            </a:lvl9pPr>
          </a:lstStyle>
          <a:p>
            <a:endParaRPr/>
          </a:p>
        </p:txBody>
      </p:sp>
      <p:sp>
        <p:nvSpPr>
          <p:cNvPr id="96" name="Google Shape;96;p81"/>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81"/>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81"/>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99"/>
        <p:cNvGrpSpPr/>
        <p:nvPr/>
      </p:nvGrpSpPr>
      <p:grpSpPr>
        <a:xfrm>
          <a:off x="0" y="0"/>
          <a:ext cx="0" cy="0"/>
          <a:chOff x="0" y="0"/>
          <a:chExt cx="0" cy="0"/>
        </a:xfrm>
      </p:grpSpPr>
      <p:sp>
        <p:nvSpPr>
          <p:cNvPr id="100" name="Google Shape;100;p82"/>
          <p:cNvSpPr txBox="1"/>
          <p:nvPr/>
        </p:nvSpPr>
        <p:spPr>
          <a:xfrm>
            <a:off x="1598612" y="863023"/>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8000"/>
              <a:buFont typeface="Corbel"/>
              <a:buNone/>
            </a:pPr>
            <a:r>
              <a:rPr lang="el-GR" sz="8000" b="0" cap="none">
                <a:solidFill>
                  <a:schemeClr val="dk1"/>
                </a:solidFill>
                <a:latin typeface="Corbel"/>
                <a:ea typeface="Corbel"/>
                <a:cs typeface="Corbel"/>
                <a:sym typeface="Corbel"/>
              </a:rPr>
              <a:t>“</a:t>
            </a:r>
            <a:endParaRPr/>
          </a:p>
        </p:txBody>
      </p:sp>
      <p:sp>
        <p:nvSpPr>
          <p:cNvPr id="101" name="Google Shape;101;p82"/>
          <p:cNvSpPr txBox="1"/>
          <p:nvPr/>
        </p:nvSpPr>
        <p:spPr>
          <a:xfrm>
            <a:off x="10893425" y="2819399"/>
            <a:ext cx="609600" cy="58477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chemeClr val="dk1"/>
              </a:buClr>
              <a:buSzPts val="8000"/>
              <a:buFont typeface="Corbel"/>
              <a:buNone/>
            </a:pPr>
            <a:r>
              <a:rPr lang="el-GR" sz="8000" b="0" cap="none">
                <a:solidFill>
                  <a:schemeClr val="dk1"/>
                </a:solidFill>
                <a:latin typeface="Corbel"/>
                <a:ea typeface="Corbel"/>
                <a:cs typeface="Corbel"/>
                <a:sym typeface="Corbel"/>
              </a:rPr>
              <a:t>”</a:t>
            </a:r>
            <a:endParaRPr/>
          </a:p>
        </p:txBody>
      </p:sp>
      <p:sp>
        <p:nvSpPr>
          <p:cNvPr id="102" name="Google Shape;102;p82"/>
          <p:cNvSpPr txBox="1">
            <a:spLocks noGrp="1"/>
          </p:cNvSpPr>
          <p:nvPr>
            <p:ph type="title"/>
          </p:nvPr>
        </p:nvSpPr>
        <p:spPr>
          <a:xfrm>
            <a:off x="2208212" y="685800"/>
            <a:ext cx="8990012" cy="2743199"/>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3200"/>
              <a:buFont typeface="Corbel"/>
              <a:buNone/>
              <a:defRPr sz="3200" b="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82"/>
          <p:cNvSpPr txBox="1">
            <a:spLocks noGrp="1"/>
          </p:cNvSpPr>
          <p:nvPr>
            <p:ph type="body" idx="1"/>
          </p:nvPr>
        </p:nvSpPr>
        <p:spPr>
          <a:xfrm>
            <a:off x="2436811" y="3428999"/>
            <a:ext cx="8532815" cy="381000"/>
          </a:xfrm>
          <a:prstGeom prst="rect">
            <a:avLst/>
          </a:prstGeom>
          <a:noFill/>
          <a:ln>
            <a:noFill/>
          </a:ln>
        </p:spPr>
        <p:txBody>
          <a:bodyPr spcFirstLastPara="1" wrap="square" lIns="91425" tIns="45700" rIns="91425" bIns="45700" anchor="ctr" anchorCtr="0">
            <a:normAutofit/>
          </a:bodyPr>
          <a:lstStyle>
            <a:lvl1pPr marL="457200" lvl="0" indent="-228600" algn="l">
              <a:spcBef>
                <a:spcPts val="360"/>
              </a:spcBef>
              <a:spcAft>
                <a:spcPts val="0"/>
              </a:spcAft>
              <a:buSzPts val="2610"/>
              <a:buFont typeface="Corbel"/>
              <a:buNone/>
              <a:defRPr sz="1800"/>
            </a:lvl1pPr>
            <a:lvl2pPr marL="914400" lvl="1" indent="-228600" algn="l">
              <a:spcBef>
                <a:spcPts val="600"/>
              </a:spcBef>
              <a:spcAft>
                <a:spcPts val="0"/>
              </a:spcAft>
              <a:buSzPts val="2900"/>
              <a:buFont typeface="Corbel"/>
              <a:buNone/>
              <a:defRPr/>
            </a:lvl2pPr>
            <a:lvl3pPr marL="1371600" lvl="2" indent="-228600" algn="l">
              <a:spcBef>
                <a:spcPts val="600"/>
              </a:spcBef>
              <a:spcAft>
                <a:spcPts val="0"/>
              </a:spcAft>
              <a:buSzPts val="2610"/>
              <a:buFont typeface="Corbel"/>
              <a:buNone/>
              <a:defRPr/>
            </a:lvl3pPr>
            <a:lvl4pPr marL="1828800" lvl="3" indent="-228600" algn="l">
              <a:spcBef>
                <a:spcPts val="600"/>
              </a:spcBef>
              <a:spcAft>
                <a:spcPts val="0"/>
              </a:spcAft>
              <a:buSzPts val="2320"/>
              <a:buFont typeface="Corbel"/>
              <a:buNone/>
              <a:defRPr/>
            </a:lvl4pPr>
            <a:lvl5pPr marL="2286000" lvl="4" indent="-228600" algn="l">
              <a:spcBef>
                <a:spcPts val="600"/>
              </a:spcBef>
              <a:spcAft>
                <a:spcPts val="0"/>
              </a:spcAft>
              <a:buSzPts val="2030"/>
              <a:buFont typeface="Corbel"/>
              <a:buNone/>
              <a:defRPr/>
            </a:lvl5pPr>
            <a:lvl6pPr marL="2743200" lvl="5" indent="-394335" algn="l">
              <a:spcBef>
                <a:spcPts val="600"/>
              </a:spcBef>
              <a:spcAft>
                <a:spcPts val="0"/>
              </a:spcAft>
              <a:buSzPts val="2610"/>
              <a:buChar char="•"/>
              <a:defRPr/>
            </a:lvl6pPr>
            <a:lvl7pPr marL="3200400" lvl="6" indent="-394335" algn="l">
              <a:spcBef>
                <a:spcPts val="600"/>
              </a:spcBef>
              <a:spcAft>
                <a:spcPts val="0"/>
              </a:spcAft>
              <a:buSzPts val="2610"/>
              <a:buChar char="•"/>
              <a:defRPr/>
            </a:lvl7pPr>
            <a:lvl8pPr marL="3657600" lvl="7" indent="-394334" algn="l">
              <a:spcBef>
                <a:spcPts val="600"/>
              </a:spcBef>
              <a:spcAft>
                <a:spcPts val="0"/>
              </a:spcAft>
              <a:buSzPts val="2610"/>
              <a:buChar char="•"/>
              <a:defRPr/>
            </a:lvl8pPr>
            <a:lvl9pPr marL="4114800" lvl="8" indent="-394334" algn="l">
              <a:spcBef>
                <a:spcPts val="600"/>
              </a:spcBef>
              <a:spcAft>
                <a:spcPts val="600"/>
              </a:spcAft>
              <a:buSzPts val="2610"/>
              <a:buChar char="•"/>
              <a:defRPr/>
            </a:lvl9pPr>
          </a:lstStyle>
          <a:p>
            <a:endParaRPr/>
          </a:p>
        </p:txBody>
      </p:sp>
      <p:sp>
        <p:nvSpPr>
          <p:cNvPr id="104" name="Google Shape;104;p82"/>
          <p:cNvSpPr txBox="1">
            <a:spLocks noGrp="1"/>
          </p:cNvSpPr>
          <p:nvPr>
            <p:ph type="body" idx="2"/>
          </p:nvPr>
        </p:nvSpPr>
        <p:spPr>
          <a:xfrm>
            <a:off x="1484311" y="4343400"/>
            <a:ext cx="10018711" cy="1447800"/>
          </a:xfrm>
          <a:prstGeom prst="rect">
            <a:avLst/>
          </a:prstGeom>
          <a:noFill/>
          <a:ln>
            <a:noFill/>
          </a:ln>
        </p:spPr>
        <p:txBody>
          <a:bodyPr spcFirstLastPara="1" wrap="square" lIns="91425" tIns="45700" rIns="91425" bIns="45700" anchor="ctr" anchorCtr="0">
            <a:normAutofit/>
          </a:bodyPr>
          <a:lstStyle>
            <a:lvl1pPr marL="457200" lvl="0" indent="-228600" algn="ctr">
              <a:spcBef>
                <a:spcPts val="400"/>
              </a:spcBef>
              <a:spcAft>
                <a:spcPts val="0"/>
              </a:spcAft>
              <a:buSzPts val="2900"/>
              <a:buNone/>
              <a:defRPr sz="2000">
                <a:solidFill>
                  <a:schemeClr val="dk1"/>
                </a:solidFill>
              </a:defRPr>
            </a:lvl1pPr>
            <a:lvl2pPr marL="914400" lvl="1" indent="-228600" algn="l">
              <a:spcBef>
                <a:spcPts val="600"/>
              </a:spcBef>
              <a:spcAft>
                <a:spcPts val="0"/>
              </a:spcAft>
              <a:buSzPts val="2610"/>
              <a:buNone/>
              <a:defRPr sz="1800">
                <a:solidFill>
                  <a:srgbClr val="888888"/>
                </a:solidFill>
              </a:defRPr>
            </a:lvl2pPr>
            <a:lvl3pPr marL="1371600" lvl="2" indent="-228600" algn="l">
              <a:spcBef>
                <a:spcPts val="600"/>
              </a:spcBef>
              <a:spcAft>
                <a:spcPts val="0"/>
              </a:spcAft>
              <a:buSzPts val="2320"/>
              <a:buNone/>
              <a:defRPr sz="1600">
                <a:solidFill>
                  <a:srgbClr val="888888"/>
                </a:solidFill>
              </a:defRPr>
            </a:lvl3pPr>
            <a:lvl4pPr marL="1828800" lvl="3" indent="-228600" algn="l">
              <a:spcBef>
                <a:spcPts val="600"/>
              </a:spcBef>
              <a:spcAft>
                <a:spcPts val="0"/>
              </a:spcAft>
              <a:buSzPts val="2030"/>
              <a:buNone/>
              <a:defRPr sz="1400">
                <a:solidFill>
                  <a:srgbClr val="888888"/>
                </a:solidFill>
              </a:defRPr>
            </a:lvl4pPr>
            <a:lvl5pPr marL="2286000" lvl="4" indent="-228600" algn="l">
              <a:spcBef>
                <a:spcPts val="600"/>
              </a:spcBef>
              <a:spcAft>
                <a:spcPts val="0"/>
              </a:spcAft>
              <a:buSzPts val="2030"/>
              <a:buNone/>
              <a:defRPr sz="1400">
                <a:solidFill>
                  <a:srgbClr val="888888"/>
                </a:solidFill>
              </a:defRPr>
            </a:lvl5pPr>
            <a:lvl6pPr marL="2743200" lvl="5" indent="-228600" algn="l">
              <a:spcBef>
                <a:spcPts val="600"/>
              </a:spcBef>
              <a:spcAft>
                <a:spcPts val="0"/>
              </a:spcAft>
              <a:buSzPts val="2030"/>
              <a:buNone/>
              <a:defRPr sz="1400">
                <a:solidFill>
                  <a:srgbClr val="888888"/>
                </a:solidFill>
              </a:defRPr>
            </a:lvl6pPr>
            <a:lvl7pPr marL="3200400" lvl="6" indent="-228600" algn="l">
              <a:spcBef>
                <a:spcPts val="600"/>
              </a:spcBef>
              <a:spcAft>
                <a:spcPts val="0"/>
              </a:spcAft>
              <a:buSzPts val="2030"/>
              <a:buNone/>
              <a:defRPr sz="1400">
                <a:solidFill>
                  <a:srgbClr val="888888"/>
                </a:solidFill>
              </a:defRPr>
            </a:lvl7pPr>
            <a:lvl8pPr marL="3657600" lvl="7" indent="-228600" algn="l">
              <a:spcBef>
                <a:spcPts val="600"/>
              </a:spcBef>
              <a:spcAft>
                <a:spcPts val="0"/>
              </a:spcAft>
              <a:buSzPts val="2030"/>
              <a:buNone/>
              <a:defRPr sz="1400">
                <a:solidFill>
                  <a:srgbClr val="888888"/>
                </a:solidFill>
              </a:defRPr>
            </a:lvl8pPr>
            <a:lvl9pPr marL="4114800" lvl="8" indent="-228600" algn="l">
              <a:spcBef>
                <a:spcPts val="600"/>
              </a:spcBef>
              <a:spcAft>
                <a:spcPts val="600"/>
              </a:spcAft>
              <a:buSzPts val="2030"/>
              <a:buNone/>
              <a:defRPr sz="1400">
                <a:solidFill>
                  <a:srgbClr val="888888"/>
                </a:solidFill>
              </a:defRPr>
            </a:lvl9pPr>
          </a:lstStyle>
          <a:p>
            <a:endParaRPr/>
          </a:p>
        </p:txBody>
      </p:sp>
      <p:sp>
        <p:nvSpPr>
          <p:cNvPr id="105" name="Google Shape;105;p82"/>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82"/>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82"/>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108"/>
        <p:cNvGrpSpPr/>
        <p:nvPr/>
      </p:nvGrpSpPr>
      <p:grpSpPr>
        <a:xfrm>
          <a:off x="0" y="0"/>
          <a:ext cx="0" cy="0"/>
          <a:chOff x="0" y="0"/>
          <a:chExt cx="0" cy="0"/>
        </a:xfrm>
      </p:grpSpPr>
      <p:sp>
        <p:nvSpPr>
          <p:cNvPr id="109" name="Google Shape;109;p83"/>
          <p:cNvSpPr txBox="1">
            <a:spLocks noGrp="1"/>
          </p:cNvSpPr>
          <p:nvPr>
            <p:ph type="title"/>
          </p:nvPr>
        </p:nvSpPr>
        <p:spPr>
          <a:xfrm>
            <a:off x="1484313" y="3308581"/>
            <a:ext cx="10018709" cy="1468800"/>
          </a:xfrm>
          <a:prstGeom prst="rect">
            <a:avLst/>
          </a:prstGeom>
          <a:noFill/>
          <a:ln>
            <a:noFill/>
          </a:ln>
        </p:spPr>
        <p:txBody>
          <a:bodyPr spcFirstLastPara="1" wrap="square" lIns="91425" tIns="45700" rIns="91425" bIns="45700" anchor="b" anchorCtr="0">
            <a:normAutofit/>
          </a:bodyPr>
          <a:lstStyle>
            <a:lvl1pPr lvl="0" algn="r">
              <a:spcBef>
                <a:spcPts val="0"/>
              </a:spcBef>
              <a:spcAft>
                <a:spcPts val="0"/>
              </a:spcAft>
              <a:buClr>
                <a:schemeClr val="dk1"/>
              </a:buClr>
              <a:buSzPts val="3200"/>
              <a:buFont typeface="Corbel"/>
              <a:buNone/>
              <a:defRPr sz="32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0" name="Google Shape;110;p83"/>
          <p:cNvSpPr txBox="1">
            <a:spLocks noGrp="1"/>
          </p:cNvSpPr>
          <p:nvPr>
            <p:ph type="body" idx="1"/>
          </p:nvPr>
        </p:nvSpPr>
        <p:spPr>
          <a:xfrm>
            <a:off x="1484312" y="4777381"/>
            <a:ext cx="10018710" cy="860400"/>
          </a:xfrm>
          <a:prstGeom prst="rect">
            <a:avLst/>
          </a:prstGeom>
          <a:noFill/>
          <a:ln>
            <a:noFill/>
          </a:ln>
        </p:spPr>
        <p:txBody>
          <a:bodyPr spcFirstLastPara="1" wrap="square" lIns="91425" tIns="45700" rIns="91425" bIns="45700" anchor="t" anchorCtr="0">
            <a:normAutofit/>
          </a:bodyPr>
          <a:lstStyle>
            <a:lvl1pPr marL="457200" lvl="0" indent="-228600" algn="r">
              <a:spcBef>
                <a:spcPts val="400"/>
              </a:spcBef>
              <a:spcAft>
                <a:spcPts val="0"/>
              </a:spcAft>
              <a:buSzPts val="2900"/>
              <a:buNone/>
              <a:defRPr sz="2000">
                <a:solidFill>
                  <a:schemeClr val="dk1"/>
                </a:solidFill>
              </a:defRPr>
            </a:lvl1pPr>
            <a:lvl2pPr marL="914400" lvl="1" indent="-228600" algn="l">
              <a:spcBef>
                <a:spcPts val="600"/>
              </a:spcBef>
              <a:spcAft>
                <a:spcPts val="0"/>
              </a:spcAft>
              <a:buSzPts val="2610"/>
              <a:buNone/>
              <a:defRPr sz="1800">
                <a:solidFill>
                  <a:srgbClr val="888888"/>
                </a:solidFill>
              </a:defRPr>
            </a:lvl2pPr>
            <a:lvl3pPr marL="1371600" lvl="2" indent="-228600" algn="l">
              <a:spcBef>
                <a:spcPts val="600"/>
              </a:spcBef>
              <a:spcAft>
                <a:spcPts val="0"/>
              </a:spcAft>
              <a:buSzPts val="2320"/>
              <a:buNone/>
              <a:defRPr sz="1600">
                <a:solidFill>
                  <a:srgbClr val="888888"/>
                </a:solidFill>
              </a:defRPr>
            </a:lvl3pPr>
            <a:lvl4pPr marL="1828800" lvl="3" indent="-228600" algn="l">
              <a:spcBef>
                <a:spcPts val="600"/>
              </a:spcBef>
              <a:spcAft>
                <a:spcPts val="0"/>
              </a:spcAft>
              <a:buSzPts val="2030"/>
              <a:buNone/>
              <a:defRPr sz="1400">
                <a:solidFill>
                  <a:srgbClr val="888888"/>
                </a:solidFill>
              </a:defRPr>
            </a:lvl4pPr>
            <a:lvl5pPr marL="2286000" lvl="4" indent="-228600" algn="l">
              <a:spcBef>
                <a:spcPts val="600"/>
              </a:spcBef>
              <a:spcAft>
                <a:spcPts val="0"/>
              </a:spcAft>
              <a:buSzPts val="2030"/>
              <a:buNone/>
              <a:defRPr sz="1400">
                <a:solidFill>
                  <a:srgbClr val="888888"/>
                </a:solidFill>
              </a:defRPr>
            </a:lvl5pPr>
            <a:lvl6pPr marL="2743200" lvl="5" indent="-228600" algn="l">
              <a:spcBef>
                <a:spcPts val="600"/>
              </a:spcBef>
              <a:spcAft>
                <a:spcPts val="0"/>
              </a:spcAft>
              <a:buSzPts val="2030"/>
              <a:buNone/>
              <a:defRPr sz="1400">
                <a:solidFill>
                  <a:srgbClr val="888888"/>
                </a:solidFill>
              </a:defRPr>
            </a:lvl6pPr>
            <a:lvl7pPr marL="3200400" lvl="6" indent="-228600" algn="l">
              <a:spcBef>
                <a:spcPts val="600"/>
              </a:spcBef>
              <a:spcAft>
                <a:spcPts val="0"/>
              </a:spcAft>
              <a:buSzPts val="2030"/>
              <a:buNone/>
              <a:defRPr sz="1400">
                <a:solidFill>
                  <a:srgbClr val="888888"/>
                </a:solidFill>
              </a:defRPr>
            </a:lvl7pPr>
            <a:lvl8pPr marL="3657600" lvl="7" indent="-228600" algn="l">
              <a:spcBef>
                <a:spcPts val="600"/>
              </a:spcBef>
              <a:spcAft>
                <a:spcPts val="0"/>
              </a:spcAft>
              <a:buSzPts val="2030"/>
              <a:buNone/>
              <a:defRPr sz="1400">
                <a:solidFill>
                  <a:srgbClr val="888888"/>
                </a:solidFill>
              </a:defRPr>
            </a:lvl8pPr>
            <a:lvl9pPr marL="4114800" lvl="8" indent="-228600" algn="l">
              <a:spcBef>
                <a:spcPts val="600"/>
              </a:spcBef>
              <a:spcAft>
                <a:spcPts val="600"/>
              </a:spcAft>
              <a:buSzPts val="2030"/>
              <a:buNone/>
              <a:defRPr sz="1400">
                <a:solidFill>
                  <a:srgbClr val="888888"/>
                </a:solidFill>
              </a:defRPr>
            </a:lvl9pPr>
          </a:lstStyle>
          <a:p>
            <a:endParaRPr/>
          </a:p>
        </p:txBody>
      </p:sp>
      <p:sp>
        <p:nvSpPr>
          <p:cNvPr id="111" name="Google Shape;111;p83"/>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2" name="Google Shape;112;p83"/>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83"/>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 Name Card">
  <p:cSld name="Quote Name Card">
    <p:spTree>
      <p:nvGrpSpPr>
        <p:cNvPr id="1" name="Shape 114"/>
        <p:cNvGrpSpPr/>
        <p:nvPr/>
      </p:nvGrpSpPr>
      <p:grpSpPr>
        <a:xfrm>
          <a:off x="0" y="0"/>
          <a:ext cx="0" cy="0"/>
          <a:chOff x="0" y="0"/>
          <a:chExt cx="0" cy="0"/>
        </a:xfrm>
      </p:grpSpPr>
      <p:sp>
        <p:nvSpPr>
          <p:cNvPr id="115" name="Google Shape;115;p84"/>
          <p:cNvSpPr txBox="1"/>
          <p:nvPr/>
        </p:nvSpPr>
        <p:spPr>
          <a:xfrm>
            <a:off x="1598612" y="863023"/>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8000"/>
              <a:buFont typeface="Corbel"/>
              <a:buNone/>
            </a:pPr>
            <a:r>
              <a:rPr lang="el-GR" sz="8000" b="0" cap="none">
                <a:solidFill>
                  <a:schemeClr val="dk1"/>
                </a:solidFill>
                <a:latin typeface="Corbel"/>
                <a:ea typeface="Corbel"/>
                <a:cs typeface="Corbel"/>
                <a:sym typeface="Corbel"/>
              </a:rPr>
              <a:t>“</a:t>
            </a:r>
            <a:endParaRPr/>
          </a:p>
        </p:txBody>
      </p:sp>
      <p:sp>
        <p:nvSpPr>
          <p:cNvPr id="116" name="Google Shape;116;p84"/>
          <p:cNvSpPr txBox="1"/>
          <p:nvPr/>
        </p:nvSpPr>
        <p:spPr>
          <a:xfrm>
            <a:off x="10893425" y="2819399"/>
            <a:ext cx="609600" cy="58477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chemeClr val="dk1"/>
              </a:buClr>
              <a:buSzPts val="8000"/>
              <a:buFont typeface="Corbel"/>
              <a:buNone/>
            </a:pPr>
            <a:r>
              <a:rPr lang="el-GR" sz="8000" b="0" cap="none">
                <a:solidFill>
                  <a:schemeClr val="dk1"/>
                </a:solidFill>
                <a:latin typeface="Corbel"/>
                <a:ea typeface="Corbel"/>
                <a:cs typeface="Corbel"/>
                <a:sym typeface="Corbel"/>
              </a:rPr>
              <a:t>”</a:t>
            </a:r>
            <a:endParaRPr/>
          </a:p>
        </p:txBody>
      </p:sp>
      <p:sp>
        <p:nvSpPr>
          <p:cNvPr id="117" name="Google Shape;117;p84"/>
          <p:cNvSpPr txBox="1">
            <a:spLocks noGrp="1"/>
          </p:cNvSpPr>
          <p:nvPr>
            <p:ph type="title"/>
          </p:nvPr>
        </p:nvSpPr>
        <p:spPr>
          <a:xfrm>
            <a:off x="2208212" y="685800"/>
            <a:ext cx="8990012" cy="2743199"/>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3200"/>
              <a:buFont typeface="Corbel"/>
              <a:buNone/>
              <a:defRPr sz="3200" b="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8" name="Google Shape;118;p84"/>
          <p:cNvSpPr txBox="1">
            <a:spLocks noGrp="1"/>
          </p:cNvSpPr>
          <p:nvPr>
            <p:ph type="body" idx="1"/>
          </p:nvPr>
        </p:nvSpPr>
        <p:spPr>
          <a:xfrm>
            <a:off x="1484313" y="3886200"/>
            <a:ext cx="10018710" cy="889000"/>
          </a:xfrm>
          <a:prstGeom prst="rect">
            <a:avLst/>
          </a:prstGeom>
          <a:noFill/>
          <a:ln>
            <a:noFill/>
          </a:ln>
        </p:spPr>
        <p:txBody>
          <a:bodyPr spcFirstLastPara="1" wrap="square" lIns="91425" tIns="45700" rIns="91425" bIns="45700" anchor="b" anchorCtr="0">
            <a:normAutofit/>
          </a:bodyPr>
          <a:lstStyle>
            <a:lvl1pPr marL="457200" lvl="0" indent="-228600" algn="r">
              <a:spcBef>
                <a:spcPts val="480"/>
              </a:spcBef>
              <a:spcAft>
                <a:spcPts val="0"/>
              </a:spcAft>
              <a:buSzPts val="3480"/>
              <a:buNone/>
              <a:defRPr sz="2400" b="0" cap="none">
                <a:solidFill>
                  <a:schemeClr val="dk1"/>
                </a:solidFill>
              </a:defRPr>
            </a:lvl1pPr>
            <a:lvl2pPr marL="914400" lvl="1" indent="-394335" algn="l">
              <a:spcBef>
                <a:spcPts val="600"/>
              </a:spcBef>
              <a:spcAft>
                <a:spcPts val="0"/>
              </a:spcAft>
              <a:buSzPts val="2610"/>
              <a:buChar char="•"/>
              <a:defRPr/>
            </a:lvl2pPr>
            <a:lvl3pPr marL="1371600" lvl="2" indent="-394335" algn="l">
              <a:spcBef>
                <a:spcPts val="600"/>
              </a:spcBef>
              <a:spcAft>
                <a:spcPts val="0"/>
              </a:spcAft>
              <a:buSzPts val="2610"/>
              <a:buChar char="•"/>
              <a:defRPr/>
            </a:lvl3pPr>
            <a:lvl4pPr marL="1828800" lvl="3" indent="-394335" algn="l">
              <a:spcBef>
                <a:spcPts val="600"/>
              </a:spcBef>
              <a:spcAft>
                <a:spcPts val="0"/>
              </a:spcAft>
              <a:buSzPts val="2610"/>
              <a:buChar char="•"/>
              <a:defRPr/>
            </a:lvl4pPr>
            <a:lvl5pPr marL="2286000" lvl="4" indent="-394335" algn="l">
              <a:spcBef>
                <a:spcPts val="600"/>
              </a:spcBef>
              <a:spcAft>
                <a:spcPts val="0"/>
              </a:spcAft>
              <a:buSzPts val="2610"/>
              <a:buChar char="•"/>
              <a:defRPr/>
            </a:lvl5pPr>
            <a:lvl6pPr marL="2743200" lvl="5" indent="-394335" algn="l">
              <a:spcBef>
                <a:spcPts val="600"/>
              </a:spcBef>
              <a:spcAft>
                <a:spcPts val="0"/>
              </a:spcAft>
              <a:buSzPts val="2610"/>
              <a:buChar char="•"/>
              <a:defRPr/>
            </a:lvl6pPr>
            <a:lvl7pPr marL="3200400" lvl="6" indent="-394335" algn="l">
              <a:spcBef>
                <a:spcPts val="600"/>
              </a:spcBef>
              <a:spcAft>
                <a:spcPts val="0"/>
              </a:spcAft>
              <a:buSzPts val="2610"/>
              <a:buChar char="•"/>
              <a:defRPr/>
            </a:lvl7pPr>
            <a:lvl8pPr marL="3657600" lvl="7" indent="-394334" algn="l">
              <a:spcBef>
                <a:spcPts val="600"/>
              </a:spcBef>
              <a:spcAft>
                <a:spcPts val="0"/>
              </a:spcAft>
              <a:buSzPts val="2610"/>
              <a:buChar char="•"/>
              <a:defRPr/>
            </a:lvl8pPr>
            <a:lvl9pPr marL="4114800" lvl="8" indent="-394334" algn="l">
              <a:spcBef>
                <a:spcPts val="600"/>
              </a:spcBef>
              <a:spcAft>
                <a:spcPts val="600"/>
              </a:spcAft>
              <a:buSzPts val="2610"/>
              <a:buChar char="•"/>
              <a:defRPr/>
            </a:lvl9pPr>
          </a:lstStyle>
          <a:p>
            <a:endParaRPr/>
          </a:p>
        </p:txBody>
      </p:sp>
      <p:sp>
        <p:nvSpPr>
          <p:cNvPr id="119" name="Google Shape;119;p84"/>
          <p:cNvSpPr txBox="1">
            <a:spLocks noGrp="1"/>
          </p:cNvSpPr>
          <p:nvPr>
            <p:ph type="body" idx="2"/>
          </p:nvPr>
        </p:nvSpPr>
        <p:spPr>
          <a:xfrm>
            <a:off x="1484312" y="4775200"/>
            <a:ext cx="10018710" cy="1016000"/>
          </a:xfrm>
          <a:prstGeom prst="rect">
            <a:avLst/>
          </a:prstGeom>
          <a:noFill/>
          <a:ln>
            <a:noFill/>
          </a:ln>
        </p:spPr>
        <p:txBody>
          <a:bodyPr spcFirstLastPara="1" wrap="square" lIns="91425" tIns="45700" rIns="91425" bIns="45700" anchor="t" anchorCtr="0">
            <a:normAutofit/>
          </a:bodyPr>
          <a:lstStyle>
            <a:lvl1pPr marL="457200" lvl="0" indent="-228600" algn="r">
              <a:spcBef>
                <a:spcPts val="360"/>
              </a:spcBef>
              <a:spcAft>
                <a:spcPts val="0"/>
              </a:spcAft>
              <a:buSzPts val="2610"/>
              <a:buNone/>
              <a:defRPr sz="1800">
                <a:solidFill>
                  <a:schemeClr val="dk1"/>
                </a:solidFill>
              </a:defRPr>
            </a:lvl1pPr>
            <a:lvl2pPr marL="914400" lvl="1" indent="-228600" algn="l">
              <a:spcBef>
                <a:spcPts val="600"/>
              </a:spcBef>
              <a:spcAft>
                <a:spcPts val="0"/>
              </a:spcAft>
              <a:buSzPts val="2610"/>
              <a:buNone/>
              <a:defRPr sz="1800">
                <a:solidFill>
                  <a:srgbClr val="888888"/>
                </a:solidFill>
              </a:defRPr>
            </a:lvl2pPr>
            <a:lvl3pPr marL="1371600" lvl="2" indent="-228600" algn="l">
              <a:spcBef>
                <a:spcPts val="600"/>
              </a:spcBef>
              <a:spcAft>
                <a:spcPts val="0"/>
              </a:spcAft>
              <a:buSzPts val="2320"/>
              <a:buNone/>
              <a:defRPr sz="1600">
                <a:solidFill>
                  <a:srgbClr val="888888"/>
                </a:solidFill>
              </a:defRPr>
            </a:lvl3pPr>
            <a:lvl4pPr marL="1828800" lvl="3" indent="-228600" algn="l">
              <a:spcBef>
                <a:spcPts val="600"/>
              </a:spcBef>
              <a:spcAft>
                <a:spcPts val="0"/>
              </a:spcAft>
              <a:buSzPts val="2030"/>
              <a:buNone/>
              <a:defRPr sz="1400">
                <a:solidFill>
                  <a:srgbClr val="888888"/>
                </a:solidFill>
              </a:defRPr>
            </a:lvl4pPr>
            <a:lvl5pPr marL="2286000" lvl="4" indent="-228600" algn="l">
              <a:spcBef>
                <a:spcPts val="600"/>
              </a:spcBef>
              <a:spcAft>
                <a:spcPts val="0"/>
              </a:spcAft>
              <a:buSzPts val="2030"/>
              <a:buNone/>
              <a:defRPr sz="1400">
                <a:solidFill>
                  <a:srgbClr val="888888"/>
                </a:solidFill>
              </a:defRPr>
            </a:lvl5pPr>
            <a:lvl6pPr marL="2743200" lvl="5" indent="-228600" algn="l">
              <a:spcBef>
                <a:spcPts val="600"/>
              </a:spcBef>
              <a:spcAft>
                <a:spcPts val="0"/>
              </a:spcAft>
              <a:buSzPts val="2030"/>
              <a:buNone/>
              <a:defRPr sz="1400">
                <a:solidFill>
                  <a:srgbClr val="888888"/>
                </a:solidFill>
              </a:defRPr>
            </a:lvl6pPr>
            <a:lvl7pPr marL="3200400" lvl="6" indent="-228600" algn="l">
              <a:spcBef>
                <a:spcPts val="600"/>
              </a:spcBef>
              <a:spcAft>
                <a:spcPts val="0"/>
              </a:spcAft>
              <a:buSzPts val="2030"/>
              <a:buNone/>
              <a:defRPr sz="1400">
                <a:solidFill>
                  <a:srgbClr val="888888"/>
                </a:solidFill>
              </a:defRPr>
            </a:lvl7pPr>
            <a:lvl8pPr marL="3657600" lvl="7" indent="-228600" algn="l">
              <a:spcBef>
                <a:spcPts val="600"/>
              </a:spcBef>
              <a:spcAft>
                <a:spcPts val="0"/>
              </a:spcAft>
              <a:buSzPts val="2030"/>
              <a:buNone/>
              <a:defRPr sz="1400">
                <a:solidFill>
                  <a:srgbClr val="888888"/>
                </a:solidFill>
              </a:defRPr>
            </a:lvl8pPr>
            <a:lvl9pPr marL="4114800" lvl="8" indent="-228600" algn="l">
              <a:spcBef>
                <a:spcPts val="600"/>
              </a:spcBef>
              <a:spcAft>
                <a:spcPts val="600"/>
              </a:spcAft>
              <a:buSzPts val="2030"/>
              <a:buNone/>
              <a:defRPr sz="1400">
                <a:solidFill>
                  <a:srgbClr val="888888"/>
                </a:solidFill>
              </a:defRPr>
            </a:lvl9pPr>
          </a:lstStyle>
          <a:p>
            <a:endParaRPr/>
          </a:p>
        </p:txBody>
      </p:sp>
      <p:sp>
        <p:nvSpPr>
          <p:cNvPr id="120" name="Google Shape;120;p84"/>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1" name="Google Shape;121;p84"/>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84"/>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 name="Shape 123"/>
        <p:cNvGrpSpPr/>
        <p:nvPr/>
      </p:nvGrpSpPr>
      <p:grpSpPr>
        <a:xfrm>
          <a:off x="0" y="0"/>
          <a:ext cx="0" cy="0"/>
          <a:chOff x="0" y="0"/>
          <a:chExt cx="0" cy="0"/>
        </a:xfrm>
      </p:grpSpPr>
      <p:sp>
        <p:nvSpPr>
          <p:cNvPr id="124" name="Google Shape;124;p85"/>
          <p:cNvSpPr txBox="1">
            <a:spLocks noGrp="1"/>
          </p:cNvSpPr>
          <p:nvPr>
            <p:ph type="title"/>
          </p:nvPr>
        </p:nvSpPr>
        <p:spPr>
          <a:xfrm>
            <a:off x="1484313" y="685800"/>
            <a:ext cx="10018712" cy="27273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000"/>
              <a:buFont typeface="Corbel"/>
              <a:buNone/>
              <a:defRPr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5" name="Google Shape;125;p85"/>
          <p:cNvSpPr txBox="1">
            <a:spLocks noGrp="1"/>
          </p:cNvSpPr>
          <p:nvPr>
            <p:ph type="body" idx="1"/>
          </p:nvPr>
        </p:nvSpPr>
        <p:spPr>
          <a:xfrm>
            <a:off x="1484312" y="3505200"/>
            <a:ext cx="10018713" cy="838200"/>
          </a:xfrm>
          <a:prstGeom prst="rect">
            <a:avLst/>
          </a:prstGeom>
          <a:noFill/>
          <a:ln>
            <a:noFill/>
          </a:ln>
        </p:spPr>
        <p:txBody>
          <a:bodyPr spcFirstLastPara="1" wrap="square" lIns="91425" tIns="45700" rIns="91425" bIns="45700" anchor="b" anchorCtr="0">
            <a:normAutofit/>
          </a:bodyPr>
          <a:lstStyle>
            <a:lvl1pPr marL="457200" lvl="0" indent="-228600" algn="l">
              <a:spcBef>
                <a:spcPts val="560"/>
              </a:spcBef>
              <a:spcAft>
                <a:spcPts val="0"/>
              </a:spcAft>
              <a:buSzPts val="4060"/>
              <a:buNone/>
              <a:defRPr sz="2800" b="0" cap="none">
                <a:solidFill>
                  <a:schemeClr val="dk1"/>
                </a:solidFill>
              </a:defRPr>
            </a:lvl1pPr>
            <a:lvl2pPr marL="914400" lvl="1" indent="-394335" algn="l">
              <a:spcBef>
                <a:spcPts val="600"/>
              </a:spcBef>
              <a:spcAft>
                <a:spcPts val="0"/>
              </a:spcAft>
              <a:buSzPts val="2610"/>
              <a:buChar char="•"/>
              <a:defRPr/>
            </a:lvl2pPr>
            <a:lvl3pPr marL="1371600" lvl="2" indent="-394335" algn="l">
              <a:spcBef>
                <a:spcPts val="600"/>
              </a:spcBef>
              <a:spcAft>
                <a:spcPts val="0"/>
              </a:spcAft>
              <a:buSzPts val="2610"/>
              <a:buChar char="•"/>
              <a:defRPr/>
            </a:lvl3pPr>
            <a:lvl4pPr marL="1828800" lvl="3" indent="-394335" algn="l">
              <a:spcBef>
                <a:spcPts val="600"/>
              </a:spcBef>
              <a:spcAft>
                <a:spcPts val="0"/>
              </a:spcAft>
              <a:buSzPts val="2610"/>
              <a:buChar char="•"/>
              <a:defRPr/>
            </a:lvl4pPr>
            <a:lvl5pPr marL="2286000" lvl="4" indent="-394335" algn="l">
              <a:spcBef>
                <a:spcPts val="600"/>
              </a:spcBef>
              <a:spcAft>
                <a:spcPts val="0"/>
              </a:spcAft>
              <a:buSzPts val="2610"/>
              <a:buChar char="•"/>
              <a:defRPr/>
            </a:lvl5pPr>
            <a:lvl6pPr marL="2743200" lvl="5" indent="-394335" algn="l">
              <a:spcBef>
                <a:spcPts val="600"/>
              </a:spcBef>
              <a:spcAft>
                <a:spcPts val="0"/>
              </a:spcAft>
              <a:buSzPts val="2610"/>
              <a:buChar char="•"/>
              <a:defRPr/>
            </a:lvl6pPr>
            <a:lvl7pPr marL="3200400" lvl="6" indent="-394335" algn="l">
              <a:spcBef>
                <a:spcPts val="600"/>
              </a:spcBef>
              <a:spcAft>
                <a:spcPts val="0"/>
              </a:spcAft>
              <a:buSzPts val="2610"/>
              <a:buChar char="•"/>
              <a:defRPr/>
            </a:lvl7pPr>
            <a:lvl8pPr marL="3657600" lvl="7" indent="-394334" algn="l">
              <a:spcBef>
                <a:spcPts val="600"/>
              </a:spcBef>
              <a:spcAft>
                <a:spcPts val="0"/>
              </a:spcAft>
              <a:buSzPts val="2610"/>
              <a:buChar char="•"/>
              <a:defRPr/>
            </a:lvl8pPr>
            <a:lvl9pPr marL="4114800" lvl="8" indent="-394334" algn="l">
              <a:spcBef>
                <a:spcPts val="600"/>
              </a:spcBef>
              <a:spcAft>
                <a:spcPts val="600"/>
              </a:spcAft>
              <a:buSzPts val="2610"/>
              <a:buChar char="•"/>
              <a:defRPr/>
            </a:lvl9pPr>
          </a:lstStyle>
          <a:p>
            <a:endParaRPr/>
          </a:p>
        </p:txBody>
      </p:sp>
      <p:sp>
        <p:nvSpPr>
          <p:cNvPr id="126" name="Google Shape;126;p85"/>
          <p:cNvSpPr txBox="1">
            <a:spLocks noGrp="1"/>
          </p:cNvSpPr>
          <p:nvPr>
            <p:ph type="body" idx="2"/>
          </p:nvPr>
        </p:nvSpPr>
        <p:spPr>
          <a:xfrm>
            <a:off x="1484311" y="4343400"/>
            <a:ext cx="10018713" cy="1447800"/>
          </a:xfrm>
          <a:prstGeom prst="rect">
            <a:avLst/>
          </a:prstGeom>
          <a:noFill/>
          <a:ln>
            <a:noFill/>
          </a:ln>
        </p:spPr>
        <p:txBody>
          <a:bodyPr spcFirstLastPara="1" wrap="square" lIns="91425" tIns="45700" rIns="91425" bIns="45700" anchor="t" anchorCtr="0">
            <a:normAutofit/>
          </a:bodyPr>
          <a:lstStyle>
            <a:lvl1pPr marL="457200" lvl="0" indent="-228600" algn="l">
              <a:spcBef>
                <a:spcPts val="360"/>
              </a:spcBef>
              <a:spcAft>
                <a:spcPts val="0"/>
              </a:spcAft>
              <a:buSzPts val="2610"/>
              <a:buNone/>
              <a:defRPr sz="1800">
                <a:solidFill>
                  <a:schemeClr val="dk1"/>
                </a:solidFill>
              </a:defRPr>
            </a:lvl1pPr>
            <a:lvl2pPr marL="914400" lvl="1" indent="-228600" algn="l">
              <a:spcBef>
                <a:spcPts val="600"/>
              </a:spcBef>
              <a:spcAft>
                <a:spcPts val="0"/>
              </a:spcAft>
              <a:buSzPts val="2610"/>
              <a:buNone/>
              <a:defRPr sz="1800">
                <a:solidFill>
                  <a:srgbClr val="888888"/>
                </a:solidFill>
              </a:defRPr>
            </a:lvl2pPr>
            <a:lvl3pPr marL="1371600" lvl="2" indent="-228600" algn="l">
              <a:spcBef>
                <a:spcPts val="600"/>
              </a:spcBef>
              <a:spcAft>
                <a:spcPts val="0"/>
              </a:spcAft>
              <a:buSzPts val="2320"/>
              <a:buNone/>
              <a:defRPr sz="1600">
                <a:solidFill>
                  <a:srgbClr val="888888"/>
                </a:solidFill>
              </a:defRPr>
            </a:lvl3pPr>
            <a:lvl4pPr marL="1828800" lvl="3" indent="-228600" algn="l">
              <a:spcBef>
                <a:spcPts val="600"/>
              </a:spcBef>
              <a:spcAft>
                <a:spcPts val="0"/>
              </a:spcAft>
              <a:buSzPts val="2030"/>
              <a:buNone/>
              <a:defRPr sz="1400">
                <a:solidFill>
                  <a:srgbClr val="888888"/>
                </a:solidFill>
              </a:defRPr>
            </a:lvl4pPr>
            <a:lvl5pPr marL="2286000" lvl="4" indent="-228600" algn="l">
              <a:spcBef>
                <a:spcPts val="600"/>
              </a:spcBef>
              <a:spcAft>
                <a:spcPts val="0"/>
              </a:spcAft>
              <a:buSzPts val="2030"/>
              <a:buNone/>
              <a:defRPr sz="1400">
                <a:solidFill>
                  <a:srgbClr val="888888"/>
                </a:solidFill>
              </a:defRPr>
            </a:lvl5pPr>
            <a:lvl6pPr marL="2743200" lvl="5" indent="-228600" algn="l">
              <a:spcBef>
                <a:spcPts val="600"/>
              </a:spcBef>
              <a:spcAft>
                <a:spcPts val="0"/>
              </a:spcAft>
              <a:buSzPts val="2030"/>
              <a:buNone/>
              <a:defRPr sz="1400">
                <a:solidFill>
                  <a:srgbClr val="888888"/>
                </a:solidFill>
              </a:defRPr>
            </a:lvl6pPr>
            <a:lvl7pPr marL="3200400" lvl="6" indent="-228600" algn="l">
              <a:spcBef>
                <a:spcPts val="600"/>
              </a:spcBef>
              <a:spcAft>
                <a:spcPts val="0"/>
              </a:spcAft>
              <a:buSzPts val="2030"/>
              <a:buNone/>
              <a:defRPr sz="1400">
                <a:solidFill>
                  <a:srgbClr val="888888"/>
                </a:solidFill>
              </a:defRPr>
            </a:lvl7pPr>
            <a:lvl8pPr marL="3657600" lvl="7" indent="-228600" algn="l">
              <a:spcBef>
                <a:spcPts val="600"/>
              </a:spcBef>
              <a:spcAft>
                <a:spcPts val="0"/>
              </a:spcAft>
              <a:buSzPts val="2030"/>
              <a:buNone/>
              <a:defRPr sz="1400">
                <a:solidFill>
                  <a:srgbClr val="888888"/>
                </a:solidFill>
              </a:defRPr>
            </a:lvl8pPr>
            <a:lvl9pPr marL="4114800" lvl="8" indent="-228600" algn="l">
              <a:spcBef>
                <a:spcPts val="600"/>
              </a:spcBef>
              <a:spcAft>
                <a:spcPts val="600"/>
              </a:spcAft>
              <a:buSzPts val="2030"/>
              <a:buNone/>
              <a:defRPr sz="1400">
                <a:solidFill>
                  <a:srgbClr val="888888"/>
                </a:solidFill>
              </a:defRPr>
            </a:lvl9pPr>
          </a:lstStyle>
          <a:p>
            <a:endParaRPr/>
          </a:p>
        </p:txBody>
      </p:sp>
      <p:sp>
        <p:nvSpPr>
          <p:cNvPr id="127" name="Google Shape;127;p85"/>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p85"/>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9" name="Google Shape;129;p85"/>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30"/>
        <p:cNvGrpSpPr/>
        <p:nvPr/>
      </p:nvGrpSpPr>
      <p:grpSpPr>
        <a:xfrm>
          <a:off x="0" y="0"/>
          <a:ext cx="0" cy="0"/>
          <a:chOff x="0" y="0"/>
          <a:chExt cx="0" cy="0"/>
        </a:xfrm>
      </p:grpSpPr>
      <p:sp>
        <p:nvSpPr>
          <p:cNvPr id="131" name="Google Shape;131;p86"/>
          <p:cNvSpPr txBox="1">
            <a:spLocks noGrp="1"/>
          </p:cNvSpPr>
          <p:nvPr>
            <p:ph type="title"/>
          </p:nvPr>
        </p:nvSpPr>
        <p:spPr>
          <a:xfrm>
            <a:off x="1484311" y="685800"/>
            <a:ext cx="10018713" cy="1752599"/>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000"/>
              <a:buFont typeface="Corbe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2" name="Google Shape;132;p86"/>
          <p:cNvSpPr txBox="1">
            <a:spLocks noGrp="1"/>
          </p:cNvSpPr>
          <p:nvPr>
            <p:ph type="body" idx="1"/>
          </p:nvPr>
        </p:nvSpPr>
        <p:spPr>
          <a:xfrm rot="5400000">
            <a:off x="4931566" y="-780257"/>
            <a:ext cx="3124201" cy="10018713"/>
          </a:xfrm>
          <a:prstGeom prst="rect">
            <a:avLst/>
          </a:prstGeom>
          <a:noFill/>
          <a:ln>
            <a:noFill/>
          </a:ln>
        </p:spPr>
        <p:txBody>
          <a:bodyPr spcFirstLastPara="1" wrap="square" lIns="91425" tIns="45700" rIns="91425" bIns="45700" anchor="t" anchorCtr="0">
            <a:normAutofit/>
          </a:bodyPr>
          <a:lstStyle>
            <a:lvl1pPr marL="457200" lvl="0" indent="-394335" algn="l">
              <a:spcBef>
                <a:spcPts val="360"/>
              </a:spcBef>
              <a:spcAft>
                <a:spcPts val="0"/>
              </a:spcAft>
              <a:buSzPts val="2610"/>
              <a:buChar char="•"/>
              <a:defRPr/>
            </a:lvl1pPr>
            <a:lvl2pPr marL="914400" lvl="1" indent="-394335" algn="l">
              <a:spcBef>
                <a:spcPts val="600"/>
              </a:spcBef>
              <a:spcAft>
                <a:spcPts val="0"/>
              </a:spcAft>
              <a:buSzPts val="2610"/>
              <a:buChar char="•"/>
              <a:defRPr/>
            </a:lvl2pPr>
            <a:lvl3pPr marL="1371600" lvl="2" indent="-394335" algn="l">
              <a:spcBef>
                <a:spcPts val="600"/>
              </a:spcBef>
              <a:spcAft>
                <a:spcPts val="0"/>
              </a:spcAft>
              <a:buSzPts val="2610"/>
              <a:buChar char="•"/>
              <a:defRPr/>
            </a:lvl3pPr>
            <a:lvl4pPr marL="1828800" lvl="3" indent="-394335" algn="l">
              <a:spcBef>
                <a:spcPts val="600"/>
              </a:spcBef>
              <a:spcAft>
                <a:spcPts val="0"/>
              </a:spcAft>
              <a:buSzPts val="2610"/>
              <a:buChar char="•"/>
              <a:defRPr/>
            </a:lvl4pPr>
            <a:lvl5pPr marL="2286000" lvl="4" indent="-394335" algn="l">
              <a:spcBef>
                <a:spcPts val="600"/>
              </a:spcBef>
              <a:spcAft>
                <a:spcPts val="0"/>
              </a:spcAft>
              <a:buSzPts val="2610"/>
              <a:buChar char="•"/>
              <a:defRPr/>
            </a:lvl5pPr>
            <a:lvl6pPr marL="2743200" lvl="5" indent="-394335" algn="l">
              <a:spcBef>
                <a:spcPts val="600"/>
              </a:spcBef>
              <a:spcAft>
                <a:spcPts val="0"/>
              </a:spcAft>
              <a:buSzPts val="2610"/>
              <a:buChar char="•"/>
              <a:defRPr/>
            </a:lvl6pPr>
            <a:lvl7pPr marL="3200400" lvl="6" indent="-394335" algn="l">
              <a:spcBef>
                <a:spcPts val="600"/>
              </a:spcBef>
              <a:spcAft>
                <a:spcPts val="0"/>
              </a:spcAft>
              <a:buSzPts val="2610"/>
              <a:buChar char="•"/>
              <a:defRPr/>
            </a:lvl7pPr>
            <a:lvl8pPr marL="3657600" lvl="7" indent="-394334" algn="l">
              <a:spcBef>
                <a:spcPts val="600"/>
              </a:spcBef>
              <a:spcAft>
                <a:spcPts val="0"/>
              </a:spcAft>
              <a:buSzPts val="2610"/>
              <a:buChar char="•"/>
              <a:defRPr/>
            </a:lvl8pPr>
            <a:lvl9pPr marL="4114800" lvl="8" indent="-394334" algn="l">
              <a:spcBef>
                <a:spcPts val="600"/>
              </a:spcBef>
              <a:spcAft>
                <a:spcPts val="600"/>
              </a:spcAft>
              <a:buSzPts val="2610"/>
              <a:buChar char="•"/>
              <a:defRPr/>
            </a:lvl9pPr>
          </a:lstStyle>
          <a:p>
            <a:endParaRPr/>
          </a:p>
        </p:txBody>
      </p:sp>
      <p:sp>
        <p:nvSpPr>
          <p:cNvPr id="133" name="Google Shape;133;p86"/>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4" name="Google Shape;134;p86"/>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p86"/>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6"/>
        <p:cNvGrpSpPr/>
        <p:nvPr/>
      </p:nvGrpSpPr>
      <p:grpSpPr>
        <a:xfrm>
          <a:off x="0" y="0"/>
          <a:ext cx="0" cy="0"/>
          <a:chOff x="0" y="0"/>
          <a:chExt cx="0" cy="0"/>
        </a:xfrm>
      </p:grpSpPr>
      <p:sp>
        <p:nvSpPr>
          <p:cNvPr id="137" name="Google Shape;137;p87"/>
          <p:cNvSpPr txBox="1">
            <a:spLocks noGrp="1"/>
          </p:cNvSpPr>
          <p:nvPr>
            <p:ph type="title"/>
          </p:nvPr>
        </p:nvSpPr>
        <p:spPr>
          <a:xfrm rot="5400000">
            <a:off x="8065140" y="2353316"/>
            <a:ext cx="5105400" cy="1770369"/>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 name="Google Shape;138;p87"/>
          <p:cNvSpPr txBox="1">
            <a:spLocks noGrp="1"/>
          </p:cNvSpPr>
          <p:nvPr>
            <p:ph type="body" idx="1"/>
          </p:nvPr>
        </p:nvSpPr>
        <p:spPr>
          <a:xfrm rot="5400000">
            <a:off x="2941483" y="-771371"/>
            <a:ext cx="5105400" cy="8019742"/>
          </a:xfrm>
          <a:prstGeom prst="rect">
            <a:avLst/>
          </a:prstGeom>
          <a:noFill/>
          <a:ln>
            <a:noFill/>
          </a:ln>
        </p:spPr>
        <p:txBody>
          <a:bodyPr spcFirstLastPara="1" wrap="square" lIns="91425" tIns="45700" rIns="91425" bIns="45700" anchor="t" anchorCtr="0">
            <a:normAutofit/>
          </a:bodyPr>
          <a:lstStyle>
            <a:lvl1pPr marL="457200" lvl="0" indent="-394335" algn="l">
              <a:spcBef>
                <a:spcPts val="360"/>
              </a:spcBef>
              <a:spcAft>
                <a:spcPts val="0"/>
              </a:spcAft>
              <a:buSzPts val="2610"/>
              <a:buChar char="•"/>
              <a:defRPr/>
            </a:lvl1pPr>
            <a:lvl2pPr marL="914400" lvl="1" indent="-394335" algn="l">
              <a:spcBef>
                <a:spcPts val="600"/>
              </a:spcBef>
              <a:spcAft>
                <a:spcPts val="0"/>
              </a:spcAft>
              <a:buSzPts val="2610"/>
              <a:buChar char="•"/>
              <a:defRPr/>
            </a:lvl2pPr>
            <a:lvl3pPr marL="1371600" lvl="2" indent="-394335" algn="l">
              <a:spcBef>
                <a:spcPts val="600"/>
              </a:spcBef>
              <a:spcAft>
                <a:spcPts val="0"/>
              </a:spcAft>
              <a:buSzPts val="2610"/>
              <a:buChar char="•"/>
              <a:defRPr/>
            </a:lvl3pPr>
            <a:lvl4pPr marL="1828800" lvl="3" indent="-394335" algn="l">
              <a:spcBef>
                <a:spcPts val="600"/>
              </a:spcBef>
              <a:spcAft>
                <a:spcPts val="0"/>
              </a:spcAft>
              <a:buSzPts val="2610"/>
              <a:buChar char="•"/>
              <a:defRPr/>
            </a:lvl4pPr>
            <a:lvl5pPr marL="2286000" lvl="4" indent="-394335" algn="l">
              <a:spcBef>
                <a:spcPts val="600"/>
              </a:spcBef>
              <a:spcAft>
                <a:spcPts val="0"/>
              </a:spcAft>
              <a:buSzPts val="2610"/>
              <a:buChar char="•"/>
              <a:defRPr/>
            </a:lvl5pPr>
            <a:lvl6pPr marL="2743200" lvl="5" indent="-394335" algn="l">
              <a:spcBef>
                <a:spcPts val="600"/>
              </a:spcBef>
              <a:spcAft>
                <a:spcPts val="0"/>
              </a:spcAft>
              <a:buSzPts val="2610"/>
              <a:buChar char="•"/>
              <a:defRPr/>
            </a:lvl6pPr>
            <a:lvl7pPr marL="3200400" lvl="6" indent="-394335" algn="l">
              <a:spcBef>
                <a:spcPts val="600"/>
              </a:spcBef>
              <a:spcAft>
                <a:spcPts val="0"/>
              </a:spcAft>
              <a:buSzPts val="2610"/>
              <a:buChar char="•"/>
              <a:defRPr/>
            </a:lvl7pPr>
            <a:lvl8pPr marL="3657600" lvl="7" indent="-394334" algn="l">
              <a:spcBef>
                <a:spcPts val="600"/>
              </a:spcBef>
              <a:spcAft>
                <a:spcPts val="0"/>
              </a:spcAft>
              <a:buSzPts val="2610"/>
              <a:buChar char="•"/>
              <a:defRPr/>
            </a:lvl8pPr>
            <a:lvl9pPr marL="4114800" lvl="8" indent="-394334" algn="l">
              <a:spcBef>
                <a:spcPts val="600"/>
              </a:spcBef>
              <a:spcAft>
                <a:spcPts val="600"/>
              </a:spcAft>
              <a:buSzPts val="2610"/>
              <a:buChar char="•"/>
              <a:defRPr/>
            </a:lvl9pPr>
          </a:lstStyle>
          <a:p>
            <a:endParaRPr/>
          </a:p>
        </p:txBody>
      </p:sp>
      <p:sp>
        <p:nvSpPr>
          <p:cNvPr id="139" name="Google Shape;139;p87"/>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0" name="Google Shape;140;p87"/>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1" name="Google Shape;141;p87"/>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l-G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9">
            <a:alphaModFix/>
          </a:blip>
          <a:stretch>
            <a:fillRect/>
          </a:stretch>
        </a:blipFill>
        <a:effectLst/>
      </p:bgPr>
    </p:bg>
    <p:spTree>
      <p:nvGrpSpPr>
        <p:cNvPr id="1" name="Shape 9"/>
        <p:cNvGrpSpPr/>
        <p:nvPr/>
      </p:nvGrpSpPr>
      <p:grpSpPr>
        <a:xfrm>
          <a:off x="0" y="0"/>
          <a:ext cx="0" cy="0"/>
          <a:chOff x="0" y="0"/>
          <a:chExt cx="0" cy="0"/>
        </a:xfrm>
      </p:grpSpPr>
      <p:grpSp>
        <p:nvGrpSpPr>
          <p:cNvPr id="10" name="Google Shape;10;p70"/>
          <p:cNvGrpSpPr/>
          <p:nvPr/>
        </p:nvGrpSpPr>
        <p:grpSpPr>
          <a:xfrm>
            <a:off x="150812" y="0"/>
            <a:ext cx="2436813" cy="6858001"/>
            <a:chOff x="1320800" y="0"/>
            <a:chExt cx="2436813" cy="6858001"/>
          </a:xfrm>
        </p:grpSpPr>
        <p:sp>
          <p:nvSpPr>
            <p:cNvPr id="11" name="Google Shape;11;p70"/>
            <p:cNvSpPr/>
            <p:nvPr/>
          </p:nvSpPr>
          <p:spPr>
            <a:xfrm>
              <a:off x="1627188" y="0"/>
              <a:ext cx="1122363" cy="5329238"/>
            </a:xfrm>
            <a:custGeom>
              <a:avLst/>
              <a:gdLst/>
              <a:ahLst/>
              <a:cxnLst/>
              <a:rect l="l" t="t" r="r" b="b"/>
              <a:pathLst>
                <a:path w="707" h="3357" extrusionOk="0">
                  <a:moveTo>
                    <a:pt x="0" y="3330"/>
                  </a:moveTo>
                  <a:lnTo>
                    <a:pt x="156" y="3357"/>
                  </a:lnTo>
                  <a:lnTo>
                    <a:pt x="707" y="0"/>
                  </a:lnTo>
                  <a:lnTo>
                    <a:pt x="547" y="0"/>
                  </a:lnTo>
                  <a:lnTo>
                    <a:pt x="0" y="3330"/>
                  </a:lnTo>
                  <a:close/>
                </a:path>
              </a:pathLst>
            </a:custGeom>
            <a:solidFill>
              <a:schemeClr val="accent1"/>
            </a:solidFill>
            <a:ln>
              <a:noFill/>
            </a:ln>
          </p:spPr>
        </p:sp>
        <p:sp>
          <p:nvSpPr>
            <p:cNvPr id="12" name="Google Shape;12;p70"/>
            <p:cNvSpPr/>
            <p:nvPr/>
          </p:nvSpPr>
          <p:spPr>
            <a:xfrm>
              <a:off x="1320800" y="0"/>
              <a:ext cx="1117600" cy="5276850"/>
            </a:xfrm>
            <a:custGeom>
              <a:avLst/>
              <a:gdLst/>
              <a:ahLst/>
              <a:cxnLst/>
              <a:rect l="l" t="t" r="r" b="b"/>
              <a:pathLst>
                <a:path w="704" h="3324" extrusionOk="0">
                  <a:moveTo>
                    <a:pt x="704" y="0"/>
                  </a:moveTo>
                  <a:lnTo>
                    <a:pt x="545" y="0"/>
                  </a:lnTo>
                  <a:lnTo>
                    <a:pt x="0" y="3300"/>
                  </a:lnTo>
                  <a:lnTo>
                    <a:pt x="157" y="3324"/>
                  </a:lnTo>
                  <a:lnTo>
                    <a:pt x="704" y="0"/>
                  </a:lnTo>
                  <a:close/>
                </a:path>
              </a:pathLst>
            </a:custGeom>
            <a:solidFill>
              <a:srgbClr val="595959"/>
            </a:solidFill>
            <a:ln>
              <a:noFill/>
            </a:ln>
          </p:spPr>
        </p:sp>
        <p:sp>
          <p:nvSpPr>
            <p:cNvPr id="13" name="Google Shape;13;p70"/>
            <p:cNvSpPr/>
            <p:nvPr/>
          </p:nvSpPr>
          <p:spPr>
            <a:xfrm>
              <a:off x="1320800" y="5238750"/>
              <a:ext cx="1228725" cy="1619250"/>
            </a:xfrm>
            <a:custGeom>
              <a:avLst/>
              <a:gdLst/>
              <a:ahLst/>
              <a:cxnLst/>
              <a:rect l="l" t="t" r="r" b="b"/>
              <a:pathLst>
                <a:path w="774" h="1020" extrusionOk="0">
                  <a:moveTo>
                    <a:pt x="0" y="0"/>
                  </a:moveTo>
                  <a:lnTo>
                    <a:pt x="740" y="1020"/>
                  </a:lnTo>
                  <a:lnTo>
                    <a:pt x="774" y="1020"/>
                  </a:lnTo>
                  <a:lnTo>
                    <a:pt x="0" y="0"/>
                  </a:lnTo>
                  <a:close/>
                </a:path>
              </a:pathLst>
            </a:custGeom>
            <a:solidFill>
              <a:srgbClr val="262626"/>
            </a:solidFill>
            <a:ln>
              <a:noFill/>
            </a:ln>
          </p:spPr>
        </p:sp>
        <p:sp>
          <p:nvSpPr>
            <p:cNvPr id="14" name="Google Shape;14;p70"/>
            <p:cNvSpPr/>
            <p:nvPr/>
          </p:nvSpPr>
          <p:spPr>
            <a:xfrm>
              <a:off x="1627188" y="5291138"/>
              <a:ext cx="1495425" cy="1566863"/>
            </a:xfrm>
            <a:custGeom>
              <a:avLst/>
              <a:gdLst/>
              <a:ahLst/>
              <a:cxnLst/>
              <a:rect l="l" t="t" r="r" b="b"/>
              <a:pathLst>
                <a:path w="942" h="987" extrusionOk="0">
                  <a:moveTo>
                    <a:pt x="0" y="0"/>
                  </a:moveTo>
                  <a:lnTo>
                    <a:pt x="909" y="987"/>
                  </a:lnTo>
                  <a:lnTo>
                    <a:pt x="942" y="987"/>
                  </a:lnTo>
                  <a:lnTo>
                    <a:pt x="0" y="0"/>
                  </a:lnTo>
                  <a:close/>
                </a:path>
              </a:pathLst>
            </a:custGeom>
            <a:solidFill>
              <a:srgbClr val="0B5982"/>
            </a:solidFill>
            <a:ln>
              <a:noFill/>
            </a:ln>
          </p:spPr>
        </p:sp>
        <p:sp>
          <p:nvSpPr>
            <p:cNvPr id="15" name="Google Shape;15;p70"/>
            <p:cNvSpPr/>
            <p:nvPr/>
          </p:nvSpPr>
          <p:spPr>
            <a:xfrm>
              <a:off x="1627188" y="5286375"/>
              <a:ext cx="2130425" cy="1571625"/>
            </a:xfrm>
            <a:custGeom>
              <a:avLst/>
              <a:gdLst/>
              <a:ahLst/>
              <a:cxnLst/>
              <a:rect l="l" t="t" r="r" b="b"/>
              <a:pathLst>
                <a:path w="1342" h="990" extrusionOk="0">
                  <a:moveTo>
                    <a:pt x="0" y="3"/>
                  </a:moveTo>
                  <a:lnTo>
                    <a:pt x="942" y="990"/>
                  </a:lnTo>
                  <a:lnTo>
                    <a:pt x="1342" y="990"/>
                  </a:lnTo>
                  <a:lnTo>
                    <a:pt x="156" y="27"/>
                  </a:lnTo>
                  <a:lnTo>
                    <a:pt x="0" y="0"/>
                  </a:lnTo>
                  <a:lnTo>
                    <a:pt x="0" y="3"/>
                  </a:lnTo>
                  <a:close/>
                </a:path>
              </a:pathLst>
            </a:custGeom>
            <a:solidFill>
              <a:srgbClr val="1186C3"/>
            </a:solidFill>
            <a:ln>
              <a:noFill/>
            </a:ln>
          </p:spPr>
        </p:sp>
        <p:sp>
          <p:nvSpPr>
            <p:cNvPr id="16" name="Google Shape;16;p70"/>
            <p:cNvSpPr/>
            <p:nvPr/>
          </p:nvSpPr>
          <p:spPr>
            <a:xfrm>
              <a:off x="1320800" y="5238750"/>
              <a:ext cx="1695450" cy="1619250"/>
            </a:xfrm>
            <a:custGeom>
              <a:avLst/>
              <a:gdLst/>
              <a:ahLst/>
              <a:cxnLst/>
              <a:rect l="l" t="t" r="r" b="b"/>
              <a:pathLst>
                <a:path w="1068" h="1020" extrusionOk="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3F3F3F"/>
            </a:solidFill>
            <a:ln>
              <a:noFill/>
            </a:ln>
          </p:spPr>
        </p:sp>
      </p:grpSp>
      <p:sp>
        <p:nvSpPr>
          <p:cNvPr id="17" name="Google Shape;17;p70"/>
          <p:cNvSpPr txBox="1">
            <a:spLocks noGrp="1"/>
          </p:cNvSpPr>
          <p:nvPr>
            <p:ph type="title"/>
          </p:nvPr>
        </p:nvSpPr>
        <p:spPr>
          <a:xfrm>
            <a:off x="1484311" y="685800"/>
            <a:ext cx="10018713" cy="1752599"/>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000"/>
              <a:buFont typeface="Corbel"/>
              <a:buNone/>
              <a:defRPr sz="4000" b="0" i="0" u="none" strike="noStrike" cap="none">
                <a:solidFill>
                  <a:schemeClr val="dk1"/>
                </a:solidFill>
                <a:latin typeface="Corbel"/>
                <a:ea typeface="Corbel"/>
                <a:cs typeface="Corbel"/>
                <a:sym typeface="Corbel"/>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18" name="Google Shape;18;p70"/>
          <p:cNvSpPr txBox="1">
            <a:spLocks noGrp="1"/>
          </p:cNvSpPr>
          <p:nvPr>
            <p:ph type="body" idx="1"/>
          </p:nvPr>
        </p:nvSpPr>
        <p:spPr>
          <a:xfrm>
            <a:off x="1484310" y="2666999"/>
            <a:ext cx="10018713" cy="3124201"/>
          </a:xfrm>
          <a:prstGeom prst="rect">
            <a:avLst/>
          </a:prstGeom>
          <a:noFill/>
          <a:ln>
            <a:noFill/>
          </a:ln>
        </p:spPr>
        <p:txBody>
          <a:bodyPr spcFirstLastPara="1" wrap="square" lIns="91425" tIns="45700" rIns="91425" bIns="45700" anchor="ctr" anchorCtr="0">
            <a:normAutofit/>
          </a:bodyPr>
          <a:lstStyle>
            <a:lvl1pPr marL="457200" marR="0" lvl="0" indent="-449580" algn="l" rtl="0">
              <a:spcBef>
                <a:spcPts val="480"/>
              </a:spcBef>
              <a:spcAft>
                <a:spcPts val="0"/>
              </a:spcAft>
              <a:buClr>
                <a:srgbClr val="1186C3"/>
              </a:buClr>
              <a:buSzPts val="3480"/>
              <a:buFont typeface="Arial"/>
              <a:buChar char="•"/>
              <a:defRPr sz="2400" b="0" i="0" u="none" strike="noStrike" cap="none">
                <a:solidFill>
                  <a:schemeClr val="dk1"/>
                </a:solidFill>
                <a:latin typeface="Corbel"/>
                <a:ea typeface="Corbel"/>
                <a:cs typeface="Corbel"/>
                <a:sym typeface="Corbel"/>
              </a:defRPr>
            </a:lvl1pPr>
            <a:lvl2pPr marL="914400" marR="0" lvl="1" indent="-412750" algn="l" rtl="0">
              <a:spcBef>
                <a:spcPts val="600"/>
              </a:spcBef>
              <a:spcAft>
                <a:spcPts val="0"/>
              </a:spcAft>
              <a:buClr>
                <a:srgbClr val="1186C3"/>
              </a:buClr>
              <a:buSzPts val="2900"/>
              <a:buFont typeface="Arial"/>
              <a:buChar char="•"/>
              <a:defRPr sz="2000" b="0" i="0" u="none" strike="noStrike" cap="none">
                <a:solidFill>
                  <a:schemeClr val="dk1"/>
                </a:solidFill>
                <a:latin typeface="Corbel"/>
                <a:ea typeface="Corbel"/>
                <a:cs typeface="Corbel"/>
                <a:sym typeface="Corbel"/>
              </a:defRPr>
            </a:lvl2pPr>
            <a:lvl3pPr marL="1371600" marR="0" lvl="2" indent="-394335" algn="l" rtl="0">
              <a:spcBef>
                <a:spcPts val="600"/>
              </a:spcBef>
              <a:spcAft>
                <a:spcPts val="0"/>
              </a:spcAft>
              <a:buClr>
                <a:srgbClr val="1186C3"/>
              </a:buClr>
              <a:buSzPts val="2610"/>
              <a:buFont typeface="Arial"/>
              <a:buChar char="•"/>
              <a:defRPr sz="1800" b="0" i="0" u="none" strike="noStrike" cap="none">
                <a:solidFill>
                  <a:schemeClr val="dk1"/>
                </a:solidFill>
                <a:latin typeface="Corbel"/>
                <a:ea typeface="Corbel"/>
                <a:cs typeface="Corbel"/>
                <a:sym typeface="Corbel"/>
              </a:defRPr>
            </a:lvl3pPr>
            <a:lvl4pPr marL="1828800" marR="0" lvl="3" indent="-375919" algn="l" rtl="0">
              <a:spcBef>
                <a:spcPts val="600"/>
              </a:spcBef>
              <a:spcAft>
                <a:spcPts val="0"/>
              </a:spcAft>
              <a:buClr>
                <a:srgbClr val="1186C3"/>
              </a:buClr>
              <a:buSzPts val="2320"/>
              <a:buFont typeface="Arial"/>
              <a:buChar char="•"/>
              <a:defRPr sz="1600" b="0" i="0" u="none" strike="noStrike" cap="none">
                <a:solidFill>
                  <a:schemeClr val="dk1"/>
                </a:solidFill>
                <a:latin typeface="Corbel"/>
                <a:ea typeface="Corbel"/>
                <a:cs typeface="Corbel"/>
                <a:sym typeface="Corbel"/>
              </a:defRPr>
            </a:lvl4pPr>
            <a:lvl5pPr marL="2286000" marR="0" lvl="4" indent="-357504" algn="l" rtl="0">
              <a:spcBef>
                <a:spcPts val="600"/>
              </a:spcBef>
              <a:spcAft>
                <a:spcPts val="0"/>
              </a:spcAft>
              <a:buClr>
                <a:srgbClr val="1186C3"/>
              </a:buClr>
              <a:buSzPts val="2030"/>
              <a:buFont typeface="Arial"/>
              <a:buChar char="•"/>
              <a:defRPr sz="1400" b="0" i="0" u="none" strike="noStrike" cap="none">
                <a:solidFill>
                  <a:schemeClr val="dk1"/>
                </a:solidFill>
                <a:latin typeface="Corbel"/>
                <a:ea typeface="Corbel"/>
                <a:cs typeface="Corbel"/>
                <a:sym typeface="Corbel"/>
              </a:defRPr>
            </a:lvl5pPr>
            <a:lvl6pPr marL="2743200" marR="0" lvl="5" indent="-357504" algn="l" rtl="0">
              <a:spcBef>
                <a:spcPts val="600"/>
              </a:spcBef>
              <a:spcAft>
                <a:spcPts val="0"/>
              </a:spcAft>
              <a:buClr>
                <a:srgbClr val="1186C3"/>
              </a:buClr>
              <a:buSzPts val="2030"/>
              <a:buFont typeface="Arial"/>
              <a:buChar char="•"/>
              <a:defRPr sz="1400" b="0" i="0" u="none" strike="noStrike" cap="none">
                <a:solidFill>
                  <a:schemeClr val="dk1"/>
                </a:solidFill>
                <a:latin typeface="Corbel"/>
                <a:ea typeface="Corbel"/>
                <a:cs typeface="Corbel"/>
                <a:sym typeface="Corbel"/>
              </a:defRPr>
            </a:lvl6pPr>
            <a:lvl7pPr marL="3200400" marR="0" lvl="6" indent="-357504" algn="l" rtl="0">
              <a:spcBef>
                <a:spcPts val="600"/>
              </a:spcBef>
              <a:spcAft>
                <a:spcPts val="0"/>
              </a:spcAft>
              <a:buClr>
                <a:srgbClr val="1186C3"/>
              </a:buClr>
              <a:buSzPts val="2030"/>
              <a:buFont typeface="Arial"/>
              <a:buChar char="•"/>
              <a:defRPr sz="1400" b="0" i="0" u="none" strike="noStrike" cap="none">
                <a:solidFill>
                  <a:schemeClr val="dk1"/>
                </a:solidFill>
                <a:latin typeface="Corbel"/>
                <a:ea typeface="Corbel"/>
                <a:cs typeface="Corbel"/>
                <a:sym typeface="Corbel"/>
              </a:defRPr>
            </a:lvl7pPr>
            <a:lvl8pPr marL="3657600" marR="0" lvl="7" indent="-357504" algn="l" rtl="0">
              <a:spcBef>
                <a:spcPts val="600"/>
              </a:spcBef>
              <a:spcAft>
                <a:spcPts val="0"/>
              </a:spcAft>
              <a:buClr>
                <a:srgbClr val="1186C3"/>
              </a:buClr>
              <a:buSzPts val="2030"/>
              <a:buFont typeface="Arial"/>
              <a:buChar char="•"/>
              <a:defRPr sz="1400" b="0" i="0" u="none" strike="noStrike" cap="none">
                <a:solidFill>
                  <a:schemeClr val="dk1"/>
                </a:solidFill>
                <a:latin typeface="Corbel"/>
                <a:ea typeface="Corbel"/>
                <a:cs typeface="Corbel"/>
                <a:sym typeface="Corbel"/>
              </a:defRPr>
            </a:lvl8pPr>
            <a:lvl9pPr marL="4114800" marR="0" lvl="8" indent="-357504" algn="l" rtl="0">
              <a:spcBef>
                <a:spcPts val="600"/>
              </a:spcBef>
              <a:spcAft>
                <a:spcPts val="600"/>
              </a:spcAft>
              <a:buClr>
                <a:srgbClr val="1186C3"/>
              </a:buClr>
              <a:buSzPts val="2030"/>
              <a:buFont typeface="Arial"/>
              <a:buChar char="•"/>
              <a:defRPr sz="1400" b="0" i="0" u="none" strike="noStrike" cap="none">
                <a:solidFill>
                  <a:schemeClr val="dk1"/>
                </a:solidFill>
                <a:latin typeface="Corbel"/>
                <a:ea typeface="Corbel"/>
                <a:cs typeface="Corbel"/>
                <a:sym typeface="Corbel"/>
              </a:defRPr>
            </a:lvl9pPr>
          </a:lstStyle>
          <a:p>
            <a:endParaRPr/>
          </a:p>
        </p:txBody>
      </p:sp>
      <p:sp>
        <p:nvSpPr>
          <p:cNvPr id="19" name="Google Shape;19;p70"/>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000" b="0" i="0" u="none" strike="noStrike" cap="none">
                <a:solidFill>
                  <a:schemeClr val="dk1"/>
                </a:solidFill>
                <a:latin typeface="Corbel"/>
                <a:ea typeface="Corbel"/>
                <a:cs typeface="Corbel"/>
                <a:sym typeface="Corbel"/>
              </a:defRPr>
            </a:lvl1pPr>
            <a:lvl2pPr marR="0" lvl="1" algn="l" rtl="0">
              <a:spcBef>
                <a:spcPts val="0"/>
              </a:spcBef>
              <a:spcAft>
                <a:spcPts val="0"/>
              </a:spcAft>
              <a:buSzPts val="1400"/>
              <a:buNone/>
              <a:defRPr sz="1800" b="0" i="0" u="none" strike="noStrike" cap="none">
                <a:solidFill>
                  <a:schemeClr val="dk1"/>
                </a:solidFill>
                <a:latin typeface="Corbel"/>
                <a:ea typeface="Corbel"/>
                <a:cs typeface="Corbel"/>
                <a:sym typeface="Corbel"/>
              </a:defRPr>
            </a:lvl2pPr>
            <a:lvl3pPr marR="0" lvl="2" algn="l" rtl="0">
              <a:spcBef>
                <a:spcPts val="0"/>
              </a:spcBef>
              <a:spcAft>
                <a:spcPts val="0"/>
              </a:spcAft>
              <a:buSzPts val="1400"/>
              <a:buNone/>
              <a:defRPr sz="1800" b="0" i="0" u="none" strike="noStrike" cap="none">
                <a:solidFill>
                  <a:schemeClr val="dk1"/>
                </a:solidFill>
                <a:latin typeface="Corbel"/>
                <a:ea typeface="Corbel"/>
                <a:cs typeface="Corbel"/>
                <a:sym typeface="Corbel"/>
              </a:defRPr>
            </a:lvl3pPr>
            <a:lvl4pPr marR="0" lvl="3" algn="l" rtl="0">
              <a:spcBef>
                <a:spcPts val="0"/>
              </a:spcBef>
              <a:spcAft>
                <a:spcPts val="0"/>
              </a:spcAft>
              <a:buSzPts val="1400"/>
              <a:buNone/>
              <a:defRPr sz="1800" b="0" i="0" u="none" strike="noStrike" cap="none">
                <a:solidFill>
                  <a:schemeClr val="dk1"/>
                </a:solidFill>
                <a:latin typeface="Corbel"/>
                <a:ea typeface="Corbel"/>
                <a:cs typeface="Corbel"/>
                <a:sym typeface="Corbel"/>
              </a:defRPr>
            </a:lvl4pPr>
            <a:lvl5pPr marR="0" lvl="4" algn="l" rtl="0">
              <a:spcBef>
                <a:spcPts val="0"/>
              </a:spcBef>
              <a:spcAft>
                <a:spcPts val="0"/>
              </a:spcAft>
              <a:buSzPts val="1400"/>
              <a:buNone/>
              <a:defRPr sz="1800" b="0" i="0" u="none" strike="noStrike" cap="none">
                <a:solidFill>
                  <a:schemeClr val="dk1"/>
                </a:solidFill>
                <a:latin typeface="Corbel"/>
                <a:ea typeface="Corbel"/>
                <a:cs typeface="Corbel"/>
                <a:sym typeface="Corbel"/>
              </a:defRPr>
            </a:lvl5pPr>
            <a:lvl6pPr marR="0" lvl="5" algn="l" rtl="0">
              <a:spcBef>
                <a:spcPts val="0"/>
              </a:spcBef>
              <a:spcAft>
                <a:spcPts val="0"/>
              </a:spcAft>
              <a:buSzPts val="1400"/>
              <a:buNone/>
              <a:defRPr sz="1800" b="0" i="0" u="none" strike="noStrike" cap="none">
                <a:solidFill>
                  <a:schemeClr val="dk1"/>
                </a:solidFill>
                <a:latin typeface="Corbel"/>
                <a:ea typeface="Corbel"/>
                <a:cs typeface="Corbel"/>
                <a:sym typeface="Corbel"/>
              </a:defRPr>
            </a:lvl6pPr>
            <a:lvl7pPr marR="0" lvl="6" algn="l" rtl="0">
              <a:spcBef>
                <a:spcPts val="0"/>
              </a:spcBef>
              <a:spcAft>
                <a:spcPts val="0"/>
              </a:spcAft>
              <a:buSzPts val="1400"/>
              <a:buNone/>
              <a:defRPr sz="1800" b="0" i="0" u="none" strike="noStrike" cap="none">
                <a:solidFill>
                  <a:schemeClr val="dk1"/>
                </a:solidFill>
                <a:latin typeface="Corbel"/>
                <a:ea typeface="Corbel"/>
                <a:cs typeface="Corbel"/>
                <a:sym typeface="Corbel"/>
              </a:defRPr>
            </a:lvl7pPr>
            <a:lvl8pPr marR="0" lvl="7" algn="l" rtl="0">
              <a:spcBef>
                <a:spcPts val="0"/>
              </a:spcBef>
              <a:spcAft>
                <a:spcPts val="0"/>
              </a:spcAft>
              <a:buSzPts val="1400"/>
              <a:buNone/>
              <a:defRPr sz="1800" b="0" i="0" u="none" strike="noStrike" cap="none">
                <a:solidFill>
                  <a:schemeClr val="dk1"/>
                </a:solidFill>
                <a:latin typeface="Corbel"/>
                <a:ea typeface="Corbel"/>
                <a:cs typeface="Corbel"/>
                <a:sym typeface="Corbel"/>
              </a:defRPr>
            </a:lvl8pPr>
            <a:lvl9pPr marR="0" lvl="8" algn="l" rtl="0">
              <a:spcBef>
                <a:spcPts val="0"/>
              </a:spcBef>
              <a:spcAft>
                <a:spcPts val="0"/>
              </a:spcAft>
              <a:buSzPts val="1400"/>
              <a:buNone/>
              <a:defRPr sz="1800" b="0" i="0" u="none" strike="noStrike" cap="none">
                <a:solidFill>
                  <a:schemeClr val="dk1"/>
                </a:solidFill>
                <a:latin typeface="Corbel"/>
                <a:ea typeface="Corbel"/>
                <a:cs typeface="Corbel"/>
                <a:sym typeface="Corbel"/>
              </a:defRPr>
            </a:lvl9pPr>
          </a:lstStyle>
          <a:p>
            <a:endParaRPr/>
          </a:p>
        </p:txBody>
      </p:sp>
      <p:sp>
        <p:nvSpPr>
          <p:cNvPr id="20" name="Google Shape;20;p70"/>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000" b="0" i="0" u="none" strike="noStrike" cap="none">
                <a:solidFill>
                  <a:schemeClr val="dk1"/>
                </a:solidFill>
                <a:latin typeface="Corbel"/>
                <a:ea typeface="Corbel"/>
                <a:cs typeface="Corbel"/>
                <a:sym typeface="Corbel"/>
              </a:defRPr>
            </a:lvl1pPr>
            <a:lvl2pPr marR="0" lvl="1" algn="l" rtl="0">
              <a:spcBef>
                <a:spcPts val="0"/>
              </a:spcBef>
              <a:spcAft>
                <a:spcPts val="0"/>
              </a:spcAft>
              <a:buSzPts val="1400"/>
              <a:buNone/>
              <a:defRPr sz="1800" b="0" i="0" u="none" strike="noStrike" cap="none">
                <a:solidFill>
                  <a:schemeClr val="dk1"/>
                </a:solidFill>
                <a:latin typeface="Corbel"/>
                <a:ea typeface="Corbel"/>
                <a:cs typeface="Corbel"/>
                <a:sym typeface="Corbel"/>
              </a:defRPr>
            </a:lvl2pPr>
            <a:lvl3pPr marR="0" lvl="2" algn="l" rtl="0">
              <a:spcBef>
                <a:spcPts val="0"/>
              </a:spcBef>
              <a:spcAft>
                <a:spcPts val="0"/>
              </a:spcAft>
              <a:buSzPts val="1400"/>
              <a:buNone/>
              <a:defRPr sz="1800" b="0" i="0" u="none" strike="noStrike" cap="none">
                <a:solidFill>
                  <a:schemeClr val="dk1"/>
                </a:solidFill>
                <a:latin typeface="Corbel"/>
                <a:ea typeface="Corbel"/>
                <a:cs typeface="Corbel"/>
                <a:sym typeface="Corbel"/>
              </a:defRPr>
            </a:lvl3pPr>
            <a:lvl4pPr marR="0" lvl="3" algn="l" rtl="0">
              <a:spcBef>
                <a:spcPts val="0"/>
              </a:spcBef>
              <a:spcAft>
                <a:spcPts val="0"/>
              </a:spcAft>
              <a:buSzPts val="1400"/>
              <a:buNone/>
              <a:defRPr sz="1800" b="0" i="0" u="none" strike="noStrike" cap="none">
                <a:solidFill>
                  <a:schemeClr val="dk1"/>
                </a:solidFill>
                <a:latin typeface="Corbel"/>
                <a:ea typeface="Corbel"/>
                <a:cs typeface="Corbel"/>
                <a:sym typeface="Corbel"/>
              </a:defRPr>
            </a:lvl4pPr>
            <a:lvl5pPr marR="0" lvl="4" algn="l" rtl="0">
              <a:spcBef>
                <a:spcPts val="0"/>
              </a:spcBef>
              <a:spcAft>
                <a:spcPts val="0"/>
              </a:spcAft>
              <a:buSzPts val="1400"/>
              <a:buNone/>
              <a:defRPr sz="1800" b="0" i="0" u="none" strike="noStrike" cap="none">
                <a:solidFill>
                  <a:schemeClr val="dk1"/>
                </a:solidFill>
                <a:latin typeface="Corbel"/>
                <a:ea typeface="Corbel"/>
                <a:cs typeface="Corbel"/>
                <a:sym typeface="Corbel"/>
              </a:defRPr>
            </a:lvl5pPr>
            <a:lvl6pPr marR="0" lvl="5" algn="l" rtl="0">
              <a:spcBef>
                <a:spcPts val="0"/>
              </a:spcBef>
              <a:spcAft>
                <a:spcPts val="0"/>
              </a:spcAft>
              <a:buSzPts val="1400"/>
              <a:buNone/>
              <a:defRPr sz="1800" b="0" i="0" u="none" strike="noStrike" cap="none">
                <a:solidFill>
                  <a:schemeClr val="dk1"/>
                </a:solidFill>
                <a:latin typeface="Corbel"/>
                <a:ea typeface="Corbel"/>
                <a:cs typeface="Corbel"/>
                <a:sym typeface="Corbel"/>
              </a:defRPr>
            </a:lvl6pPr>
            <a:lvl7pPr marR="0" lvl="6" algn="l" rtl="0">
              <a:spcBef>
                <a:spcPts val="0"/>
              </a:spcBef>
              <a:spcAft>
                <a:spcPts val="0"/>
              </a:spcAft>
              <a:buSzPts val="1400"/>
              <a:buNone/>
              <a:defRPr sz="1800" b="0" i="0" u="none" strike="noStrike" cap="none">
                <a:solidFill>
                  <a:schemeClr val="dk1"/>
                </a:solidFill>
                <a:latin typeface="Corbel"/>
                <a:ea typeface="Corbel"/>
                <a:cs typeface="Corbel"/>
                <a:sym typeface="Corbel"/>
              </a:defRPr>
            </a:lvl7pPr>
            <a:lvl8pPr marR="0" lvl="7" algn="l" rtl="0">
              <a:spcBef>
                <a:spcPts val="0"/>
              </a:spcBef>
              <a:spcAft>
                <a:spcPts val="0"/>
              </a:spcAft>
              <a:buSzPts val="1400"/>
              <a:buNone/>
              <a:defRPr sz="1800" b="0" i="0" u="none" strike="noStrike" cap="none">
                <a:solidFill>
                  <a:schemeClr val="dk1"/>
                </a:solidFill>
                <a:latin typeface="Corbel"/>
                <a:ea typeface="Corbel"/>
                <a:cs typeface="Corbel"/>
                <a:sym typeface="Corbel"/>
              </a:defRPr>
            </a:lvl8pPr>
            <a:lvl9pPr marR="0" lvl="8" algn="l" rtl="0">
              <a:spcBef>
                <a:spcPts val="0"/>
              </a:spcBef>
              <a:spcAft>
                <a:spcPts val="0"/>
              </a:spcAft>
              <a:buSzPts val="1400"/>
              <a:buNone/>
              <a:defRPr sz="1800" b="0" i="0" u="none" strike="noStrike" cap="none">
                <a:solidFill>
                  <a:schemeClr val="dk1"/>
                </a:solidFill>
                <a:latin typeface="Corbel"/>
                <a:ea typeface="Corbel"/>
                <a:cs typeface="Corbel"/>
                <a:sym typeface="Corbel"/>
              </a:defRPr>
            </a:lvl9pPr>
          </a:lstStyle>
          <a:p>
            <a:endParaRPr/>
          </a:p>
        </p:txBody>
      </p:sp>
      <p:sp>
        <p:nvSpPr>
          <p:cNvPr id="21" name="Google Shape;21;p70"/>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000" b="0" i="0" u="none" strike="noStrike" cap="none">
                <a:solidFill>
                  <a:schemeClr val="dk1"/>
                </a:solidFill>
                <a:latin typeface="Corbel"/>
                <a:ea typeface="Corbel"/>
                <a:cs typeface="Corbel"/>
                <a:sym typeface="Corbel"/>
              </a:defRPr>
            </a:lvl1pPr>
            <a:lvl2pPr marL="0" marR="0" lvl="1" indent="0" algn="r" rtl="0">
              <a:spcBef>
                <a:spcPts val="0"/>
              </a:spcBef>
              <a:buNone/>
              <a:defRPr sz="1000" b="0" i="0" u="none" strike="noStrike" cap="none">
                <a:solidFill>
                  <a:schemeClr val="dk1"/>
                </a:solidFill>
                <a:latin typeface="Corbel"/>
                <a:ea typeface="Corbel"/>
                <a:cs typeface="Corbel"/>
                <a:sym typeface="Corbel"/>
              </a:defRPr>
            </a:lvl2pPr>
            <a:lvl3pPr marL="0" marR="0" lvl="2" indent="0" algn="r" rtl="0">
              <a:spcBef>
                <a:spcPts val="0"/>
              </a:spcBef>
              <a:buNone/>
              <a:defRPr sz="1000" b="0" i="0" u="none" strike="noStrike" cap="none">
                <a:solidFill>
                  <a:schemeClr val="dk1"/>
                </a:solidFill>
                <a:latin typeface="Corbel"/>
                <a:ea typeface="Corbel"/>
                <a:cs typeface="Corbel"/>
                <a:sym typeface="Corbel"/>
              </a:defRPr>
            </a:lvl3pPr>
            <a:lvl4pPr marL="0" marR="0" lvl="3" indent="0" algn="r" rtl="0">
              <a:spcBef>
                <a:spcPts val="0"/>
              </a:spcBef>
              <a:buNone/>
              <a:defRPr sz="1000" b="0" i="0" u="none" strike="noStrike" cap="none">
                <a:solidFill>
                  <a:schemeClr val="dk1"/>
                </a:solidFill>
                <a:latin typeface="Corbel"/>
                <a:ea typeface="Corbel"/>
                <a:cs typeface="Corbel"/>
                <a:sym typeface="Corbel"/>
              </a:defRPr>
            </a:lvl4pPr>
            <a:lvl5pPr marL="0" marR="0" lvl="4" indent="0" algn="r" rtl="0">
              <a:spcBef>
                <a:spcPts val="0"/>
              </a:spcBef>
              <a:buNone/>
              <a:defRPr sz="1000" b="0" i="0" u="none" strike="noStrike" cap="none">
                <a:solidFill>
                  <a:schemeClr val="dk1"/>
                </a:solidFill>
                <a:latin typeface="Corbel"/>
                <a:ea typeface="Corbel"/>
                <a:cs typeface="Corbel"/>
                <a:sym typeface="Corbel"/>
              </a:defRPr>
            </a:lvl5pPr>
            <a:lvl6pPr marL="0" marR="0" lvl="5" indent="0" algn="r" rtl="0">
              <a:spcBef>
                <a:spcPts val="0"/>
              </a:spcBef>
              <a:buNone/>
              <a:defRPr sz="1000" b="0" i="0" u="none" strike="noStrike" cap="none">
                <a:solidFill>
                  <a:schemeClr val="dk1"/>
                </a:solidFill>
                <a:latin typeface="Corbel"/>
                <a:ea typeface="Corbel"/>
                <a:cs typeface="Corbel"/>
                <a:sym typeface="Corbel"/>
              </a:defRPr>
            </a:lvl6pPr>
            <a:lvl7pPr marL="0" marR="0" lvl="6" indent="0" algn="r" rtl="0">
              <a:spcBef>
                <a:spcPts val="0"/>
              </a:spcBef>
              <a:buNone/>
              <a:defRPr sz="1000" b="0" i="0" u="none" strike="noStrike" cap="none">
                <a:solidFill>
                  <a:schemeClr val="dk1"/>
                </a:solidFill>
                <a:latin typeface="Corbel"/>
                <a:ea typeface="Corbel"/>
                <a:cs typeface="Corbel"/>
                <a:sym typeface="Corbel"/>
              </a:defRPr>
            </a:lvl7pPr>
            <a:lvl8pPr marL="0" marR="0" lvl="7" indent="0" algn="r" rtl="0">
              <a:spcBef>
                <a:spcPts val="0"/>
              </a:spcBef>
              <a:buNone/>
              <a:defRPr sz="1000" b="0" i="0" u="none" strike="noStrike" cap="none">
                <a:solidFill>
                  <a:schemeClr val="dk1"/>
                </a:solidFill>
                <a:latin typeface="Corbel"/>
                <a:ea typeface="Corbel"/>
                <a:cs typeface="Corbel"/>
                <a:sym typeface="Corbel"/>
              </a:defRPr>
            </a:lvl8pPr>
            <a:lvl9pPr marL="0" marR="0" lvl="8" indent="0" algn="r" rtl="0">
              <a:spcBef>
                <a:spcPts val="0"/>
              </a:spcBef>
              <a:buNone/>
              <a:defRPr sz="10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l-G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8" Type="http://schemas.openxmlformats.org/officeDocument/2006/relationships/hyperlink" Target="https://l.instagram.com/?u=https%3A%2F%2Fwww.geeksforgeeks.org%2Fsoftware-engineering-sdlc-v-model%2F&amp;e=AT2gokVhCzRh6S9xkpdcqCxvp_PrCPBNcx3PegmT88b7IElSBLYrBBayRfPkzCwUjtDnmBOXbZ2fgygpKZM4EGEgrjGmz-jQ1Lqve3WZ2qfnGgWsJF4TOOWQPeEtRXjlMwilX7IGczxXA4sSqwZ90P4" TargetMode="External"/><Relationship Id="rId3" Type="http://schemas.openxmlformats.org/officeDocument/2006/relationships/hyperlink" Target="https://stackify.com/what-is-sdlc/" TargetMode="External"/><Relationship Id="rId7" Type="http://schemas.openxmlformats.org/officeDocument/2006/relationships/hyperlink" Target="https://el.myservername.com/what-is-sdlc-waterfall-model" TargetMode="External"/><Relationship Id="rId12" Type="http://schemas.openxmlformats.org/officeDocument/2006/relationships/hyperlink" Target="https://www.geeksforgeeks.org/software-engineering-prototyping-model/" TargetMode="External"/><Relationship Id="rId2" Type="http://schemas.openxmlformats.org/officeDocument/2006/relationships/notesSlide" Target="../notesSlides/notesSlide61.xml"/><Relationship Id="rId1" Type="http://schemas.openxmlformats.org/officeDocument/2006/relationships/slideLayout" Target="../slideLayouts/slideLayout2.xml"/><Relationship Id="rId6" Type="http://schemas.openxmlformats.org/officeDocument/2006/relationships/hyperlink" Target="https://el.myservername.com/agile-vs-waterfall-which-is-best-methodology" TargetMode="External"/><Relationship Id="rId11" Type="http://schemas.openxmlformats.org/officeDocument/2006/relationships/hyperlink" Target="https://www.javatpoint.com/software-engineering-prototype-model" TargetMode="External"/><Relationship Id="rId5" Type="http://schemas.openxmlformats.org/officeDocument/2006/relationships/hyperlink" Target="https://polynoe.lib.uniwa.gr/xmlui/bitstream/handle/11400/1048/Michos_cse46096.PDF?sequence=1&amp;isAllowed=y" TargetMode="External"/><Relationship Id="rId10" Type="http://schemas.openxmlformats.org/officeDocument/2006/relationships/hyperlink" Target="https://www.codecademy.com/resources/docs/general/software-development-life-cycle/prototype-model" TargetMode="External"/><Relationship Id="rId4" Type="http://schemas.openxmlformats.org/officeDocument/2006/relationships/hyperlink" Target="https://www.researchgate.net/publication/355474498_Genikes_Methodologies_anaptyxes_logismikou_e-book" TargetMode="External"/><Relationship Id="rId9" Type="http://schemas.openxmlformats.org/officeDocument/2006/relationships/hyperlink" Target="https://en.wikipedia.org/wiki/V-model" TargetMode="External"/></Relationships>
</file>

<file path=ppt/slides/_rels/slide62.xml.rels><?xml version="1.0" encoding="UTF-8" standalone="yes"?>
<Relationships xmlns="http://schemas.openxmlformats.org/package/2006/relationships"><Relationship Id="rId8" Type="http://schemas.openxmlformats.org/officeDocument/2006/relationships/hyperlink" Target="https://www.geeksforgeeks.org/rup-and-its-phases/?ref=gcse" TargetMode="External"/><Relationship Id="rId13" Type="http://schemas.openxmlformats.org/officeDocument/2006/relationships/hyperlink" Target="https://tryqa.com/what-is-agile-model-advantages-disadvantages-and-when-to-use-it/" TargetMode="External"/><Relationship Id="rId3" Type="http://schemas.openxmlformats.org/officeDocument/2006/relationships/hyperlink" Target="https://psifiakoskosmos.files.wordpress.com/2009/12/beskoukis1.pdf" TargetMode="External"/><Relationship Id="rId7" Type="http://schemas.openxmlformats.org/officeDocument/2006/relationships/hyperlink" Target="https://en.wikipedia.org/wiki/Rational_unified_process" TargetMode="External"/><Relationship Id="rId12" Type="http://schemas.openxmlformats.org/officeDocument/2006/relationships/hyperlink" Target="https://startinfinity.com/templates/agile-development" TargetMode="External"/><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hyperlink" Target="https://www.open.edu/openlearn/science-maths-technology/approaches-software-development/content-section-3.3" TargetMode="External"/><Relationship Id="rId11" Type="http://schemas.openxmlformats.org/officeDocument/2006/relationships/hyperlink" Target="https://www.inflectra.com/Ideas/Whitepaper/Introduction-to-Agile-Development-Methods.aspx" TargetMode="External"/><Relationship Id="rId5" Type="http://schemas.openxmlformats.org/officeDocument/2006/relationships/hyperlink" Target="https://www.simplilearn.com/spiral-model-in-software-engineering-article#what_is_spiral_model_in_software_engineering" TargetMode="External"/><Relationship Id="rId10" Type="http://schemas.openxmlformats.org/officeDocument/2006/relationships/hyperlink" Target="https://activecollab.com/blog/project-management/agile-project-management-advantages-disadvantages" TargetMode="External"/><Relationship Id="rId4" Type="http://schemas.openxmlformats.org/officeDocument/2006/relationships/hyperlink" Target="https://www.geeksforgeeks.org/software-engineering-spiral-model/" TargetMode="External"/><Relationship Id="rId9" Type="http://schemas.openxmlformats.org/officeDocument/2006/relationships/hyperlink" Target="https://www.edrawmind.com/templates/agile-methodology-template.html" TargetMode="External"/><Relationship Id="rId14" Type="http://schemas.openxmlformats.org/officeDocument/2006/relationships/hyperlink" Target="https://agilemodeling.com/essays/introductiontoam.htm" TargetMode="External"/></Relationships>
</file>

<file path=ppt/slides/_rels/slide63.xml.rels><?xml version="1.0" encoding="UTF-8" standalone="yes"?>
<Relationships xmlns="http://schemas.openxmlformats.org/package/2006/relationships"><Relationship Id="rId8" Type="http://schemas.openxmlformats.org/officeDocument/2006/relationships/hyperlink" Target="https://www.simplilearn.com/scrum-project-management-article" TargetMode="External"/><Relationship Id="rId3" Type="http://schemas.openxmlformats.org/officeDocument/2006/relationships/hyperlink" Target="https://www.atlassian.com/devops" TargetMode="External"/><Relationship Id="rId7" Type="http://schemas.openxmlformats.org/officeDocument/2006/relationships/hyperlink" Target="https://clickup.com/blog/workflow-templates/" TargetMode="External"/><Relationship Id="rId12" Type="http://schemas.openxmlformats.org/officeDocument/2006/relationships/hyperlink" Target="https://medium.com/agile-outside-the-box/understanding-scrum-the-scrum-5-3-5-3-3-d8c2553899df" TargetMode="External"/><Relationship Id="rId2" Type="http://schemas.openxmlformats.org/officeDocument/2006/relationships/notesSlide" Target="../notesSlides/notesSlide63.xml"/><Relationship Id="rId1" Type="http://schemas.openxmlformats.org/officeDocument/2006/relationships/slideLayout" Target="../slideLayouts/slideLayout2.xml"/><Relationship Id="rId6" Type="http://schemas.openxmlformats.org/officeDocument/2006/relationships/hyperlink" Target="https://www.simpliaxis.com/resources/devops-pros-and-cons" TargetMode="External"/><Relationship Id="rId11" Type="http://schemas.openxmlformats.org/officeDocument/2006/relationships/hyperlink" Target="https://www.theknowledgeacademy.com/blog/advantages-and-disadvantages-of-scrum/" TargetMode="External"/><Relationship Id="rId5" Type="http://schemas.openxmlformats.org/officeDocument/2006/relationships/hyperlink" Target="https://bigblue.academy/gr/devops" TargetMode="External"/><Relationship Id="rId10" Type="http://schemas.openxmlformats.org/officeDocument/2006/relationships/hyperlink" Target="https://www.slideteam.net/blog/top-10-agile-scrum-framework-templates" TargetMode="External"/><Relationship Id="rId4" Type="http://schemas.openxmlformats.org/officeDocument/2006/relationships/hyperlink" Target="https://aws.amazon.com/devops/what-is-devops/" TargetMode="External"/><Relationship Id="rId9" Type="http://schemas.openxmlformats.org/officeDocument/2006/relationships/hyperlink" Target="https://www.scrum.org/resources/blog/three-pillars-empiricism-scrum" TargetMode="External"/></Relationships>
</file>

<file path=ppt/slides/_rels/slide64.xml.rels><?xml version="1.0" encoding="UTF-8" standalone="yes"?>
<Relationships xmlns="http://schemas.openxmlformats.org/package/2006/relationships"><Relationship Id="rId8" Type="http://schemas.openxmlformats.org/officeDocument/2006/relationships/hyperlink" Target="https://www.geeksforgeeks.org/advantages-and-disadvantages-of-test-driven-development-tdd/?ref=gcse" TargetMode="External"/><Relationship Id="rId3" Type="http://schemas.openxmlformats.org/officeDocument/2006/relationships/hyperlink" Target="https://en.wikipedia.org/wiki/Extreme_programming" TargetMode="External"/><Relationship Id="rId7" Type="http://schemas.openxmlformats.org/officeDocument/2006/relationships/hyperlink" Target="https://simpleprogrammer.com/pros-cons-extreme-programming-xp/?utm_content=cmp-true" TargetMode="External"/><Relationship Id="rId2" Type="http://schemas.openxmlformats.org/officeDocument/2006/relationships/notesSlide" Target="../notesSlides/notesSlide64.xml"/><Relationship Id="rId1" Type="http://schemas.openxmlformats.org/officeDocument/2006/relationships/slideLayout" Target="../slideLayouts/slideLayout2.xml"/><Relationship Id="rId6" Type="http://schemas.openxmlformats.org/officeDocument/2006/relationships/hyperlink" Target="https://hygger.io/blog/disadvantages-and-advantages-of-extreme-programming/" TargetMode="External"/><Relationship Id="rId5" Type="http://schemas.openxmlformats.org/officeDocument/2006/relationships/hyperlink" Target="https://www.nimblework.com/agile/extreme-programming-xp/#elementor-toc__heading-anchor-1" TargetMode="External"/><Relationship Id="rId4" Type="http://schemas.openxmlformats.org/officeDocument/2006/relationships/hyperlink" Target="https://asana.com/resources/extreme-programming-xp" TargetMode="External"/><Relationship Id="rId9" Type="http://schemas.openxmlformats.org/officeDocument/2006/relationships/hyperlink" Target="https://www.geeksforgeeks.org/test-driven-development-tdd/?ref=gcse" TargetMode="External"/></Relationships>
</file>

<file path=ppt/slides/_rels/slide6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
          <p:cNvSpPr txBox="1">
            <a:spLocks noGrp="1"/>
          </p:cNvSpPr>
          <p:nvPr>
            <p:ph type="ctrTitle"/>
          </p:nvPr>
        </p:nvSpPr>
        <p:spPr>
          <a:xfrm>
            <a:off x="3093833" y="2452254"/>
            <a:ext cx="8791575" cy="1664393"/>
          </a:xfrm>
          <a:prstGeom prst="rect">
            <a:avLst/>
          </a:prstGeom>
          <a:noFill/>
          <a:ln>
            <a:noFill/>
          </a:ln>
        </p:spPr>
        <p:txBody>
          <a:bodyPr spcFirstLastPara="1" wrap="square" lIns="91425" tIns="45700" rIns="91425" bIns="45700" anchor="b" anchorCtr="0">
            <a:normAutofit fontScale="90000"/>
          </a:bodyPr>
          <a:lstStyle/>
          <a:p>
            <a:pPr marL="0" lvl="0" indent="0" algn="ctr" rtl="0">
              <a:spcBef>
                <a:spcPts val="0"/>
              </a:spcBef>
              <a:spcAft>
                <a:spcPts val="0"/>
              </a:spcAft>
              <a:buClr>
                <a:srgbClr val="1186C3"/>
              </a:buClr>
              <a:buSzPct val="100000"/>
              <a:buFont typeface="Verdana"/>
              <a:buNone/>
            </a:pPr>
            <a:r>
              <a:rPr lang="el-GR" sz="4400" b="1">
                <a:solidFill>
                  <a:srgbClr val="1186C3"/>
                </a:solidFill>
                <a:latin typeface="Verdana"/>
                <a:ea typeface="Verdana"/>
                <a:cs typeface="Verdana"/>
                <a:sym typeface="Verdana"/>
              </a:rPr>
              <a:t>ΠΟΙΟΤΗΤΑ &amp; ΑΞΙΟΠΙΣΤΙΑ ΛΟΓΙΣΜΙΚΟΥ</a:t>
            </a:r>
            <a:br>
              <a:rPr lang="el-GR" sz="4400" b="1">
                <a:solidFill>
                  <a:srgbClr val="1186C3"/>
                </a:solidFill>
                <a:latin typeface="Verdana"/>
                <a:ea typeface="Verdana"/>
                <a:cs typeface="Verdana"/>
                <a:sym typeface="Verdana"/>
              </a:rPr>
            </a:br>
            <a:r>
              <a:rPr lang="el-GR" sz="4400" b="1">
                <a:latin typeface="Verdana"/>
                <a:ea typeface="Verdana"/>
                <a:cs typeface="Verdana"/>
                <a:sym typeface="Verdana"/>
              </a:rPr>
              <a:t/>
            </a:r>
            <a:br>
              <a:rPr lang="el-GR" sz="4400" b="1">
                <a:latin typeface="Verdana"/>
                <a:ea typeface="Verdana"/>
                <a:cs typeface="Verdana"/>
                <a:sym typeface="Verdana"/>
              </a:rPr>
            </a:br>
            <a:r>
              <a:rPr lang="el-GR" sz="4400" b="1">
                <a:latin typeface="Verdana"/>
                <a:ea typeface="Verdana"/>
                <a:cs typeface="Verdana"/>
                <a:sym typeface="Verdana"/>
              </a:rPr>
              <a:t/>
            </a:r>
            <a:br>
              <a:rPr lang="el-GR" sz="4400" b="1">
                <a:latin typeface="Verdana"/>
                <a:ea typeface="Verdana"/>
                <a:cs typeface="Verdana"/>
                <a:sym typeface="Verdana"/>
              </a:rPr>
            </a:br>
            <a:r>
              <a:rPr lang="el-GR" sz="4400" b="1">
                <a:latin typeface="Verdana"/>
                <a:ea typeface="Verdana"/>
                <a:cs typeface="Verdana"/>
                <a:sym typeface="Verdana"/>
              </a:rPr>
              <a:t>ΜΟΝΤΕΛΑ &amp; ΜΕΘΟΔΟΛΟΓΙΕΣ ΚΥΚΛΟΥ ΖΩΗΣ ΛΟΓΙΣΜΙΚΟΥ</a:t>
            </a:r>
            <a:endParaRPr sz="4400" b="1">
              <a:latin typeface="Verdana"/>
              <a:ea typeface="Verdana"/>
              <a:cs typeface="Verdana"/>
              <a:sym typeface="Verdana"/>
            </a:endParaRPr>
          </a:p>
        </p:txBody>
      </p:sp>
      <p:sp>
        <p:nvSpPr>
          <p:cNvPr id="147" name="Google Shape;147;p1"/>
          <p:cNvSpPr txBox="1">
            <a:spLocks noGrp="1"/>
          </p:cNvSpPr>
          <p:nvPr>
            <p:ph type="subTitle" idx="1"/>
          </p:nvPr>
        </p:nvSpPr>
        <p:spPr>
          <a:xfrm>
            <a:off x="4897763" y="4960543"/>
            <a:ext cx="6987645" cy="1388534"/>
          </a:xfrm>
          <a:prstGeom prst="rect">
            <a:avLst/>
          </a:prstGeom>
          <a:noFill/>
          <a:ln>
            <a:noFill/>
          </a:ln>
        </p:spPr>
        <p:txBody>
          <a:bodyPr spcFirstLastPara="1" wrap="square" lIns="91425" tIns="45700" rIns="91425" bIns="45700" anchor="t" anchorCtr="0">
            <a:normAutofit/>
          </a:bodyPr>
          <a:lstStyle/>
          <a:p>
            <a:pPr marL="0" lvl="0" indent="0" algn="r" rtl="0">
              <a:spcBef>
                <a:spcPts val="0"/>
              </a:spcBef>
              <a:spcAft>
                <a:spcPts val="0"/>
              </a:spcAft>
              <a:buSzPts val="2900"/>
              <a:buNone/>
            </a:pPr>
            <a:r>
              <a:rPr lang="el-GR" sz="2000">
                <a:latin typeface="Verdana"/>
                <a:ea typeface="Verdana"/>
                <a:cs typeface="Verdana"/>
                <a:sym typeface="Verdana"/>
              </a:rPr>
              <a:t>ΑΘΑΝΑΣΙΟΥ ΒΑΣΙΛΕΙΟΣ ΕΥΑΓΓΕΛΟΣ – 19390005</a:t>
            </a:r>
            <a:endParaRPr/>
          </a:p>
          <a:p>
            <a:pPr marL="0" lvl="0" indent="0" algn="r" rtl="0">
              <a:spcBef>
                <a:spcPts val="1000"/>
              </a:spcBef>
              <a:spcAft>
                <a:spcPts val="0"/>
              </a:spcAft>
              <a:buSzPts val="2900"/>
              <a:buNone/>
            </a:pPr>
            <a:r>
              <a:rPr lang="el-GR" sz="2000">
                <a:latin typeface="Verdana"/>
                <a:ea typeface="Verdana"/>
                <a:cs typeface="Verdana"/>
                <a:sym typeface="Verdana"/>
              </a:rPr>
              <a:t>ΟΜΑΡ ΑΛΧΑΖ ΟΜΑΡ – 19390010</a:t>
            </a:r>
            <a:endParaRPr/>
          </a:p>
          <a:p>
            <a:pPr marL="0" lvl="0" indent="0" algn="r" rtl="0">
              <a:spcBef>
                <a:spcPts val="1000"/>
              </a:spcBef>
              <a:spcAft>
                <a:spcPts val="0"/>
              </a:spcAft>
              <a:buSzPts val="2900"/>
              <a:buNone/>
            </a:pPr>
            <a:r>
              <a:rPr lang="el-GR" sz="2000">
                <a:latin typeface="Verdana"/>
                <a:ea typeface="Verdana"/>
                <a:cs typeface="Verdana"/>
                <a:sym typeface="Verdana"/>
              </a:rPr>
              <a:t>ΘΕΟΧΑΡΗΣ ΓΕΩΡΓΙΟΣ – 19390283</a:t>
            </a:r>
            <a:endParaRPr sz="2000">
              <a:latin typeface="Verdana"/>
              <a:ea typeface="Verdana"/>
              <a:cs typeface="Verdana"/>
              <a:sym typeface="Verdana"/>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
          <p:cNvSpPr txBox="1">
            <a:spLocks noGrp="1"/>
          </p:cNvSpPr>
          <p:nvPr>
            <p:ph type="title"/>
          </p:nvPr>
        </p:nvSpPr>
        <p:spPr>
          <a:xfrm>
            <a:off x="1484309" y="1"/>
            <a:ext cx="10018713" cy="1305098"/>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l-GR" sz="3000" b="1" dirty="0">
                <a:latin typeface="Verdana"/>
                <a:ea typeface="Verdana"/>
                <a:cs typeface="Verdana"/>
                <a:sym typeface="Verdana"/>
              </a:rPr>
              <a:t>0. ΓΕΝΙΚΗ ΕΙΣΑΓΩΓΗ</a:t>
            </a:r>
            <a:endParaRPr sz="3000" b="1" dirty="0">
              <a:latin typeface="Verdana"/>
              <a:ea typeface="Verdana"/>
              <a:cs typeface="Verdana"/>
              <a:sym typeface="Verdana"/>
            </a:endParaRPr>
          </a:p>
        </p:txBody>
      </p:sp>
      <p:sp>
        <p:nvSpPr>
          <p:cNvPr id="153" name="Google Shape;153;p2"/>
          <p:cNvSpPr txBox="1">
            <a:spLocks noGrp="1"/>
          </p:cNvSpPr>
          <p:nvPr>
            <p:ph type="body" idx="1"/>
          </p:nvPr>
        </p:nvSpPr>
        <p:spPr>
          <a:xfrm>
            <a:off x="1484300" y="939350"/>
            <a:ext cx="10018800" cy="53904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2900"/>
              <a:buNone/>
            </a:pPr>
            <a:r>
              <a:rPr lang="el-GR" sz="1600" b="1" dirty="0">
                <a:latin typeface="Verdana"/>
                <a:ea typeface="Verdana"/>
                <a:cs typeface="Verdana"/>
                <a:sym typeface="Verdana"/>
              </a:rPr>
              <a:t>0.1. Μοντέλο κύκλου ζωής λογισμικού</a:t>
            </a:r>
            <a:endParaRPr sz="1600" b="1" dirty="0">
              <a:latin typeface="Verdana"/>
              <a:ea typeface="Verdana"/>
              <a:cs typeface="Verdana"/>
              <a:sym typeface="Verdana"/>
            </a:endParaRPr>
          </a:p>
          <a:p>
            <a:pPr marL="285750" lvl="0" indent="-238379" algn="l" rtl="0">
              <a:spcBef>
                <a:spcPts val="896"/>
              </a:spcBef>
              <a:spcAft>
                <a:spcPts val="0"/>
              </a:spcAft>
              <a:buSzPts val="1400"/>
              <a:buChar char="•"/>
            </a:pPr>
            <a:r>
              <a:rPr lang="el-GR" sz="1400" dirty="0">
                <a:latin typeface="Verdana"/>
                <a:ea typeface="Verdana"/>
                <a:cs typeface="Verdana"/>
                <a:sym typeface="Verdana"/>
              </a:rPr>
              <a:t>Ορισμός </a:t>
            </a:r>
            <a:r>
              <a:rPr lang="el-GR" sz="1400" dirty="0" smtClean="0">
                <a:latin typeface="Verdana"/>
                <a:ea typeface="Verdana"/>
                <a:cs typeface="Verdana"/>
                <a:sym typeface="Wingdings" panose="05000000000000000000" pitchFamily="2" charset="2"/>
              </a:rPr>
              <a:t></a:t>
            </a:r>
            <a:r>
              <a:rPr lang="el-GR" sz="1400" dirty="0" smtClean="0">
                <a:latin typeface="Verdana"/>
                <a:ea typeface="Verdana"/>
                <a:cs typeface="Verdana"/>
                <a:sym typeface="Verdana"/>
              </a:rPr>
              <a:t> </a:t>
            </a:r>
            <a:r>
              <a:rPr lang="el-GR" sz="1400" dirty="0">
                <a:latin typeface="Verdana"/>
                <a:ea typeface="Verdana"/>
                <a:cs typeface="Verdana"/>
                <a:sym typeface="Verdana"/>
              </a:rPr>
              <a:t>Δομημένο πλαίσιο που περιγράφει τα στάδια και τις δραστηριότητες στην ανάπτυξη λογισμικού.</a:t>
            </a:r>
            <a:endParaRPr sz="1400" dirty="0">
              <a:latin typeface="Verdana"/>
              <a:ea typeface="Verdana"/>
              <a:cs typeface="Verdana"/>
              <a:sym typeface="Verdana"/>
            </a:endParaRPr>
          </a:p>
          <a:p>
            <a:pPr marL="285750" lvl="0" indent="-238379">
              <a:spcBef>
                <a:spcPts val="896"/>
              </a:spcBef>
              <a:buSzPts val="1400"/>
            </a:pPr>
            <a:r>
              <a:rPr lang="el-GR" sz="1400" dirty="0">
                <a:latin typeface="Verdana"/>
                <a:ea typeface="Verdana"/>
                <a:cs typeface="Verdana"/>
                <a:sym typeface="Verdana"/>
              </a:rPr>
              <a:t>Λειτουργία </a:t>
            </a:r>
            <a:r>
              <a:rPr lang="el-GR" sz="1400" dirty="0">
                <a:latin typeface="Verdana"/>
                <a:ea typeface="Verdana"/>
                <a:cs typeface="Verdana"/>
                <a:sym typeface="Wingdings" panose="05000000000000000000" pitchFamily="2" charset="2"/>
              </a:rPr>
              <a:t></a:t>
            </a:r>
            <a:r>
              <a:rPr lang="el-GR" sz="1400" dirty="0" smtClean="0">
                <a:latin typeface="Verdana"/>
                <a:ea typeface="Verdana"/>
                <a:cs typeface="Verdana"/>
                <a:sym typeface="Verdana"/>
              </a:rPr>
              <a:t> </a:t>
            </a:r>
            <a:r>
              <a:rPr lang="el-GR" sz="1400" dirty="0">
                <a:latin typeface="Verdana"/>
                <a:ea typeface="Verdana"/>
                <a:cs typeface="Verdana"/>
                <a:sym typeface="Verdana"/>
              </a:rPr>
              <a:t>Καθοδηγεί συστηματικά τις φάσεις του έργου από την έναρξη εώς την ολοκλήρωση.</a:t>
            </a:r>
            <a:endParaRPr sz="1400" dirty="0">
              <a:latin typeface="Verdana"/>
              <a:ea typeface="Verdana"/>
              <a:cs typeface="Verdana"/>
              <a:sym typeface="Verdana"/>
            </a:endParaRPr>
          </a:p>
          <a:p>
            <a:pPr marL="0" lvl="0" indent="0" algn="l" rtl="0">
              <a:spcBef>
                <a:spcPts val="970"/>
              </a:spcBef>
              <a:spcAft>
                <a:spcPts val="0"/>
              </a:spcAft>
              <a:buSzPts val="2900"/>
              <a:buNone/>
            </a:pPr>
            <a:r>
              <a:rPr lang="el-GR" sz="1600" b="1" dirty="0">
                <a:latin typeface="Verdana"/>
                <a:ea typeface="Verdana"/>
                <a:cs typeface="Verdana"/>
                <a:sym typeface="Verdana"/>
              </a:rPr>
              <a:t>0.2. Μεθοδολογία ανάπτυξης λογισμικού</a:t>
            </a:r>
            <a:endParaRPr sz="1600" b="1" dirty="0">
              <a:latin typeface="Verdana"/>
              <a:ea typeface="Verdana"/>
              <a:cs typeface="Verdana"/>
              <a:sym typeface="Verdana"/>
            </a:endParaRPr>
          </a:p>
          <a:p>
            <a:pPr marL="285750" lvl="0" indent="-238379">
              <a:spcBef>
                <a:spcPts val="896"/>
              </a:spcBef>
              <a:buSzPts val="1400"/>
            </a:pPr>
            <a:r>
              <a:rPr lang="el-GR" sz="1400" dirty="0">
                <a:latin typeface="Verdana"/>
                <a:ea typeface="Verdana"/>
                <a:cs typeface="Verdana"/>
                <a:sym typeface="Verdana"/>
              </a:rPr>
              <a:t>Ορισμός </a:t>
            </a:r>
            <a:r>
              <a:rPr lang="el-GR" sz="1400" dirty="0">
                <a:latin typeface="Verdana"/>
                <a:ea typeface="Verdana"/>
                <a:cs typeface="Verdana"/>
                <a:sym typeface="Wingdings" panose="05000000000000000000" pitchFamily="2" charset="2"/>
              </a:rPr>
              <a:t></a:t>
            </a:r>
            <a:r>
              <a:rPr lang="el-GR" sz="1400" dirty="0" smtClean="0">
                <a:latin typeface="Verdana"/>
                <a:ea typeface="Verdana"/>
                <a:cs typeface="Verdana"/>
                <a:sym typeface="Verdana"/>
              </a:rPr>
              <a:t> </a:t>
            </a:r>
            <a:r>
              <a:rPr lang="el-GR" sz="1400" dirty="0">
                <a:latin typeface="Verdana"/>
                <a:ea typeface="Verdana"/>
                <a:cs typeface="Verdana"/>
                <a:sym typeface="Verdana"/>
              </a:rPr>
              <a:t>Σύνολο πρακτικών, τεχνικών και διαδικασιών για την οργάνωση και τον έλεγχο της ανάπτυξης λογισμικού.</a:t>
            </a:r>
            <a:endParaRPr sz="1400" dirty="0"/>
          </a:p>
          <a:p>
            <a:pPr marL="285750" lvl="0" indent="-238379">
              <a:spcBef>
                <a:spcPts val="896"/>
              </a:spcBef>
              <a:buSzPts val="1400"/>
            </a:pPr>
            <a:r>
              <a:rPr lang="el-GR" sz="1400" dirty="0">
                <a:latin typeface="Verdana"/>
                <a:ea typeface="Verdana"/>
                <a:cs typeface="Verdana"/>
                <a:sym typeface="Verdana"/>
              </a:rPr>
              <a:t>Πεδίο εφαρμογής </a:t>
            </a:r>
            <a:r>
              <a:rPr lang="el-GR" sz="1400" dirty="0">
                <a:latin typeface="Verdana"/>
                <a:ea typeface="Verdana"/>
                <a:cs typeface="Verdana"/>
                <a:sym typeface="Wingdings" panose="05000000000000000000" pitchFamily="2" charset="2"/>
              </a:rPr>
              <a:t></a:t>
            </a:r>
            <a:r>
              <a:rPr lang="el-GR" sz="1400" dirty="0" smtClean="0">
                <a:latin typeface="Verdana"/>
                <a:ea typeface="Verdana"/>
                <a:cs typeface="Verdana"/>
                <a:sym typeface="Verdana"/>
              </a:rPr>
              <a:t> </a:t>
            </a:r>
            <a:r>
              <a:rPr lang="el-GR" sz="1400" dirty="0">
                <a:latin typeface="Verdana"/>
                <a:ea typeface="Verdana"/>
                <a:cs typeface="Verdana"/>
                <a:sym typeface="Verdana"/>
              </a:rPr>
              <a:t>Περιλαμβάνει τη διαχείριση του έργου, τη συνεργασία της ομάδας και την επικοινωνία καθ' όλη τη διάρκεια του κύκλου ζωής.</a:t>
            </a:r>
            <a:endParaRPr sz="1400" dirty="0"/>
          </a:p>
          <a:p>
            <a:pPr marL="0" lvl="0" indent="0" algn="l" rtl="0">
              <a:spcBef>
                <a:spcPts val="970"/>
              </a:spcBef>
              <a:spcAft>
                <a:spcPts val="0"/>
              </a:spcAft>
              <a:buSzPts val="2900"/>
              <a:buNone/>
            </a:pPr>
            <a:r>
              <a:rPr lang="el-GR" sz="1600" b="1" dirty="0">
                <a:latin typeface="Verdana"/>
                <a:ea typeface="Verdana"/>
                <a:cs typeface="Verdana"/>
                <a:sym typeface="Verdana"/>
              </a:rPr>
              <a:t>0.3 Ειδοποιός διαφορά </a:t>
            </a:r>
            <a:endParaRPr sz="1600" dirty="0"/>
          </a:p>
          <a:p>
            <a:pPr marL="285750" lvl="0" indent="-238379">
              <a:spcBef>
                <a:spcPts val="896"/>
              </a:spcBef>
              <a:buSzPts val="1400"/>
            </a:pPr>
            <a:r>
              <a:rPr lang="el-GR" sz="1400" dirty="0">
                <a:latin typeface="Verdana"/>
                <a:ea typeface="Verdana"/>
                <a:cs typeface="Verdana"/>
                <a:sym typeface="Verdana"/>
              </a:rPr>
              <a:t>Μοντέλο κύκλου ζωής </a:t>
            </a:r>
            <a:r>
              <a:rPr lang="el-GR" sz="1400" dirty="0">
                <a:latin typeface="Verdana"/>
                <a:ea typeface="Verdana"/>
                <a:cs typeface="Verdana"/>
                <a:sym typeface="Wingdings" panose="05000000000000000000" pitchFamily="2" charset="2"/>
              </a:rPr>
              <a:t></a:t>
            </a:r>
            <a:r>
              <a:rPr lang="el-GR" sz="1400" dirty="0" smtClean="0">
                <a:latin typeface="Verdana"/>
                <a:ea typeface="Verdana"/>
                <a:cs typeface="Verdana"/>
                <a:sym typeface="Verdana"/>
              </a:rPr>
              <a:t> </a:t>
            </a:r>
            <a:r>
              <a:rPr lang="el-GR" sz="1400" dirty="0">
                <a:latin typeface="Verdana"/>
                <a:ea typeface="Verdana"/>
                <a:cs typeface="Verdana"/>
                <a:sym typeface="Verdana"/>
              </a:rPr>
              <a:t>Ορίζει τα στάδια του έργου (Ανάλυση Απαιτήσεων, Σχεδίαση Λογισμικού, Ανάπτυξη Λογισμικού, Αξιολόγηση Λογισμικού, Παράδοση Λογισμικού, Συντήρηση Λογισμικού).</a:t>
            </a:r>
            <a:endParaRPr sz="1400" dirty="0"/>
          </a:p>
          <a:p>
            <a:pPr marL="285750" lvl="0" indent="-238379">
              <a:spcBef>
                <a:spcPts val="896"/>
              </a:spcBef>
              <a:buSzPts val="1400"/>
            </a:pPr>
            <a:r>
              <a:rPr lang="el-GR" sz="1400" dirty="0">
                <a:latin typeface="Verdana"/>
                <a:ea typeface="Verdana"/>
                <a:cs typeface="Verdana"/>
                <a:sym typeface="Verdana"/>
              </a:rPr>
              <a:t>Μεθοδολογία </a:t>
            </a:r>
            <a:r>
              <a:rPr lang="el-GR" sz="1400" dirty="0">
                <a:latin typeface="Verdana"/>
                <a:ea typeface="Verdana"/>
                <a:cs typeface="Verdana"/>
                <a:sym typeface="Wingdings" panose="05000000000000000000" pitchFamily="2" charset="2"/>
              </a:rPr>
              <a:t></a:t>
            </a:r>
            <a:r>
              <a:rPr lang="el-GR" sz="1400" dirty="0" smtClean="0">
                <a:latin typeface="Verdana"/>
                <a:ea typeface="Verdana"/>
                <a:cs typeface="Verdana"/>
                <a:sym typeface="Verdana"/>
              </a:rPr>
              <a:t> </a:t>
            </a:r>
            <a:r>
              <a:rPr lang="el-GR" sz="1400" dirty="0">
                <a:latin typeface="Verdana"/>
                <a:ea typeface="Verdana"/>
                <a:cs typeface="Verdana"/>
                <a:sym typeface="Verdana"/>
              </a:rPr>
              <a:t>Καθοδηγεί τις πρακτικές και τις αρχές κατά τη διάρκεια των σταδίων.</a:t>
            </a:r>
            <a:endParaRPr sz="1400" dirty="0"/>
          </a:p>
          <a:p>
            <a:pPr marL="0" lvl="0" indent="0" algn="l" rtl="0">
              <a:spcBef>
                <a:spcPts val="1007"/>
              </a:spcBef>
              <a:spcAft>
                <a:spcPts val="0"/>
              </a:spcAft>
              <a:buSzPts val="3190"/>
              <a:buNone/>
            </a:pPr>
            <a:r>
              <a:rPr lang="el-GR" sz="1600" b="1" dirty="0">
                <a:latin typeface="Verdana"/>
                <a:ea typeface="Verdana"/>
                <a:cs typeface="Verdana"/>
                <a:sym typeface="Verdana"/>
              </a:rPr>
              <a:t>0.4 Απώτερος σκοπός </a:t>
            </a:r>
            <a:endParaRPr sz="1600" dirty="0"/>
          </a:p>
          <a:p>
            <a:pPr marL="285750" lvl="0" indent="-238379">
              <a:spcBef>
                <a:spcPts val="896"/>
              </a:spcBef>
              <a:buSzPts val="1400"/>
            </a:pPr>
            <a:r>
              <a:rPr lang="el-GR" sz="1400" dirty="0">
                <a:latin typeface="Verdana"/>
                <a:ea typeface="Verdana"/>
                <a:cs typeface="Verdana"/>
                <a:sym typeface="Verdana"/>
              </a:rPr>
              <a:t>Σκοπός </a:t>
            </a:r>
            <a:r>
              <a:rPr lang="el-GR" sz="1400" dirty="0">
                <a:latin typeface="Verdana"/>
                <a:ea typeface="Verdana"/>
                <a:cs typeface="Verdana"/>
                <a:sym typeface="Wingdings" panose="05000000000000000000" pitchFamily="2" charset="2"/>
              </a:rPr>
              <a:t></a:t>
            </a:r>
            <a:r>
              <a:rPr lang="el-GR" sz="1400" dirty="0" smtClean="0">
                <a:latin typeface="Verdana"/>
                <a:ea typeface="Verdana"/>
                <a:cs typeface="Verdana"/>
                <a:sym typeface="Verdana"/>
              </a:rPr>
              <a:t> </a:t>
            </a:r>
            <a:r>
              <a:rPr lang="el-GR" sz="1400" dirty="0">
                <a:latin typeface="Verdana"/>
                <a:ea typeface="Verdana"/>
                <a:cs typeface="Verdana"/>
                <a:sym typeface="Verdana"/>
              </a:rPr>
              <a:t>Προσφέρει ένα δομημένο πλαίσιο και κατευθυντήριες γραμμές για την αποτελεσματική ανάπτυξη λογισμικού.</a:t>
            </a:r>
            <a:endParaRPr sz="1400" dirty="0"/>
          </a:p>
          <a:p>
            <a:pPr marL="285750" lvl="0" indent="-238379">
              <a:spcBef>
                <a:spcPts val="896"/>
              </a:spcBef>
              <a:buSzPts val="1400"/>
            </a:pPr>
            <a:r>
              <a:rPr lang="el-GR" sz="1400" dirty="0">
                <a:latin typeface="Verdana"/>
                <a:ea typeface="Verdana"/>
                <a:cs typeface="Verdana"/>
                <a:sym typeface="Verdana"/>
              </a:rPr>
              <a:t>Παραδείγματα </a:t>
            </a:r>
            <a:r>
              <a:rPr lang="el-GR" sz="1400" dirty="0">
                <a:latin typeface="Verdana"/>
                <a:ea typeface="Verdana"/>
                <a:cs typeface="Verdana"/>
                <a:sym typeface="Wingdings" panose="05000000000000000000" pitchFamily="2" charset="2"/>
              </a:rPr>
              <a:t></a:t>
            </a:r>
            <a:r>
              <a:rPr lang="el-GR" sz="1400" dirty="0" smtClean="0">
                <a:latin typeface="Verdana"/>
                <a:ea typeface="Verdana"/>
                <a:cs typeface="Verdana"/>
                <a:sym typeface="Verdana"/>
              </a:rPr>
              <a:t> </a:t>
            </a:r>
            <a:r>
              <a:rPr lang="el-GR" sz="1400" dirty="0">
                <a:latin typeface="Verdana"/>
                <a:ea typeface="Verdana"/>
                <a:cs typeface="Verdana"/>
                <a:sym typeface="Verdana"/>
              </a:rPr>
              <a:t>Καταρράκτης, Επαναληπτική, Ευέλικτη (π.χ. Scrum).</a:t>
            </a:r>
            <a:endParaRPr sz="1400" dirty="0">
              <a:latin typeface="Verdana"/>
              <a:ea typeface="Verdana"/>
              <a:cs typeface="Verdana"/>
              <a:sym typeface="Verdana"/>
            </a:endParaRPr>
          </a:p>
        </p:txBody>
      </p:sp>
    </p:spTree>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3"/>
          <p:cNvSpPr txBox="1">
            <a:spLocks noGrp="1"/>
          </p:cNvSpPr>
          <p:nvPr>
            <p:ph type="title"/>
          </p:nvPr>
        </p:nvSpPr>
        <p:spPr>
          <a:xfrm>
            <a:off x="1683815" y="0"/>
            <a:ext cx="10018713" cy="1752599"/>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1. ΒΑΣΙΚΑ ΜΟΝΤΕΛΑ ΑΝΑΠΤΥΞΗΣ ΛΟΓΙΣΜΙΚΟΥ</a:t>
            </a:r>
            <a:endParaRPr sz="3000" b="1">
              <a:latin typeface="Verdana"/>
              <a:ea typeface="Verdana"/>
              <a:cs typeface="Verdana"/>
              <a:sym typeface="Verdana"/>
            </a:endParaRPr>
          </a:p>
        </p:txBody>
      </p:sp>
      <p:sp>
        <p:nvSpPr>
          <p:cNvPr id="159" name="Google Shape;159;p3"/>
          <p:cNvSpPr txBox="1">
            <a:spLocks noGrp="1"/>
          </p:cNvSpPr>
          <p:nvPr>
            <p:ph type="body" idx="1"/>
          </p:nvPr>
        </p:nvSpPr>
        <p:spPr>
          <a:xfrm>
            <a:off x="2057888" y="1587036"/>
            <a:ext cx="10018713" cy="3124201"/>
          </a:xfrm>
          <a:prstGeom prst="rect">
            <a:avLst/>
          </a:prstGeom>
          <a:noFill/>
          <a:ln>
            <a:noFill/>
          </a:ln>
        </p:spPr>
        <p:txBody>
          <a:bodyPr spcFirstLastPara="1" wrap="square" lIns="91425" tIns="45700" rIns="91425" bIns="45700" anchor="ctr" anchorCtr="0">
            <a:normAutofit/>
          </a:bodyPr>
          <a:lstStyle/>
          <a:p>
            <a:pPr marL="285750" lvl="0" indent="-285750" algn="l" rtl="0">
              <a:spcBef>
                <a:spcPts val="0"/>
              </a:spcBef>
              <a:spcAft>
                <a:spcPts val="0"/>
              </a:spcAft>
              <a:buSzPts val="2900"/>
              <a:buChar char="•"/>
            </a:pPr>
            <a:r>
              <a:rPr lang="el-GR" sz="2000">
                <a:latin typeface="Verdana"/>
                <a:ea typeface="Verdana"/>
                <a:cs typeface="Verdana"/>
                <a:sym typeface="Verdana"/>
              </a:rPr>
              <a:t>1.1. Το μοντέλο του καταρράκτη</a:t>
            </a:r>
            <a:endParaRPr/>
          </a:p>
          <a:p>
            <a:pPr marL="285750" lvl="0" indent="-285750" algn="l" rtl="0">
              <a:spcBef>
                <a:spcPts val="1000"/>
              </a:spcBef>
              <a:spcAft>
                <a:spcPts val="0"/>
              </a:spcAft>
              <a:buSzPts val="2900"/>
              <a:buChar char="•"/>
            </a:pPr>
            <a:r>
              <a:rPr lang="el-GR" sz="2000">
                <a:latin typeface="Verdana"/>
                <a:ea typeface="Verdana"/>
                <a:cs typeface="Verdana"/>
                <a:sym typeface="Verdana"/>
              </a:rPr>
              <a:t>1.2. Το μοντέλο V</a:t>
            </a:r>
            <a:endParaRPr/>
          </a:p>
          <a:p>
            <a:pPr marL="285750" lvl="0" indent="-285750" algn="l" rtl="0">
              <a:spcBef>
                <a:spcPts val="1000"/>
              </a:spcBef>
              <a:spcAft>
                <a:spcPts val="0"/>
              </a:spcAft>
              <a:buSzPts val="2900"/>
              <a:buChar char="•"/>
            </a:pPr>
            <a:r>
              <a:rPr lang="el-GR" sz="2000">
                <a:latin typeface="Verdana"/>
                <a:ea typeface="Verdana"/>
                <a:cs typeface="Verdana"/>
                <a:sym typeface="Verdana"/>
              </a:rPr>
              <a:t>1.3. Το μοντέλο πρωτοτυποποίησης</a:t>
            </a:r>
            <a:endParaRPr/>
          </a:p>
          <a:p>
            <a:pPr marL="285750" lvl="0" indent="-285750" algn="l" rtl="0">
              <a:spcBef>
                <a:spcPts val="1000"/>
              </a:spcBef>
              <a:spcAft>
                <a:spcPts val="0"/>
              </a:spcAft>
              <a:buSzPts val="2900"/>
              <a:buChar char="•"/>
            </a:pPr>
            <a:r>
              <a:rPr lang="el-GR" sz="2000">
                <a:latin typeface="Verdana"/>
                <a:ea typeface="Verdana"/>
                <a:cs typeface="Verdana"/>
                <a:sym typeface="Verdana"/>
              </a:rPr>
              <a:t>1.4. Το μοντέλο λειτουργικής επαύξησης</a:t>
            </a:r>
            <a:endParaRPr/>
          </a:p>
          <a:p>
            <a:pPr marL="285750" lvl="0" indent="-285750" algn="l" rtl="0">
              <a:spcBef>
                <a:spcPts val="1000"/>
              </a:spcBef>
              <a:spcAft>
                <a:spcPts val="0"/>
              </a:spcAft>
              <a:buSzPts val="2900"/>
              <a:buChar char="•"/>
            </a:pPr>
            <a:r>
              <a:rPr lang="el-GR" sz="2000">
                <a:latin typeface="Verdana"/>
                <a:ea typeface="Verdana"/>
                <a:cs typeface="Verdana"/>
                <a:sym typeface="Verdana"/>
              </a:rPr>
              <a:t>1.5. Το σπειροειδές μοντέλο</a:t>
            </a:r>
            <a:endParaRPr sz="2000">
              <a:latin typeface="Verdana"/>
              <a:ea typeface="Verdana"/>
              <a:cs typeface="Verdana"/>
              <a:sym typeface="Verdana"/>
            </a:endParaRPr>
          </a:p>
        </p:txBody>
      </p:sp>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4"/>
          <p:cNvSpPr txBox="1">
            <a:spLocks noGrp="1"/>
          </p:cNvSpPr>
          <p:nvPr>
            <p:ph type="title"/>
          </p:nvPr>
        </p:nvSpPr>
        <p:spPr>
          <a:xfrm>
            <a:off x="2872536" y="266007"/>
            <a:ext cx="7593188" cy="764771"/>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Clr>
                <a:schemeClr val="dk1"/>
              </a:buClr>
              <a:buSzPts val="3000"/>
              <a:buFont typeface="Verdana"/>
              <a:buNone/>
            </a:pPr>
            <a:r>
              <a:rPr lang="el-GR" sz="3000" b="1" dirty="0">
                <a:latin typeface="Verdana"/>
                <a:ea typeface="Verdana"/>
                <a:cs typeface="Verdana"/>
                <a:sym typeface="Verdana"/>
              </a:rPr>
              <a:t>1.1. Το μοντέλο του καταρράκτη</a:t>
            </a:r>
            <a:endParaRPr sz="3000" dirty="0">
              <a:latin typeface="Verdana"/>
              <a:ea typeface="Verdana"/>
              <a:cs typeface="Verdana"/>
              <a:sym typeface="Verdana"/>
            </a:endParaRPr>
          </a:p>
        </p:txBody>
      </p:sp>
      <p:sp>
        <p:nvSpPr>
          <p:cNvPr id="166" name="Google Shape;166;p4"/>
          <p:cNvSpPr txBox="1">
            <a:spLocks noGrp="1"/>
          </p:cNvSpPr>
          <p:nvPr>
            <p:ph type="body" idx="2"/>
          </p:nvPr>
        </p:nvSpPr>
        <p:spPr>
          <a:xfrm>
            <a:off x="1285063" y="2002175"/>
            <a:ext cx="3549000" cy="22245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2320"/>
              <a:buNone/>
            </a:pPr>
            <a:r>
              <a:rPr lang="el-GR">
                <a:latin typeface="Verdana"/>
                <a:ea typeface="Verdana"/>
                <a:cs typeface="Verdana"/>
                <a:sym typeface="Verdana"/>
              </a:rPr>
              <a:t>Το Waterfall Model είναι μια συστηματική μέθοδος ανάπτυξης λογισμικού, ακολουθώντας φάσεις όπως αναλυτική εξέταση, προηγμένο σχεδιασμό, προγραμματισμό, έλεγχο και συντήρηση.</a:t>
            </a:r>
            <a:endParaRPr>
              <a:latin typeface="Verdana"/>
              <a:ea typeface="Verdana"/>
              <a:cs typeface="Verdana"/>
              <a:sym typeface="Verdana"/>
            </a:endParaRPr>
          </a:p>
        </p:txBody>
      </p:sp>
      <p:sp>
        <p:nvSpPr>
          <p:cNvPr id="167" name="Google Shape;167;p4"/>
          <p:cNvSpPr txBox="1"/>
          <p:nvPr/>
        </p:nvSpPr>
        <p:spPr>
          <a:xfrm>
            <a:off x="1484310" y="1030778"/>
            <a:ext cx="315052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2000" b="1" i="0" u="none" strike="noStrike" cap="none">
                <a:solidFill>
                  <a:schemeClr val="dk1"/>
                </a:solidFill>
                <a:latin typeface="Verdana"/>
                <a:ea typeface="Verdana"/>
                <a:cs typeface="Verdana"/>
                <a:sym typeface="Verdana"/>
              </a:rPr>
              <a:t>1.1.1. Εισαγωγή</a:t>
            </a:r>
            <a:endParaRPr sz="2000" b="1">
              <a:solidFill>
                <a:schemeClr val="dk1"/>
              </a:solidFill>
              <a:latin typeface="Verdana"/>
              <a:ea typeface="Verdana"/>
              <a:cs typeface="Verdana"/>
              <a:sym typeface="Verdana"/>
            </a:endParaRPr>
          </a:p>
        </p:txBody>
      </p:sp>
      <p:sp>
        <p:nvSpPr>
          <p:cNvPr id="2" name="Text Placeholder 1"/>
          <p:cNvSpPr>
            <a:spLocks noGrp="1"/>
          </p:cNvSpPr>
          <p:nvPr>
            <p:ph type="body" idx="1"/>
          </p:nvPr>
        </p:nvSpPr>
        <p:spPr/>
        <p:txBody>
          <a:bodyPr/>
          <a:lstStyle/>
          <a:p>
            <a:endParaRPr lang="en-US"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77390" y="1030778"/>
            <a:ext cx="6010275" cy="54673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5"/>
          <p:cNvSpPr txBox="1">
            <a:spLocks noGrp="1"/>
          </p:cNvSpPr>
          <p:nvPr>
            <p:ph type="title"/>
          </p:nvPr>
        </p:nvSpPr>
        <p:spPr>
          <a:xfrm>
            <a:off x="1484310" y="1"/>
            <a:ext cx="1001871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1.1. Το μοντέλο του καταρράκτη</a:t>
            </a:r>
            <a:endParaRPr sz="3000" b="1">
              <a:latin typeface="Verdana"/>
              <a:ea typeface="Verdana"/>
              <a:cs typeface="Verdana"/>
              <a:sym typeface="Verdana"/>
            </a:endParaRPr>
          </a:p>
        </p:txBody>
      </p:sp>
      <p:sp>
        <p:nvSpPr>
          <p:cNvPr id="174" name="Google Shape;174;p5"/>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rmAutofit/>
          </a:bodyPr>
          <a:lstStyle/>
          <a:p>
            <a:pPr marL="285750" lvl="0" indent="-285750" algn="l" rtl="0">
              <a:spcBef>
                <a:spcPts val="0"/>
              </a:spcBef>
              <a:spcAft>
                <a:spcPts val="0"/>
              </a:spcAft>
              <a:buSzPts val="2320"/>
              <a:buChar char="•"/>
            </a:pPr>
            <a:r>
              <a:rPr lang="el-GR" sz="1600">
                <a:latin typeface="Verdana"/>
                <a:ea typeface="Verdana"/>
                <a:cs typeface="Verdana"/>
                <a:sym typeface="Verdana"/>
              </a:rPr>
              <a:t>Αμεσότητα κατανόησης και απλότητα.</a:t>
            </a:r>
            <a:endParaRPr/>
          </a:p>
          <a:p>
            <a:pPr marL="285750" lvl="0" indent="-285750" algn="l" rtl="0">
              <a:spcBef>
                <a:spcPts val="920"/>
              </a:spcBef>
              <a:spcAft>
                <a:spcPts val="0"/>
              </a:spcAft>
              <a:buSzPts val="2320"/>
              <a:buChar char="•"/>
            </a:pPr>
            <a:r>
              <a:rPr lang="el-GR" sz="1600">
                <a:latin typeface="Verdana"/>
                <a:ea typeface="Verdana"/>
                <a:cs typeface="Verdana"/>
                <a:sym typeface="Verdana"/>
              </a:rPr>
              <a:t>Εξαρτημένο χρονοδιάγραμμα και συνεχής επικοινωνία με τον πελάτη.</a:t>
            </a:r>
            <a:endParaRPr/>
          </a:p>
          <a:p>
            <a:pPr marL="285750" lvl="0" indent="-285750" algn="l" rtl="0">
              <a:spcBef>
                <a:spcPts val="920"/>
              </a:spcBef>
              <a:spcAft>
                <a:spcPts val="0"/>
              </a:spcAft>
              <a:buSzPts val="2320"/>
              <a:buChar char="•"/>
            </a:pPr>
            <a:r>
              <a:rPr lang="el-GR" sz="1600">
                <a:latin typeface="Verdana"/>
                <a:ea typeface="Verdana"/>
                <a:cs typeface="Verdana"/>
                <a:sym typeface="Verdana"/>
              </a:rPr>
              <a:t>Ιδανικό για σταθερές απαιτήσεις και περιορισμένη κλίμακα.</a:t>
            </a:r>
            <a:endParaRPr/>
          </a:p>
          <a:p>
            <a:pPr marL="285750" lvl="0" indent="-64770" algn="l" rtl="0">
              <a:spcBef>
                <a:spcPts val="1080"/>
              </a:spcBef>
              <a:spcAft>
                <a:spcPts val="0"/>
              </a:spcAft>
              <a:buSzPts val="3480"/>
              <a:buNone/>
            </a:pPr>
            <a:endParaRPr>
              <a:latin typeface="Verdana"/>
              <a:ea typeface="Verdana"/>
              <a:cs typeface="Verdana"/>
              <a:sym typeface="Verdana"/>
            </a:endParaRPr>
          </a:p>
        </p:txBody>
      </p:sp>
      <p:sp>
        <p:nvSpPr>
          <p:cNvPr id="175" name="Google Shape;175;p5"/>
          <p:cNvSpPr/>
          <p:nvPr/>
        </p:nvSpPr>
        <p:spPr>
          <a:xfrm>
            <a:off x="1484310" y="1104495"/>
            <a:ext cx="3299301"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2000" b="1">
                <a:solidFill>
                  <a:schemeClr val="dk1"/>
                </a:solidFill>
                <a:latin typeface="Verdana"/>
                <a:ea typeface="Verdana"/>
                <a:cs typeface="Verdana"/>
                <a:sym typeface="Verdana"/>
              </a:rPr>
              <a:t>1.1.2. Πλεονεκτήματα</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6"/>
          <p:cNvSpPr txBox="1">
            <a:spLocks noGrp="1"/>
          </p:cNvSpPr>
          <p:nvPr>
            <p:ph type="title"/>
          </p:nvPr>
        </p:nvSpPr>
        <p:spPr>
          <a:xfrm>
            <a:off x="1484310" y="1"/>
            <a:ext cx="1001871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1.1. Το μοντέλο του καταρράκτη</a:t>
            </a:r>
            <a:endParaRPr sz="3000" b="1">
              <a:latin typeface="Verdana"/>
              <a:ea typeface="Verdana"/>
              <a:cs typeface="Verdana"/>
              <a:sym typeface="Verdana"/>
            </a:endParaRPr>
          </a:p>
        </p:txBody>
      </p:sp>
      <p:sp>
        <p:nvSpPr>
          <p:cNvPr id="181" name="Google Shape;181;p6"/>
          <p:cNvSpPr txBox="1">
            <a:spLocks noGrp="1"/>
          </p:cNvSpPr>
          <p:nvPr>
            <p:ph type="body" idx="1"/>
          </p:nvPr>
        </p:nvSpPr>
        <p:spPr>
          <a:xfrm>
            <a:off x="1484310" y="1940769"/>
            <a:ext cx="10018713" cy="3124201"/>
          </a:xfrm>
          <a:prstGeom prst="rect">
            <a:avLst/>
          </a:prstGeom>
          <a:noFill/>
          <a:ln>
            <a:noFill/>
          </a:ln>
        </p:spPr>
        <p:txBody>
          <a:bodyPr spcFirstLastPara="1" wrap="square" lIns="91425" tIns="45700" rIns="91425" bIns="45700" anchor="ctr" anchorCtr="0">
            <a:normAutofit/>
          </a:bodyPr>
          <a:lstStyle/>
          <a:p>
            <a:pPr marL="285750" lvl="0" indent="-285750" algn="l" rtl="0">
              <a:spcBef>
                <a:spcPts val="0"/>
              </a:spcBef>
              <a:spcAft>
                <a:spcPts val="0"/>
              </a:spcAft>
              <a:buSzPts val="2320"/>
              <a:buChar char="•"/>
            </a:pPr>
            <a:r>
              <a:rPr lang="el-GR" sz="1600">
                <a:latin typeface="Verdana"/>
                <a:ea typeface="Verdana"/>
                <a:cs typeface="Verdana"/>
                <a:sym typeface="Verdana"/>
              </a:rPr>
              <a:t>Περιορισμένη ευελιξία σε αλλαγές.</a:t>
            </a:r>
            <a:endParaRPr/>
          </a:p>
          <a:p>
            <a:pPr marL="285750" lvl="0" indent="-285750" algn="l" rtl="0">
              <a:spcBef>
                <a:spcPts val="920"/>
              </a:spcBef>
              <a:spcAft>
                <a:spcPts val="0"/>
              </a:spcAft>
              <a:buSzPts val="2320"/>
              <a:buChar char="•"/>
            </a:pPr>
            <a:r>
              <a:rPr lang="el-GR" sz="1600">
                <a:latin typeface="Verdana"/>
                <a:ea typeface="Verdana"/>
                <a:cs typeface="Verdana"/>
                <a:sym typeface="Verdana"/>
              </a:rPr>
              <a:t>Δυσκολία σε έργα με αβέβαιες απαιτήσεις.</a:t>
            </a:r>
            <a:endParaRPr/>
          </a:p>
          <a:p>
            <a:pPr marL="285750" lvl="0" indent="-285750" algn="l" rtl="0">
              <a:spcBef>
                <a:spcPts val="920"/>
              </a:spcBef>
              <a:spcAft>
                <a:spcPts val="0"/>
              </a:spcAft>
              <a:buSzPts val="2320"/>
              <a:buChar char="•"/>
            </a:pPr>
            <a:r>
              <a:rPr lang="el-GR" sz="1600">
                <a:latin typeface="Verdana"/>
                <a:ea typeface="Verdana"/>
                <a:cs typeface="Verdana"/>
                <a:sym typeface="Verdana"/>
              </a:rPr>
              <a:t>Κίνδυνος καθυστέρησης ανακάλυψης προβλημάτων στις τελευταίες φάσεις.</a:t>
            </a:r>
            <a:endParaRPr/>
          </a:p>
        </p:txBody>
      </p:sp>
      <p:sp>
        <p:nvSpPr>
          <p:cNvPr id="182" name="Google Shape;182;p6"/>
          <p:cNvSpPr/>
          <p:nvPr/>
        </p:nvSpPr>
        <p:spPr>
          <a:xfrm>
            <a:off x="1484310" y="1104495"/>
            <a:ext cx="324960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2000" b="1">
                <a:solidFill>
                  <a:schemeClr val="dk1"/>
                </a:solidFill>
                <a:latin typeface="Verdana"/>
                <a:ea typeface="Verdana"/>
                <a:cs typeface="Verdana"/>
                <a:sym typeface="Verdana"/>
              </a:rPr>
              <a:t>1.1.3. Μειονεκτήματα</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7"/>
          <p:cNvSpPr txBox="1">
            <a:spLocks noGrp="1"/>
          </p:cNvSpPr>
          <p:nvPr>
            <p:ph type="title"/>
          </p:nvPr>
        </p:nvSpPr>
        <p:spPr>
          <a:xfrm>
            <a:off x="1484310" y="1"/>
            <a:ext cx="1001871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1.1. Το μοντέλο του καταρράκτη</a:t>
            </a:r>
            <a:endParaRPr sz="3000" b="1">
              <a:latin typeface="Verdana"/>
              <a:ea typeface="Verdana"/>
              <a:cs typeface="Verdana"/>
              <a:sym typeface="Verdana"/>
            </a:endParaRPr>
          </a:p>
        </p:txBody>
      </p:sp>
      <p:sp>
        <p:nvSpPr>
          <p:cNvPr id="188" name="Google Shape;188;p7"/>
          <p:cNvSpPr txBox="1">
            <a:spLocks noGrp="1"/>
          </p:cNvSpPr>
          <p:nvPr>
            <p:ph type="body" idx="1"/>
          </p:nvPr>
        </p:nvSpPr>
        <p:spPr>
          <a:xfrm>
            <a:off x="1426119" y="1844039"/>
            <a:ext cx="10018713" cy="3124201"/>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2320"/>
              <a:buNone/>
            </a:pPr>
            <a:r>
              <a:rPr lang="el-GR" sz="1600">
                <a:latin typeface="Verdana"/>
                <a:ea typeface="Verdana"/>
                <a:cs typeface="Verdana"/>
                <a:sym typeface="Verdana"/>
              </a:rPr>
              <a:t>Παρά τα μειονεκτήματα, το Waterfall Model παραμένει προτεινόμενο, ιδίως σε έργα με σταθερές απαιτήσεις από την αρχή.</a:t>
            </a:r>
            <a:endParaRPr sz="1600">
              <a:latin typeface="Verdana"/>
              <a:ea typeface="Verdana"/>
              <a:cs typeface="Verdana"/>
              <a:sym typeface="Verdana"/>
            </a:endParaRPr>
          </a:p>
        </p:txBody>
      </p:sp>
      <p:sp>
        <p:nvSpPr>
          <p:cNvPr id="189" name="Google Shape;189;p7"/>
          <p:cNvSpPr/>
          <p:nvPr/>
        </p:nvSpPr>
        <p:spPr>
          <a:xfrm>
            <a:off x="1426119" y="1104495"/>
            <a:ext cx="222368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2000" b="1">
                <a:solidFill>
                  <a:schemeClr val="dk1"/>
                </a:solidFill>
                <a:latin typeface="Verdana"/>
                <a:ea typeface="Verdana"/>
                <a:cs typeface="Verdana"/>
                <a:sym typeface="Verdana"/>
              </a:rPr>
              <a:t>1.1.4. Σύνοψη</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8"/>
          <p:cNvSpPr txBox="1">
            <a:spLocks noGrp="1"/>
          </p:cNvSpPr>
          <p:nvPr>
            <p:ph type="title"/>
          </p:nvPr>
        </p:nvSpPr>
        <p:spPr>
          <a:xfrm>
            <a:off x="2390398" y="149629"/>
            <a:ext cx="7593188" cy="764771"/>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1.2. Το μοντέλο V</a:t>
            </a:r>
            <a:endParaRPr sz="3000">
              <a:latin typeface="Verdana"/>
              <a:ea typeface="Verdana"/>
              <a:cs typeface="Verdana"/>
              <a:sym typeface="Verdana"/>
            </a:endParaRPr>
          </a:p>
        </p:txBody>
      </p:sp>
      <p:sp>
        <p:nvSpPr>
          <p:cNvPr id="195" name="Google Shape;195;p8"/>
          <p:cNvSpPr txBox="1">
            <a:spLocks noGrp="1"/>
          </p:cNvSpPr>
          <p:nvPr>
            <p:ph type="body" idx="2"/>
          </p:nvPr>
        </p:nvSpPr>
        <p:spPr>
          <a:xfrm>
            <a:off x="1484310" y="914400"/>
            <a:ext cx="3549121" cy="4987636"/>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2320"/>
              <a:buNone/>
            </a:pPr>
            <a:r>
              <a:rPr lang="el-GR">
                <a:latin typeface="Verdana"/>
                <a:ea typeface="Verdana"/>
                <a:cs typeface="Verdana"/>
                <a:sym typeface="Verdana"/>
              </a:rPr>
              <a:t>Το V-Model απεικονίζει τη διαδικασία ανάπτυξης λογισμικού ως ένα "V", διαιρώντας τη διαδικασία σε αριστερή και δεξιά πλευρά. Στην αριστερή, βρίσκονται οι φάσεις ανάπτυξης, ενώ στη δεξιά, οι δοκιμές για επαλήθευση της αρχικής ανάλυσης. </a:t>
            </a:r>
            <a:endParaRPr>
              <a:latin typeface="Verdana"/>
              <a:ea typeface="Verdana"/>
              <a:cs typeface="Verdana"/>
              <a:sym typeface="Verdana"/>
            </a:endParaRPr>
          </a:p>
          <a:p>
            <a:pPr marL="0" lvl="0" indent="0" algn="l" rtl="0">
              <a:spcBef>
                <a:spcPts val="0"/>
              </a:spcBef>
              <a:spcAft>
                <a:spcPts val="0"/>
              </a:spcAft>
              <a:buSzPts val="2320"/>
              <a:buNone/>
            </a:pPr>
            <a:endParaRPr>
              <a:latin typeface="Verdana"/>
              <a:ea typeface="Verdana"/>
              <a:cs typeface="Verdana"/>
              <a:sym typeface="Verdana"/>
            </a:endParaRPr>
          </a:p>
        </p:txBody>
      </p:sp>
      <p:sp>
        <p:nvSpPr>
          <p:cNvPr id="196" name="Google Shape;196;p8"/>
          <p:cNvSpPr txBox="1"/>
          <p:nvPr/>
        </p:nvSpPr>
        <p:spPr>
          <a:xfrm>
            <a:off x="1484310" y="914400"/>
            <a:ext cx="315052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2000" b="1">
                <a:solidFill>
                  <a:schemeClr val="dk1"/>
                </a:solidFill>
                <a:latin typeface="Verdana"/>
                <a:ea typeface="Verdana"/>
                <a:cs typeface="Verdana"/>
                <a:sym typeface="Verdana"/>
              </a:rPr>
              <a:t>1.2.1. Εισαγωγή</a:t>
            </a:r>
            <a:endParaRPr sz="2000" b="1">
              <a:solidFill>
                <a:schemeClr val="dk1"/>
              </a:solidFill>
              <a:latin typeface="Verdana"/>
              <a:ea typeface="Verdana"/>
              <a:cs typeface="Verdana"/>
              <a:sym typeface="Verdana"/>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33431" y="1314510"/>
            <a:ext cx="6651546" cy="4481427"/>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1234928" y="41564"/>
            <a:ext cx="1001871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1.2. Το μοντέλο V</a:t>
            </a:r>
            <a:endParaRPr sz="3000" b="1">
              <a:latin typeface="Verdana"/>
              <a:ea typeface="Verdana"/>
              <a:cs typeface="Verdana"/>
              <a:sym typeface="Verdana"/>
            </a:endParaRPr>
          </a:p>
        </p:txBody>
      </p:sp>
      <p:sp>
        <p:nvSpPr>
          <p:cNvPr id="203" name="Google Shape;203;p9"/>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rmAutofit/>
          </a:bodyPr>
          <a:lstStyle/>
          <a:p>
            <a:pPr marL="285750" lvl="0" indent="-285750" algn="l" rtl="0">
              <a:spcBef>
                <a:spcPts val="0"/>
              </a:spcBef>
              <a:spcAft>
                <a:spcPts val="0"/>
              </a:spcAft>
              <a:buSzPts val="2320"/>
              <a:buChar char="•"/>
            </a:pPr>
            <a:r>
              <a:rPr lang="el-GR" sz="1600">
                <a:latin typeface="Verdana"/>
                <a:ea typeface="Verdana"/>
                <a:cs typeface="Verdana"/>
                <a:sym typeface="Verdana"/>
              </a:rPr>
              <a:t>Πειθαρχημένο και αποτελεσματικό μοντέλο.</a:t>
            </a:r>
            <a:endParaRPr/>
          </a:p>
          <a:p>
            <a:pPr marL="285750" lvl="0" indent="-285750" algn="l" rtl="0">
              <a:spcBef>
                <a:spcPts val="920"/>
              </a:spcBef>
              <a:spcAft>
                <a:spcPts val="0"/>
              </a:spcAft>
              <a:buSzPts val="2320"/>
              <a:buChar char="•"/>
            </a:pPr>
            <a:r>
              <a:rPr lang="el-GR" sz="1600">
                <a:latin typeface="Verdana"/>
                <a:ea typeface="Verdana"/>
                <a:cs typeface="Verdana"/>
                <a:sym typeface="Verdana"/>
              </a:rPr>
              <a:t>Κατάλληλο για έργα με σαφείς απαιτήσεις.</a:t>
            </a:r>
            <a:endParaRPr/>
          </a:p>
          <a:p>
            <a:pPr marL="285750" lvl="0" indent="-285750" algn="l" rtl="0">
              <a:spcBef>
                <a:spcPts val="920"/>
              </a:spcBef>
              <a:spcAft>
                <a:spcPts val="0"/>
              </a:spcAft>
              <a:buSzPts val="2320"/>
              <a:buChar char="•"/>
            </a:pPr>
            <a:r>
              <a:rPr lang="el-GR" sz="1600">
                <a:latin typeface="Verdana"/>
                <a:ea typeface="Verdana"/>
                <a:cs typeface="Verdana"/>
                <a:sym typeface="Verdana"/>
              </a:rPr>
              <a:t>Απλό και ευανάγνωστο.</a:t>
            </a:r>
            <a:endParaRPr/>
          </a:p>
          <a:p>
            <a:pPr marL="285750" lvl="0" indent="-285750" algn="l" rtl="0">
              <a:spcBef>
                <a:spcPts val="920"/>
              </a:spcBef>
              <a:spcAft>
                <a:spcPts val="0"/>
              </a:spcAft>
              <a:buSzPts val="2320"/>
              <a:buChar char="•"/>
            </a:pPr>
            <a:r>
              <a:rPr lang="el-GR" sz="1600">
                <a:latin typeface="Verdana"/>
                <a:ea typeface="Verdana"/>
                <a:cs typeface="Verdana"/>
                <a:sym typeface="Verdana"/>
              </a:rPr>
              <a:t>Εστίαση σε επαλήθευση και επικύρωση από την αρχή.</a:t>
            </a:r>
            <a:endParaRPr/>
          </a:p>
          <a:p>
            <a:pPr marL="285750" lvl="0" indent="-285750" algn="l" rtl="0">
              <a:spcBef>
                <a:spcPts val="920"/>
              </a:spcBef>
              <a:spcAft>
                <a:spcPts val="0"/>
              </a:spcAft>
              <a:buSzPts val="2320"/>
              <a:buChar char="•"/>
            </a:pPr>
            <a:r>
              <a:rPr lang="el-GR" sz="1600">
                <a:latin typeface="Verdana"/>
                <a:ea typeface="Verdana"/>
                <a:cs typeface="Verdana"/>
                <a:sym typeface="Verdana"/>
              </a:rPr>
              <a:t>Δυνατότητα παρακολούθησης της προόδου.</a:t>
            </a:r>
            <a:endParaRPr/>
          </a:p>
          <a:p>
            <a:pPr marL="285750" lvl="0" indent="-138430" algn="l" rtl="0">
              <a:spcBef>
                <a:spcPts val="920"/>
              </a:spcBef>
              <a:spcAft>
                <a:spcPts val="0"/>
              </a:spcAft>
              <a:buSzPts val="2320"/>
              <a:buNone/>
            </a:pPr>
            <a:endParaRPr sz="1600">
              <a:latin typeface="Verdana"/>
              <a:ea typeface="Verdana"/>
              <a:cs typeface="Verdana"/>
              <a:sym typeface="Verdana"/>
            </a:endParaRPr>
          </a:p>
        </p:txBody>
      </p:sp>
      <p:sp>
        <p:nvSpPr>
          <p:cNvPr id="204" name="Google Shape;204;p9"/>
          <p:cNvSpPr/>
          <p:nvPr/>
        </p:nvSpPr>
        <p:spPr>
          <a:xfrm>
            <a:off x="1484310" y="1146058"/>
            <a:ext cx="3299301"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2000" b="1">
                <a:solidFill>
                  <a:schemeClr val="dk1"/>
                </a:solidFill>
                <a:latin typeface="Verdana"/>
                <a:ea typeface="Verdana"/>
                <a:cs typeface="Verdana"/>
                <a:sym typeface="Verdana"/>
              </a:rPr>
              <a:t>1.2.2. Πλεονεκτήματα</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1484310" y="1"/>
            <a:ext cx="1001871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1.2. Το μοντέλο V</a:t>
            </a:r>
            <a:endParaRPr/>
          </a:p>
        </p:txBody>
      </p:sp>
      <p:sp>
        <p:nvSpPr>
          <p:cNvPr id="210" name="Google Shape;210;p10"/>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rmAutofit/>
          </a:bodyPr>
          <a:lstStyle/>
          <a:p>
            <a:pPr marL="285750" lvl="0" indent="-285750" algn="l" rtl="0">
              <a:spcBef>
                <a:spcPts val="0"/>
              </a:spcBef>
              <a:spcAft>
                <a:spcPts val="0"/>
              </a:spcAft>
              <a:buSzPts val="2320"/>
              <a:buChar char="•"/>
            </a:pPr>
            <a:r>
              <a:rPr lang="el-GR" sz="1600">
                <a:latin typeface="Verdana"/>
                <a:ea typeface="Verdana"/>
                <a:cs typeface="Verdana"/>
                <a:sym typeface="Verdana"/>
              </a:rPr>
              <a:t>Υψηλός κίνδυνος και αβεβαιότητα.</a:t>
            </a:r>
            <a:endParaRPr/>
          </a:p>
          <a:p>
            <a:pPr marL="285750" lvl="0" indent="-285750" algn="l" rtl="0">
              <a:spcBef>
                <a:spcPts val="920"/>
              </a:spcBef>
              <a:spcAft>
                <a:spcPts val="0"/>
              </a:spcAft>
              <a:buSzPts val="2320"/>
              <a:buChar char="•"/>
            </a:pPr>
            <a:r>
              <a:rPr lang="el-GR" sz="1600">
                <a:latin typeface="Verdana"/>
                <a:ea typeface="Verdana"/>
                <a:cs typeface="Verdana"/>
                <a:sym typeface="Verdana"/>
              </a:rPr>
              <a:t>Ανελαστικό για έργα με αβέβαιες απαιτήσεις.</a:t>
            </a:r>
            <a:endParaRPr/>
          </a:p>
          <a:p>
            <a:pPr marL="285750" lvl="0" indent="-285750" algn="l" rtl="0">
              <a:spcBef>
                <a:spcPts val="920"/>
              </a:spcBef>
              <a:spcAft>
                <a:spcPts val="0"/>
              </a:spcAft>
              <a:buSzPts val="2320"/>
              <a:buChar char="•"/>
            </a:pPr>
            <a:r>
              <a:rPr lang="el-GR" sz="1600">
                <a:latin typeface="Verdana"/>
                <a:ea typeface="Verdana"/>
                <a:cs typeface="Verdana"/>
                <a:sym typeface="Verdana"/>
              </a:rPr>
              <a:t>Δεν υποστηρίζει επανάληψη φάσεων.</a:t>
            </a:r>
            <a:endParaRPr/>
          </a:p>
          <a:p>
            <a:pPr marL="285750" lvl="0" indent="-285750" algn="l" rtl="0">
              <a:spcBef>
                <a:spcPts val="920"/>
              </a:spcBef>
              <a:spcAft>
                <a:spcPts val="0"/>
              </a:spcAft>
              <a:buSzPts val="2320"/>
              <a:buChar char="•"/>
            </a:pPr>
            <a:r>
              <a:rPr lang="el-GR" sz="1600">
                <a:latin typeface="Verdana"/>
                <a:ea typeface="Verdana"/>
                <a:cs typeface="Verdana"/>
                <a:sym typeface="Verdana"/>
              </a:rPr>
              <a:t>Δυσκολία στην αντιμετώπιση ταυτόχρονων γεγονότων.</a:t>
            </a:r>
            <a:endParaRPr/>
          </a:p>
          <a:p>
            <a:pPr marL="285750" lvl="0" indent="-138430" algn="l" rtl="0">
              <a:spcBef>
                <a:spcPts val="920"/>
              </a:spcBef>
              <a:spcAft>
                <a:spcPts val="0"/>
              </a:spcAft>
              <a:buSzPts val="2320"/>
              <a:buNone/>
            </a:pPr>
            <a:endParaRPr sz="1600">
              <a:latin typeface="Verdana"/>
              <a:ea typeface="Verdana"/>
              <a:cs typeface="Verdana"/>
              <a:sym typeface="Verdana"/>
            </a:endParaRPr>
          </a:p>
        </p:txBody>
      </p:sp>
      <p:sp>
        <p:nvSpPr>
          <p:cNvPr id="211" name="Google Shape;211;p10"/>
          <p:cNvSpPr/>
          <p:nvPr/>
        </p:nvSpPr>
        <p:spPr>
          <a:xfrm>
            <a:off x="1484310" y="1104495"/>
            <a:ext cx="324960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2000" b="1">
                <a:solidFill>
                  <a:schemeClr val="dk1"/>
                </a:solidFill>
                <a:latin typeface="Verdana"/>
                <a:ea typeface="Verdana"/>
                <a:cs typeface="Verdana"/>
                <a:sym typeface="Verdana"/>
              </a:rPr>
              <a:t>1.2.3. Μειονεκτήματα</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1484310" y="1"/>
            <a:ext cx="1001871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1.2. Το μοντέλο V</a:t>
            </a:r>
            <a:endParaRPr/>
          </a:p>
        </p:txBody>
      </p:sp>
      <p:sp>
        <p:nvSpPr>
          <p:cNvPr id="217" name="Google Shape;217;p11"/>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2320"/>
              <a:buNone/>
            </a:pPr>
            <a:r>
              <a:rPr lang="el-GR" sz="1600">
                <a:latin typeface="Verdana"/>
                <a:ea typeface="Verdana"/>
                <a:cs typeface="Verdana"/>
                <a:sym typeface="Verdana"/>
              </a:rPr>
              <a:t>Παρότι το V-Model είναι ιδανικό για έργα με σαφείς απαιτήσεις, η ανελαστικότητα και η δυσκολία στην προσαρμογή του σε αλλαγές απαιτούν προσοχή. Η καταλληλότητά του εξαρτάται από τον τύπο και τις ανάγκες του κάθε έργου.</a:t>
            </a:r>
            <a:endParaRPr sz="1600">
              <a:latin typeface="Verdana"/>
              <a:ea typeface="Verdana"/>
              <a:cs typeface="Verdana"/>
              <a:sym typeface="Verdana"/>
            </a:endParaRPr>
          </a:p>
        </p:txBody>
      </p:sp>
      <p:sp>
        <p:nvSpPr>
          <p:cNvPr id="218" name="Google Shape;218;p11"/>
          <p:cNvSpPr/>
          <p:nvPr/>
        </p:nvSpPr>
        <p:spPr>
          <a:xfrm>
            <a:off x="1484310" y="1104495"/>
            <a:ext cx="222368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2000" b="1">
                <a:solidFill>
                  <a:schemeClr val="dk1"/>
                </a:solidFill>
                <a:latin typeface="Verdana"/>
                <a:ea typeface="Verdana"/>
                <a:cs typeface="Verdana"/>
                <a:sym typeface="Verdana"/>
              </a:rPr>
              <a:t>1.2.4. Σύνοψη</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390398" y="149629"/>
            <a:ext cx="7801006" cy="764771"/>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1.3. Το μοντέλο πρωτοτυποποίησης</a:t>
            </a:r>
            <a:endParaRPr sz="3000">
              <a:latin typeface="Verdana"/>
              <a:ea typeface="Verdana"/>
              <a:cs typeface="Verdana"/>
              <a:sym typeface="Verdana"/>
            </a:endParaRPr>
          </a:p>
        </p:txBody>
      </p:sp>
      <p:sp>
        <p:nvSpPr>
          <p:cNvPr id="224" name="Google Shape;224;p12"/>
          <p:cNvSpPr txBox="1">
            <a:spLocks noGrp="1"/>
          </p:cNvSpPr>
          <p:nvPr>
            <p:ph type="body" idx="2"/>
          </p:nvPr>
        </p:nvSpPr>
        <p:spPr>
          <a:xfrm>
            <a:off x="1484310" y="914400"/>
            <a:ext cx="3549121" cy="4987636"/>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2320"/>
              <a:buNone/>
            </a:pPr>
            <a:endParaRPr/>
          </a:p>
          <a:p>
            <a:pPr marL="0" lvl="0" indent="0" algn="l" rtl="0">
              <a:spcBef>
                <a:spcPts val="920"/>
              </a:spcBef>
              <a:spcAft>
                <a:spcPts val="0"/>
              </a:spcAft>
              <a:buSzPts val="2320"/>
              <a:buNone/>
            </a:pPr>
            <a:endParaRPr/>
          </a:p>
          <a:p>
            <a:pPr marL="0" lvl="0" indent="0" algn="l" rtl="0">
              <a:spcBef>
                <a:spcPts val="920"/>
              </a:spcBef>
              <a:spcAft>
                <a:spcPts val="0"/>
              </a:spcAft>
              <a:buSzPts val="2320"/>
              <a:buNone/>
            </a:pPr>
            <a:r>
              <a:rPr lang="el-GR">
                <a:latin typeface="Verdana"/>
                <a:ea typeface="Verdana"/>
                <a:cs typeface="Verdana"/>
                <a:sym typeface="Verdana"/>
              </a:rPr>
              <a:t>Η πρωτοτυποποίηση είναι μια ανάπτυξη λογισμικού χωρίς συγκεκριμένες απαιτήσεις.</a:t>
            </a:r>
            <a:endParaRPr/>
          </a:p>
          <a:p>
            <a:pPr marL="0" lvl="0" indent="0" algn="l" rtl="0">
              <a:spcBef>
                <a:spcPts val="920"/>
              </a:spcBef>
              <a:spcAft>
                <a:spcPts val="0"/>
              </a:spcAft>
              <a:buSzPts val="2320"/>
              <a:buNone/>
            </a:pPr>
            <a:r>
              <a:rPr lang="el-GR">
                <a:latin typeface="Verdana"/>
                <a:ea typeface="Verdana"/>
                <a:cs typeface="Verdana"/>
                <a:sym typeface="Verdana"/>
              </a:rPr>
              <a:t>Εξελίσσεται με ελάχιστες απαιτήσεις, επικοινωνία με τον πελάτη και συχνές αξιολογήσεις.</a:t>
            </a:r>
            <a:endParaRPr/>
          </a:p>
          <a:p>
            <a:pPr marL="0" lvl="0" indent="0" algn="ctr" rtl="0">
              <a:spcBef>
                <a:spcPts val="920"/>
              </a:spcBef>
              <a:spcAft>
                <a:spcPts val="0"/>
              </a:spcAft>
              <a:buSzPts val="2320"/>
              <a:buNone/>
            </a:pPr>
            <a:r>
              <a:rPr lang="el-GR"/>
              <a:t/>
            </a:r>
            <a:br>
              <a:rPr lang="el-GR"/>
            </a:br>
            <a:endParaRPr>
              <a:latin typeface="Verdana"/>
              <a:ea typeface="Verdana"/>
              <a:cs typeface="Verdana"/>
              <a:sym typeface="Verdana"/>
            </a:endParaRPr>
          </a:p>
        </p:txBody>
      </p:sp>
      <p:sp>
        <p:nvSpPr>
          <p:cNvPr id="225" name="Google Shape;225;p12"/>
          <p:cNvSpPr txBox="1"/>
          <p:nvPr/>
        </p:nvSpPr>
        <p:spPr>
          <a:xfrm>
            <a:off x="1484310" y="1134687"/>
            <a:ext cx="315052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2000" b="1">
                <a:solidFill>
                  <a:schemeClr val="dk1"/>
                </a:solidFill>
                <a:latin typeface="Verdana"/>
                <a:ea typeface="Verdana"/>
                <a:cs typeface="Verdana"/>
                <a:sym typeface="Verdana"/>
              </a:rPr>
              <a:t>1.3.1. Εισαγωγή</a:t>
            </a:r>
            <a:endParaRPr sz="2000" b="1">
              <a:solidFill>
                <a:schemeClr val="dk1"/>
              </a:solidFill>
              <a:latin typeface="Verdana"/>
              <a:ea typeface="Verdana"/>
              <a:cs typeface="Verdana"/>
              <a:sym typeface="Verdana"/>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4131" y="1134687"/>
            <a:ext cx="4950069" cy="5290385"/>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15"/>
          <p:cNvSpPr txBox="1">
            <a:spLocks noGrp="1"/>
          </p:cNvSpPr>
          <p:nvPr>
            <p:ph type="title"/>
          </p:nvPr>
        </p:nvSpPr>
        <p:spPr>
          <a:xfrm>
            <a:off x="1484310" y="1"/>
            <a:ext cx="1001871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1.3. Το μοντέλο πρωτοτυποποίησης</a:t>
            </a:r>
            <a:endParaRPr sz="3000" b="1">
              <a:latin typeface="Verdana"/>
              <a:ea typeface="Verdana"/>
              <a:cs typeface="Verdana"/>
              <a:sym typeface="Verdana"/>
            </a:endParaRPr>
          </a:p>
        </p:txBody>
      </p:sp>
      <p:sp>
        <p:nvSpPr>
          <p:cNvPr id="239" name="Google Shape;239;p15"/>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rmAutofit/>
          </a:bodyPr>
          <a:lstStyle/>
          <a:p>
            <a:pPr marL="285750" lvl="0" indent="-285750">
              <a:spcBef>
                <a:spcPts val="0"/>
              </a:spcBef>
              <a:buSzPts val="2320"/>
            </a:pPr>
            <a:r>
              <a:rPr lang="el-GR" sz="1600" dirty="0">
                <a:latin typeface="Verdana"/>
                <a:ea typeface="Verdana"/>
                <a:cs typeface="Verdana"/>
                <a:sym typeface="Verdana"/>
              </a:rPr>
              <a:t>Γρήγορη γνώμη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Μέσα από την συλλογή απαιτήσεων και το πλάνο ανάπτυξης.</a:t>
            </a:r>
            <a:endParaRPr sz="1600" dirty="0">
              <a:latin typeface="Verdana"/>
              <a:ea typeface="Verdana"/>
              <a:cs typeface="Verdana"/>
              <a:sym typeface="Verdana"/>
            </a:endParaRPr>
          </a:p>
          <a:p>
            <a:pPr marL="285750" lvl="0" indent="-285750">
              <a:spcBef>
                <a:spcPts val="0"/>
              </a:spcBef>
              <a:buSzPts val="2320"/>
            </a:pPr>
            <a:r>
              <a:rPr lang="el-GR" sz="1600" dirty="0">
                <a:latin typeface="Verdana"/>
                <a:ea typeface="Verdana"/>
                <a:cs typeface="Verdana"/>
                <a:sym typeface="Verdana"/>
              </a:rPr>
              <a:t>Γρήγορη υλοποίηση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Μέσα από την κατασκευή πρωτοτύπου.</a:t>
            </a:r>
            <a:endParaRPr sz="1600" dirty="0">
              <a:latin typeface="Verdana"/>
              <a:ea typeface="Verdana"/>
              <a:cs typeface="Verdana"/>
              <a:sym typeface="Verdana"/>
            </a:endParaRPr>
          </a:p>
          <a:p>
            <a:pPr marL="285750" lvl="0" indent="-285750">
              <a:spcBef>
                <a:spcPts val="0"/>
              </a:spcBef>
              <a:buSzPts val="2320"/>
            </a:pPr>
            <a:r>
              <a:rPr lang="el-GR" sz="1600" dirty="0">
                <a:latin typeface="Verdana"/>
                <a:ea typeface="Verdana"/>
                <a:cs typeface="Verdana"/>
                <a:sym typeface="Verdana"/>
              </a:rPr>
              <a:t>Εύκολος εντοπισμός και διόρθωση σφαλμάτων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Μέσα από την αξιολόγηση του πρωτοτύπου.</a:t>
            </a:r>
            <a:endParaRPr dirty="0"/>
          </a:p>
          <a:p>
            <a:pPr marL="285750" lvl="0" indent="-285750">
              <a:spcBef>
                <a:spcPts val="0"/>
              </a:spcBef>
              <a:buSzPts val="2320"/>
            </a:pPr>
            <a:r>
              <a:rPr lang="el-GR" sz="1600" dirty="0">
                <a:latin typeface="Verdana"/>
                <a:ea typeface="Verdana"/>
                <a:cs typeface="Verdana"/>
                <a:sym typeface="Verdana"/>
              </a:rPr>
              <a:t>Ευέλικτη δομή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Μέσα από την ανακατασκευή του πρωτοτύπου.</a:t>
            </a:r>
            <a:endParaRPr sz="1600" dirty="0">
              <a:latin typeface="Verdana"/>
              <a:ea typeface="Verdana"/>
              <a:cs typeface="Verdana"/>
              <a:sym typeface="Verdana"/>
            </a:endParaRPr>
          </a:p>
          <a:p>
            <a:pPr marL="285750" lvl="0" indent="-285750" algn="l" rtl="0">
              <a:spcBef>
                <a:spcPts val="0"/>
              </a:spcBef>
              <a:spcAft>
                <a:spcPts val="0"/>
              </a:spcAft>
              <a:buSzPts val="2320"/>
              <a:buChar char="•"/>
            </a:pPr>
            <a:r>
              <a:rPr lang="el-GR" sz="1600" dirty="0">
                <a:latin typeface="Verdana"/>
                <a:ea typeface="Verdana"/>
                <a:cs typeface="Verdana"/>
                <a:sym typeface="Verdana"/>
              </a:rPr>
              <a:t>Οικονομικό κόστος συντήρησης </a:t>
            </a:r>
            <a:endParaRPr dirty="0"/>
          </a:p>
          <a:p>
            <a:pPr marL="0" lvl="0" indent="0" algn="l" rtl="0">
              <a:spcBef>
                <a:spcPts val="920"/>
              </a:spcBef>
              <a:spcAft>
                <a:spcPts val="0"/>
              </a:spcAft>
              <a:buSzPts val="2320"/>
              <a:buNone/>
            </a:pPr>
            <a:r>
              <a:rPr lang="el-GR" sz="1600" dirty="0">
                <a:latin typeface="Verdana"/>
                <a:ea typeface="Verdana"/>
                <a:cs typeface="Verdana"/>
                <a:sym typeface="Verdana"/>
              </a:rPr>
              <a:t/>
            </a:r>
            <a:br>
              <a:rPr lang="el-GR" sz="1600" dirty="0">
                <a:latin typeface="Verdana"/>
                <a:ea typeface="Verdana"/>
                <a:cs typeface="Verdana"/>
                <a:sym typeface="Verdana"/>
              </a:rPr>
            </a:br>
            <a:endParaRPr sz="1600" dirty="0">
              <a:latin typeface="Verdana"/>
              <a:ea typeface="Verdana"/>
              <a:cs typeface="Verdana"/>
              <a:sym typeface="Verdana"/>
            </a:endParaRPr>
          </a:p>
        </p:txBody>
      </p:sp>
      <p:sp>
        <p:nvSpPr>
          <p:cNvPr id="240" name="Google Shape;240;p15"/>
          <p:cNvSpPr/>
          <p:nvPr/>
        </p:nvSpPr>
        <p:spPr>
          <a:xfrm>
            <a:off x="1484310" y="1104495"/>
            <a:ext cx="3299301"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2000" b="1" dirty="0" smtClean="0">
                <a:solidFill>
                  <a:schemeClr val="dk1"/>
                </a:solidFill>
                <a:latin typeface="Verdana"/>
                <a:ea typeface="Verdana"/>
                <a:cs typeface="Verdana"/>
                <a:sym typeface="Verdana"/>
              </a:rPr>
              <a:t>1.3.2. </a:t>
            </a:r>
            <a:r>
              <a:rPr lang="el-GR" sz="2000" b="1" dirty="0">
                <a:solidFill>
                  <a:schemeClr val="dk1"/>
                </a:solidFill>
                <a:latin typeface="Verdana"/>
                <a:ea typeface="Verdana"/>
                <a:cs typeface="Verdana"/>
                <a:sym typeface="Verdana"/>
              </a:rPr>
              <a:t>Πλεονεκτήματα</a:t>
            </a:r>
            <a:endParaRPr sz="2000" b="1" dirty="0">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16"/>
          <p:cNvSpPr txBox="1">
            <a:spLocks noGrp="1"/>
          </p:cNvSpPr>
          <p:nvPr>
            <p:ph type="title"/>
          </p:nvPr>
        </p:nvSpPr>
        <p:spPr>
          <a:xfrm>
            <a:off x="1484310" y="1"/>
            <a:ext cx="1001871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1.3. Το μοντέλο πρωτοτυποποίησης</a:t>
            </a:r>
            <a:endParaRPr sz="3000" b="1">
              <a:latin typeface="Verdana"/>
              <a:ea typeface="Verdana"/>
              <a:cs typeface="Verdana"/>
              <a:sym typeface="Verdana"/>
            </a:endParaRPr>
          </a:p>
        </p:txBody>
      </p:sp>
      <p:sp>
        <p:nvSpPr>
          <p:cNvPr id="246" name="Google Shape;246;p16"/>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rmAutofit/>
          </a:bodyPr>
          <a:lstStyle/>
          <a:p>
            <a:pPr marL="285750" lvl="0" indent="-285750">
              <a:spcBef>
                <a:spcPts val="0"/>
              </a:spcBef>
              <a:buSzPts val="2320"/>
            </a:pPr>
            <a:r>
              <a:rPr lang="el-GR" sz="1600" dirty="0">
                <a:latin typeface="Verdana"/>
                <a:ea typeface="Verdana"/>
                <a:cs typeface="Verdana"/>
                <a:sym typeface="Verdana"/>
              </a:rPr>
              <a:t>Κακή Συνεργασία με τον Πελάτη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Οι αλλαγές στις απαιτήσεις δημιουργούν σύγχυση.</a:t>
            </a:r>
            <a:endParaRPr dirty="0"/>
          </a:p>
          <a:p>
            <a:pPr marL="285750" lvl="0" indent="-285750">
              <a:spcBef>
                <a:spcPts val="920"/>
              </a:spcBef>
              <a:buSzPts val="2320"/>
            </a:pPr>
            <a:r>
              <a:rPr lang="el-GR" sz="1600" dirty="0">
                <a:latin typeface="Verdana"/>
                <a:ea typeface="Verdana"/>
                <a:cs typeface="Verdana"/>
                <a:sym typeface="Verdana"/>
              </a:rPr>
              <a:t>Οικονομική Επιβάρυνση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Ακριβός εξοπλισμός χρησιμοποιείται για τα πρωτότυπα.</a:t>
            </a:r>
            <a:endParaRPr dirty="0"/>
          </a:p>
          <a:p>
            <a:pPr marL="285750" lvl="0" indent="-285750">
              <a:spcBef>
                <a:spcPts val="920"/>
              </a:spcBef>
              <a:buSzPts val="2320"/>
            </a:pPr>
            <a:r>
              <a:rPr lang="el-GR" sz="1600" dirty="0">
                <a:latin typeface="Verdana"/>
                <a:ea typeface="Verdana"/>
                <a:cs typeface="Verdana"/>
                <a:sym typeface="Verdana"/>
              </a:rPr>
              <a:t>Χρονοβόρα Διαδικασία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Η κατασκευή πρωτοτύπων καθυστερεί το τελικό έργο.</a:t>
            </a:r>
            <a:endParaRPr dirty="0"/>
          </a:p>
          <a:p>
            <a:pPr marL="285750" lvl="0" indent="-285750">
              <a:spcBef>
                <a:spcPts val="920"/>
              </a:spcBef>
              <a:buSzPts val="2320"/>
            </a:pPr>
            <a:r>
              <a:rPr lang="el-GR" sz="1600" dirty="0">
                <a:latin typeface="Verdana"/>
                <a:ea typeface="Verdana"/>
                <a:cs typeface="Verdana"/>
                <a:sym typeface="Verdana"/>
              </a:rPr>
              <a:t>Απόσπαση Προσοχής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Η ομάδα ανάπτυξης αποσπάται από το κύριο έργο.</a:t>
            </a:r>
            <a:endParaRPr dirty="0"/>
          </a:p>
          <a:p>
            <a:pPr marL="285750" lvl="0" indent="-285750">
              <a:spcBef>
                <a:spcPts val="920"/>
              </a:spcBef>
              <a:buSzPts val="2320"/>
            </a:pPr>
            <a:r>
              <a:rPr lang="el-GR" sz="1600" dirty="0">
                <a:latin typeface="Verdana"/>
                <a:ea typeface="Verdana"/>
                <a:cs typeface="Verdana"/>
                <a:sym typeface="Verdana"/>
              </a:rPr>
              <a:t>Εκτεταμένη Βιασύνη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Η πίεση για γρήγορη ολοκλήρωση οδηγεί σε αστοχίες.</a:t>
            </a:r>
            <a:endParaRPr dirty="0"/>
          </a:p>
          <a:p>
            <a:pPr marL="285750" lvl="0" indent="-285750">
              <a:spcBef>
                <a:spcPts val="920"/>
              </a:spcBef>
              <a:buSzPts val="2320"/>
            </a:pPr>
            <a:r>
              <a:rPr lang="el-GR" sz="1600" dirty="0">
                <a:latin typeface="Verdana"/>
                <a:ea typeface="Verdana"/>
                <a:cs typeface="Verdana"/>
                <a:sym typeface="Verdana"/>
              </a:rPr>
              <a:t>Μικρό Μέγεθος Έργου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Το τελικό αποτέλεσμα μπορεί να μην ικανοποιεί πλήρως τις απαιτήσεις του πελάτη.</a:t>
            </a:r>
            <a:endParaRPr dirty="0"/>
          </a:p>
          <a:p>
            <a:pPr marL="0" lvl="0" indent="0" algn="l" rtl="0">
              <a:spcBef>
                <a:spcPts val="920"/>
              </a:spcBef>
              <a:spcAft>
                <a:spcPts val="0"/>
              </a:spcAft>
              <a:buSzPts val="2320"/>
              <a:buNone/>
            </a:pPr>
            <a:endParaRPr sz="1600" dirty="0">
              <a:latin typeface="Verdana"/>
              <a:ea typeface="Verdana"/>
              <a:cs typeface="Verdana"/>
              <a:sym typeface="Verdana"/>
            </a:endParaRPr>
          </a:p>
        </p:txBody>
      </p:sp>
      <p:sp>
        <p:nvSpPr>
          <p:cNvPr id="247" name="Google Shape;247;p16"/>
          <p:cNvSpPr/>
          <p:nvPr/>
        </p:nvSpPr>
        <p:spPr>
          <a:xfrm>
            <a:off x="1484310" y="1104495"/>
            <a:ext cx="324960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2000" b="1" dirty="0" smtClean="0">
                <a:solidFill>
                  <a:schemeClr val="dk1"/>
                </a:solidFill>
                <a:latin typeface="Verdana"/>
                <a:ea typeface="Verdana"/>
                <a:cs typeface="Verdana"/>
                <a:sym typeface="Verdana"/>
              </a:rPr>
              <a:t>1.3.3. </a:t>
            </a:r>
            <a:r>
              <a:rPr lang="el-GR" sz="2000" b="1" dirty="0">
                <a:solidFill>
                  <a:schemeClr val="dk1"/>
                </a:solidFill>
                <a:latin typeface="Verdana"/>
                <a:ea typeface="Verdana"/>
                <a:cs typeface="Verdana"/>
                <a:sym typeface="Verdana"/>
              </a:rPr>
              <a:t>Μειονεκτήματα</a:t>
            </a:r>
            <a:endParaRPr sz="2000" b="1" dirty="0">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17"/>
          <p:cNvSpPr txBox="1">
            <a:spLocks noGrp="1"/>
          </p:cNvSpPr>
          <p:nvPr>
            <p:ph type="title"/>
          </p:nvPr>
        </p:nvSpPr>
        <p:spPr>
          <a:xfrm>
            <a:off x="1484310" y="1"/>
            <a:ext cx="1001871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1.3. Το μοντέλο πρωτοτυποποίησης</a:t>
            </a:r>
            <a:endParaRPr sz="3000" b="1">
              <a:latin typeface="Verdana"/>
              <a:ea typeface="Verdana"/>
              <a:cs typeface="Verdana"/>
              <a:sym typeface="Verdana"/>
            </a:endParaRPr>
          </a:p>
        </p:txBody>
      </p:sp>
      <p:sp>
        <p:nvSpPr>
          <p:cNvPr id="253" name="Google Shape;253;p17"/>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2320"/>
              <a:buNone/>
            </a:pPr>
            <a:r>
              <a:rPr lang="el-GR" sz="1600" dirty="0">
                <a:latin typeface="Verdana"/>
                <a:ea typeface="Verdana"/>
                <a:cs typeface="Verdana"/>
                <a:sym typeface="Verdana"/>
              </a:rPr>
              <a:t>Η πρωτοτυποποίηση είναι ιδανική για έργα με ασαφείς απαιτήσεις, αλλά η προσοχή σε πιθανά προβλήματα συνεργασίας και οικονομικής επιβάρυνσης είναι ουσιώδεις.</a:t>
            </a:r>
            <a:endParaRPr sz="1600" dirty="0">
              <a:latin typeface="Verdana"/>
              <a:ea typeface="Verdana"/>
              <a:cs typeface="Verdana"/>
              <a:sym typeface="Verdana"/>
            </a:endParaRPr>
          </a:p>
        </p:txBody>
      </p:sp>
      <p:sp>
        <p:nvSpPr>
          <p:cNvPr id="254" name="Google Shape;254;p17"/>
          <p:cNvSpPr/>
          <p:nvPr/>
        </p:nvSpPr>
        <p:spPr>
          <a:xfrm>
            <a:off x="1484310" y="1104495"/>
            <a:ext cx="222368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2000" b="1" dirty="0" smtClean="0">
                <a:solidFill>
                  <a:schemeClr val="dk1"/>
                </a:solidFill>
                <a:latin typeface="Verdana"/>
                <a:ea typeface="Verdana"/>
                <a:cs typeface="Verdana"/>
                <a:sym typeface="Verdana"/>
              </a:rPr>
              <a:t>1.3.4. </a:t>
            </a:r>
            <a:r>
              <a:rPr lang="el-GR" sz="2000" b="1" dirty="0">
                <a:solidFill>
                  <a:schemeClr val="dk1"/>
                </a:solidFill>
                <a:latin typeface="Verdana"/>
                <a:ea typeface="Verdana"/>
                <a:cs typeface="Verdana"/>
                <a:sym typeface="Verdana"/>
              </a:rPr>
              <a:t>Σύνοψη</a:t>
            </a:r>
            <a:endParaRPr sz="2000" b="1" dirty="0">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18"/>
          <p:cNvSpPr txBox="1">
            <a:spLocks noGrp="1"/>
          </p:cNvSpPr>
          <p:nvPr>
            <p:ph type="title"/>
          </p:nvPr>
        </p:nvSpPr>
        <p:spPr>
          <a:xfrm>
            <a:off x="2003367" y="149629"/>
            <a:ext cx="9144000" cy="764771"/>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1.4. Το μοντέλο λειτουργικής επαύξησης</a:t>
            </a:r>
            <a:endParaRPr sz="3000">
              <a:latin typeface="Verdana"/>
              <a:ea typeface="Verdana"/>
              <a:cs typeface="Verdana"/>
              <a:sym typeface="Verdana"/>
            </a:endParaRPr>
          </a:p>
        </p:txBody>
      </p:sp>
      <p:sp>
        <p:nvSpPr>
          <p:cNvPr id="260" name="Google Shape;260;p18"/>
          <p:cNvSpPr txBox="1">
            <a:spLocks noGrp="1"/>
          </p:cNvSpPr>
          <p:nvPr>
            <p:ph type="body" idx="2"/>
          </p:nvPr>
        </p:nvSpPr>
        <p:spPr>
          <a:xfrm>
            <a:off x="1484310" y="914400"/>
            <a:ext cx="3549121" cy="4987636"/>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2320"/>
              <a:buNone/>
            </a:pPr>
            <a:r>
              <a:rPr lang="el-GR">
                <a:latin typeface="Verdana"/>
                <a:ea typeface="Verdana"/>
                <a:cs typeface="Verdana"/>
                <a:sym typeface="Verdana"/>
              </a:rPr>
              <a:t>Το μοντέλο της λειτουργικής επαύξησης συνδυάζει την ακολουθιακή ανάπτυξη του μοντέλου καταρράκτη με την τμηματική ανάπτυξη του μοντέλου πρωτοτυποποίησης. </a:t>
            </a:r>
            <a:endParaRPr>
              <a:latin typeface="Verdana"/>
              <a:ea typeface="Verdana"/>
              <a:cs typeface="Verdana"/>
              <a:sym typeface="Verdana"/>
            </a:endParaRPr>
          </a:p>
          <a:p>
            <a:pPr marL="0" lvl="0" indent="0" algn="l" rtl="0">
              <a:spcBef>
                <a:spcPts val="0"/>
              </a:spcBef>
              <a:spcAft>
                <a:spcPts val="0"/>
              </a:spcAft>
              <a:buSzPts val="2320"/>
              <a:buNone/>
            </a:pPr>
            <a:r>
              <a:rPr lang="el-GR">
                <a:latin typeface="Verdana"/>
                <a:ea typeface="Verdana"/>
                <a:cs typeface="Verdana"/>
                <a:sym typeface="Verdana"/>
              </a:rPr>
              <a:t>Η κεντρική ιδέα είναι να διαμορφωθεί το λογισμικό σε τμήματα που αναπτύσσονται ανεξάρτητα. Κάθε τμήμα ακολουθεί ακολουθιακή ανάπτυξη, όπως παρόμοια γίνεται στο μοντέλο καταρράκτη.</a:t>
            </a:r>
            <a:endParaRPr>
              <a:latin typeface="Verdana"/>
              <a:ea typeface="Verdana"/>
              <a:cs typeface="Verdana"/>
              <a:sym typeface="Verdana"/>
            </a:endParaRPr>
          </a:p>
        </p:txBody>
      </p:sp>
      <p:sp>
        <p:nvSpPr>
          <p:cNvPr id="261" name="Google Shape;261;p18"/>
          <p:cNvSpPr txBox="1"/>
          <p:nvPr/>
        </p:nvSpPr>
        <p:spPr>
          <a:xfrm>
            <a:off x="1484310" y="1134687"/>
            <a:ext cx="315052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2000" b="1">
                <a:solidFill>
                  <a:schemeClr val="dk1"/>
                </a:solidFill>
                <a:latin typeface="Verdana"/>
                <a:ea typeface="Verdana"/>
                <a:cs typeface="Verdana"/>
                <a:sym typeface="Verdana"/>
              </a:rPr>
              <a:t>1.4.1. Εισαγωγή</a:t>
            </a:r>
            <a:endParaRPr sz="2000" b="1">
              <a:solidFill>
                <a:schemeClr val="dk1"/>
              </a:solidFill>
              <a:latin typeface="Verdana"/>
              <a:ea typeface="Verdana"/>
              <a:cs typeface="Verdana"/>
              <a:sym typeface="Verdana"/>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35547" y="1495176"/>
            <a:ext cx="6512037" cy="3826084"/>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19"/>
          <p:cNvSpPr txBox="1">
            <a:spLocks noGrp="1"/>
          </p:cNvSpPr>
          <p:nvPr>
            <p:ph type="title"/>
          </p:nvPr>
        </p:nvSpPr>
        <p:spPr>
          <a:xfrm>
            <a:off x="1484310" y="1"/>
            <a:ext cx="1001871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1.4. Το μοντέλο λειτουργικής επαύξησης</a:t>
            </a:r>
            <a:endParaRPr sz="3000" b="1">
              <a:latin typeface="Verdana"/>
              <a:ea typeface="Verdana"/>
              <a:cs typeface="Verdana"/>
              <a:sym typeface="Verdana"/>
            </a:endParaRPr>
          </a:p>
        </p:txBody>
      </p:sp>
      <p:sp>
        <p:nvSpPr>
          <p:cNvPr id="268" name="Google Shape;268;p19"/>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rmAutofit/>
          </a:bodyPr>
          <a:lstStyle/>
          <a:p>
            <a:pPr marL="285750" lvl="0" indent="-285750">
              <a:spcBef>
                <a:spcPts val="0"/>
              </a:spcBef>
              <a:buSzPts val="2320"/>
            </a:pPr>
            <a:r>
              <a:rPr lang="el-GR" sz="1600" dirty="0">
                <a:latin typeface="Verdana"/>
                <a:ea typeface="Verdana"/>
                <a:cs typeface="Verdana"/>
                <a:sym typeface="Verdana"/>
              </a:rPr>
              <a:t>Δυνατότητα Παράλληλης Ανάπτυξης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Ανάπτυξη πολλαπλών τμημάτων ταυτόχρονα.</a:t>
            </a:r>
            <a:endParaRPr dirty="0"/>
          </a:p>
          <a:p>
            <a:pPr marL="285750" lvl="0" indent="-285750">
              <a:spcBef>
                <a:spcPts val="920"/>
              </a:spcBef>
              <a:buSzPts val="2320"/>
            </a:pPr>
            <a:r>
              <a:rPr lang="el-GR" sz="1600" dirty="0">
                <a:latin typeface="Verdana"/>
                <a:ea typeface="Verdana"/>
                <a:cs typeface="Verdana"/>
                <a:sym typeface="Verdana"/>
              </a:rPr>
              <a:t>Σταδιακή Αναβάθμιση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Αυξητική ενίσχυση των λειτουργιών κατά στάδια.</a:t>
            </a:r>
            <a:endParaRPr dirty="0"/>
          </a:p>
          <a:p>
            <a:pPr marL="285750" lvl="0" indent="-285750">
              <a:spcBef>
                <a:spcPts val="920"/>
              </a:spcBef>
              <a:buSzPts val="2320"/>
            </a:pPr>
            <a:r>
              <a:rPr lang="el-GR" sz="1600" dirty="0">
                <a:latin typeface="Verdana"/>
                <a:ea typeface="Verdana"/>
                <a:cs typeface="Verdana"/>
                <a:sym typeface="Verdana"/>
              </a:rPr>
              <a:t>Ευκολία Διόρθωσης Σφαλμάτων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Ευνοεί τον εντοπισμό και τη διόρθωση σφαλμάτων.</a:t>
            </a:r>
            <a:endParaRPr dirty="0"/>
          </a:p>
        </p:txBody>
      </p:sp>
      <p:sp>
        <p:nvSpPr>
          <p:cNvPr id="269" name="Google Shape;269;p19"/>
          <p:cNvSpPr/>
          <p:nvPr/>
        </p:nvSpPr>
        <p:spPr>
          <a:xfrm>
            <a:off x="1484310" y="1104495"/>
            <a:ext cx="3299301"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2000" b="1">
                <a:solidFill>
                  <a:schemeClr val="dk1"/>
                </a:solidFill>
                <a:latin typeface="Verdana"/>
                <a:ea typeface="Verdana"/>
                <a:cs typeface="Verdana"/>
                <a:sym typeface="Verdana"/>
              </a:rPr>
              <a:t>1.4.2. Πλεονεκτήματα</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20"/>
          <p:cNvSpPr txBox="1">
            <a:spLocks noGrp="1"/>
          </p:cNvSpPr>
          <p:nvPr>
            <p:ph type="title"/>
          </p:nvPr>
        </p:nvSpPr>
        <p:spPr>
          <a:xfrm>
            <a:off x="1484310" y="1"/>
            <a:ext cx="1001871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1.4. Το μοντέλο λειτουργικής επαύξησης</a:t>
            </a:r>
            <a:endParaRPr sz="3000" b="1">
              <a:latin typeface="Verdana"/>
              <a:ea typeface="Verdana"/>
              <a:cs typeface="Verdana"/>
              <a:sym typeface="Verdana"/>
            </a:endParaRPr>
          </a:p>
        </p:txBody>
      </p:sp>
      <p:sp>
        <p:nvSpPr>
          <p:cNvPr id="275" name="Google Shape;275;p20"/>
          <p:cNvSpPr txBox="1">
            <a:spLocks noGrp="1"/>
          </p:cNvSpPr>
          <p:nvPr>
            <p:ph type="body" idx="1"/>
          </p:nvPr>
        </p:nvSpPr>
        <p:spPr>
          <a:xfrm>
            <a:off x="1484300" y="2170225"/>
            <a:ext cx="10170300" cy="3124200"/>
          </a:xfrm>
          <a:prstGeom prst="rect">
            <a:avLst/>
          </a:prstGeom>
          <a:noFill/>
          <a:ln>
            <a:noFill/>
          </a:ln>
        </p:spPr>
        <p:txBody>
          <a:bodyPr spcFirstLastPara="1" wrap="square" lIns="91425" tIns="45700" rIns="91425" bIns="45700" anchor="ctr" anchorCtr="0">
            <a:normAutofit/>
          </a:bodyPr>
          <a:lstStyle/>
          <a:p>
            <a:pPr marL="285750" lvl="0" indent="-285750">
              <a:spcBef>
                <a:spcPts val="0"/>
              </a:spcBef>
              <a:buSzPts val="2320"/>
            </a:pPr>
            <a:r>
              <a:rPr lang="el-GR" sz="1600" dirty="0">
                <a:latin typeface="Verdana"/>
                <a:ea typeface="Verdana"/>
                <a:cs typeface="Verdana"/>
                <a:sym typeface="Verdana"/>
              </a:rPr>
              <a:t>Σημασία Αρχικής </a:t>
            </a:r>
            <a:r>
              <a:rPr lang="el-GR" sz="1600" dirty="0" smtClean="0">
                <a:latin typeface="Verdana"/>
                <a:ea typeface="Verdana"/>
                <a:cs typeface="Verdana"/>
                <a:sym typeface="Verdana"/>
              </a:rPr>
              <a:t>Διαμέρισης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Η ποιότητα της αρχικής δομής επηρεάζει το τελικό αποτέλεσμα.</a:t>
            </a:r>
            <a:endParaRPr dirty="0"/>
          </a:p>
          <a:p>
            <a:pPr marL="285750" lvl="0" indent="-285750">
              <a:spcBef>
                <a:spcPts val="920"/>
              </a:spcBef>
              <a:buSzPts val="2320"/>
            </a:pPr>
            <a:r>
              <a:rPr lang="el-GR" sz="1600" dirty="0">
                <a:latin typeface="Verdana"/>
                <a:ea typeface="Verdana"/>
                <a:cs typeface="Verdana"/>
                <a:sym typeface="Verdana"/>
              </a:rPr>
              <a:t>Αλλαγές στις Απαιτήσεις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Μπορούν να απαιτήσουν σημαντική αναδιάταξη.</a:t>
            </a:r>
            <a:endParaRPr dirty="0"/>
          </a:p>
          <a:p>
            <a:pPr marL="285750" lvl="0" indent="-285750">
              <a:spcBef>
                <a:spcPts val="920"/>
              </a:spcBef>
              <a:buSzPts val="2320"/>
            </a:pPr>
            <a:r>
              <a:rPr lang="el-GR" sz="1600" dirty="0">
                <a:latin typeface="Verdana"/>
                <a:ea typeface="Verdana"/>
                <a:cs typeface="Verdana"/>
                <a:sym typeface="Verdana"/>
              </a:rPr>
              <a:t>Μεταβολή Αρχιτεκτονικής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Επιδρά στην ανάπτυξη άλλων τμημάτων.</a:t>
            </a:r>
            <a:endParaRPr dirty="0"/>
          </a:p>
        </p:txBody>
      </p:sp>
      <p:sp>
        <p:nvSpPr>
          <p:cNvPr id="276" name="Google Shape;276;p20"/>
          <p:cNvSpPr/>
          <p:nvPr/>
        </p:nvSpPr>
        <p:spPr>
          <a:xfrm>
            <a:off x="1484310" y="1104495"/>
            <a:ext cx="324960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2000" b="1">
                <a:solidFill>
                  <a:schemeClr val="dk1"/>
                </a:solidFill>
                <a:latin typeface="Verdana"/>
                <a:ea typeface="Verdana"/>
                <a:cs typeface="Verdana"/>
                <a:sym typeface="Verdana"/>
              </a:rPr>
              <a:t>1.4.3. Μειονεκτήματα</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21"/>
          <p:cNvSpPr txBox="1">
            <a:spLocks noGrp="1"/>
          </p:cNvSpPr>
          <p:nvPr>
            <p:ph type="title"/>
          </p:nvPr>
        </p:nvSpPr>
        <p:spPr>
          <a:xfrm>
            <a:off x="1484310" y="1"/>
            <a:ext cx="1001871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1.4. Το μοντέλο λειτουργικής επαύξησης</a:t>
            </a:r>
            <a:endParaRPr sz="3000" b="1">
              <a:latin typeface="Verdana"/>
              <a:ea typeface="Verdana"/>
              <a:cs typeface="Verdana"/>
              <a:sym typeface="Verdana"/>
            </a:endParaRPr>
          </a:p>
        </p:txBody>
      </p:sp>
      <p:sp>
        <p:nvSpPr>
          <p:cNvPr id="282" name="Google Shape;282;p21"/>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2320"/>
              <a:buNone/>
            </a:pPr>
            <a:r>
              <a:rPr lang="el-GR" sz="1600">
                <a:latin typeface="Verdana"/>
                <a:ea typeface="Verdana"/>
                <a:cs typeface="Verdana"/>
                <a:sym typeface="Verdana"/>
              </a:rPr>
              <a:t>Η λειτουργική επαύξηση προσφέρει ταχύτητα και σταδιακή ανάπτυξη, αλλά η σωστή αρχική δομή και η διαχείριση αλλαγών είναι κρίσιμες. Η προσεκτική διαχείριση είναι απαραίτητη για επιτυχή ολοκλήρωση του έργου.</a:t>
            </a:r>
            <a:endParaRPr sz="1100">
              <a:latin typeface="Verdana"/>
              <a:ea typeface="Verdana"/>
              <a:cs typeface="Verdana"/>
              <a:sym typeface="Verdana"/>
            </a:endParaRPr>
          </a:p>
        </p:txBody>
      </p:sp>
      <p:sp>
        <p:nvSpPr>
          <p:cNvPr id="283" name="Google Shape;283;p21"/>
          <p:cNvSpPr/>
          <p:nvPr/>
        </p:nvSpPr>
        <p:spPr>
          <a:xfrm>
            <a:off x="1484310" y="1104495"/>
            <a:ext cx="222368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2000" b="1">
                <a:solidFill>
                  <a:schemeClr val="dk1"/>
                </a:solidFill>
                <a:latin typeface="Verdana"/>
                <a:ea typeface="Verdana"/>
                <a:cs typeface="Verdana"/>
                <a:sym typeface="Verdana"/>
              </a:rPr>
              <a:t>1.4.4. Σύνοψη</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22"/>
          <p:cNvSpPr txBox="1">
            <a:spLocks noGrp="1"/>
          </p:cNvSpPr>
          <p:nvPr>
            <p:ph type="title"/>
          </p:nvPr>
        </p:nvSpPr>
        <p:spPr>
          <a:xfrm>
            <a:off x="1675505" y="399012"/>
            <a:ext cx="9056227" cy="37667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Clr>
                <a:schemeClr val="dk1"/>
              </a:buClr>
              <a:buSzPts val="3200"/>
              <a:buFont typeface="Verdana"/>
              <a:buNone/>
            </a:pPr>
            <a:r>
              <a:rPr lang="el-GR" sz="3200" b="1">
                <a:latin typeface="Verdana"/>
                <a:ea typeface="Verdana"/>
                <a:cs typeface="Verdana"/>
                <a:sym typeface="Verdana"/>
              </a:rPr>
              <a:t>1.5. Το σπειροειδές μοντέλο</a:t>
            </a:r>
            <a:endParaRPr sz="3200"/>
          </a:p>
        </p:txBody>
      </p:sp>
      <p:sp>
        <p:nvSpPr>
          <p:cNvPr id="289" name="Google Shape;289;p22"/>
          <p:cNvSpPr txBox="1">
            <a:spLocks noGrp="1"/>
          </p:cNvSpPr>
          <p:nvPr>
            <p:ph type="body" idx="2"/>
          </p:nvPr>
        </p:nvSpPr>
        <p:spPr>
          <a:xfrm>
            <a:off x="1461451" y="2565386"/>
            <a:ext cx="3549000" cy="1641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SzPts val="2320"/>
              <a:buNone/>
            </a:pPr>
            <a:r>
              <a:rPr lang="el-GR">
                <a:latin typeface="Verdana"/>
                <a:ea typeface="Verdana"/>
                <a:cs typeface="Verdana"/>
                <a:sym typeface="Verdana"/>
              </a:rPr>
              <a:t>Το σπειροειδές μοντέλο ανάπτυξης λογισμικού παρουσιάζεται ως μία σπείρα με κύκλους, κάθε ένας από αυτούς αντιπροσωπεύει μία φάση έργου. Κάθε ολοκλήρωση φάσης σημαίνει ολοκλήρωση τμήματος έργου ή έτοιμο πρωτότυπο για προώθηση. Οι κύκλοι προσαρμόζονται στο μέγεθος του έργου.</a:t>
            </a:r>
            <a:endParaRPr>
              <a:latin typeface="Verdana"/>
              <a:ea typeface="Verdana"/>
              <a:cs typeface="Verdana"/>
              <a:sym typeface="Verdana"/>
            </a:endParaRPr>
          </a:p>
        </p:txBody>
      </p:sp>
      <p:sp>
        <p:nvSpPr>
          <p:cNvPr id="290" name="Google Shape;290;p22"/>
          <p:cNvSpPr/>
          <p:nvPr/>
        </p:nvSpPr>
        <p:spPr>
          <a:xfrm>
            <a:off x="1542501" y="775682"/>
            <a:ext cx="247375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2000" b="1">
                <a:solidFill>
                  <a:schemeClr val="dk1"/>
                </a:solidFill>
                <a:latin typeface="Verdana"/>
                <a:ea typeface="Verdana"/>
                <a:cs typeface="Verdana"/>
                <a:sym typeface="Verdana"/>
              </a:rPr>
              <a:t>1.5.1. Εισαγωγή</a:t>
            </a:r>
            <a:endParaRPr sz="2000" b="1">
              <a:solidFill>
                <a:schemeClr val="dk1"/>
              </a:solidFill>
              <a:latin typeface="Verdana"/>
              <a:ea typeface="Verdana"/>
              <a:cs typeface="Verdana"/>
              <a:sym typeface="Verdana"/>
            </a:endParaRPr>
          </a:p>
        </p:txBody>
      </p:sp>
      <p:pic>
        <p:nvPicPr>
          <p:cNvPr id="291" name="Google Shape;291;p22"/>
          <p:cNvPicPr preferRelativeResize="0"/>
          <p:nvPr/>
        </p:nvPicPr>
        <p:blipFill>
          <a:blip r:embed="rId3">
            <a:alphaModFix/>
          </a:blip>
          <a:stretch>
            <a:fillRect/>
          </a:stretch>
        </p:blipFill>
        <p:spPr>
          <a:xfrm>
            <a:off x="5193747" y="1189844"/>
            <a:ext cx="6795579" cy="4478312"/>
          </a:xfrm>
          <a:prstGeom prst="rect">
            <a:avLst/>
          </a:prstGeom>
          <a:noFill/>
          <a:ln>
            <a:noFill/>
          </a:ln>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24"/>
          <p:cNvSpPr txBox="1">
            <a:spLocks noGrp="1"/>
          </p:cNvSpPr>
          <p:nvPr>
            <p:ph type="title"/>
          </p:nvPr>
        </p:nvSpPr>
        <p:spPr>
          <a:xfrm>
            <a:off x="1484310" y="1"/>
            <a:ext cx="1001871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1.5. Το σπειροειδές μοντέλο </a:t>
            </a:r>
            <a:endParaRPr sz="3000" b="1">
              <a:latin typeface="Verdana"/>
              <a:ea typeface="Verdana"/>
              <a:cs typeface="Verdana"/>
              <a:sym typeface="Verdana"/>
            </a:endParaRPr>
          </a:p>
        </p:txBody>
      </p:sp>
      <p:sp>
        <p:nvSpPr>
          <p:cNvPr id="304" name="Google Shape;304;p24"/>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rmAutofit/>
          </a:bodyPr>
          <a:lstStyle/>
          <a:p>
            <a:pPr marL="285750" lvl="0" indent="-285750">
              <a:spcBef>
                <a:spcPts val="0"/>
              </a:spcBef>
              <a:buSzPts val="2320"/>
            </a:pPr>
            <a:r>
              <a:rPr lang="el-GR" sz="1600" dirty="0">
                <a:latin typeface="Verdana"/>
                <a:ea typeface="Verdana"/>
                <a:cs typeface="Verdana"/>
                <a:sym typeface="Verdana"/>
              </a:rPr>
              <a:t>Καθορισμός στόχων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Στόχοι, εναλλακτικές λύσεις, περιορισμοί.</a:t>
            </a:r>
            <a:endParaRPr dirty="0"/>
          </a:p>
          <a:p>
            <a:pPr marL="285750" lvl="0" indent="-285750">
              <a:spcBef>
                <a:spcPts val="920"/>
              </a:spcBef>
              <a:buSzPts val="2320"/>
            </a:pPr>
            <a:r>
              <a:rPr lang="el-GR" sz="1600" dirty="0">
                <a:latin typeface="Verdana"/>
                <a:ea typeface="Verdana"/>
                <a:cs typeface="Verdana"/>
                <a:sym typeface="Verdana"/>
              </a:rPr>
              <a:t>Αξιολόγηση εναλλακτικών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Αποφυγή κινδύνων. </a:t>
            </a:r>
          </a:p>
          <a:p>
            <a:pPr marL="285750" lvl="0" indent="-285750">
              <a:spcBef>
                <a:spcPts val="920"/>
              </a:spcBef>
              <a:buSzPts val="2320"/>
            </a:pPr>
            <a:r>
              <a:rPr lang="el-GR" sz="1600" dirty="0" smtClean="0">
                <a:latin typeface="Verdana"/>
                <a:ea typeface="Verdana"/>
                <a:cs typeface="Verdana"/>
                <a:sym typeface="Verdana"/>
              </a:rPr>
              <a:t>Ανάπτυξη </a:t>
            </a:r>
            <a:r>
              <a:rPr lang="el-GR" sz="1600" dirty="0">
                <a:latin typeface="Verdana"/>
                <a:ea typeface="Verdana"/>
                <a:cs typeface="Verdana"/>
                <a:sym typeface="Verdana"/>
              </a:rPr>
              <a:t>προϊόντος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Σύμφωνα με τις απαιτήσεις.</a:t>
            </a:r>
            <a:endParaRPr sz="1600" dirty="0">
              <a:latin typeface="Verdana"/>
              <a:ea typeface="Verdana"/>
              <a:cs typeface="Verdana"/>
              <a:sym typeface="Verdana"/>
            </a:endParaRPr>
          </a:p>
          <a:p>
            <a:pPr marL="285750" lvl="0" indent="-285750">
              <a:spcBef>
                <a:spcPts val="920"/>
              </a:spcBef>
              <a:buSzPts val="2320"/>
            </a:pPr>
            <a:r>
              <a:rPr lang="el-GR" sz="1600" dirty="0">
                <a:latin typeface="Verdana"/>
                <a:ea typeface="Verdana"/>
                <a:cs typeface="Verdana"/>
                <a:sym typeface="Verdana"/>
              </a:rPr>
              <a:t>Σχεδιασμός επόμενων κύκλων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Σχεδιασμός επανάληψης </a:t>
            </a:r>
            <a:r>
              <a:rPr lang="el-GR" sz="1600" dirty="0">
                <a:latin typeface="Verdana"/>
                <a:ea typeface="Verdana"/>
                <a:cs typeface="Verdana"/>
                <a:sym typeface="Verdana"/>
              </a:rPr>
              <a:t>της διαδικασίας.</a:t>
            </a:r>
            <a:endParaRPr dirty="0"/>
          </a:p>
        </p:txBody>
      </p:sp>
      <p:sp>
        <p:nvSpPr>
          <p:cNvPr id="305" name="Google Shape;305;p24"/>
          <p:cNvSpPr/>
          <p:nvPr/>
        </p:nvSpPr>
        <p:spPr>
          <a:xfrm>
            <a:off x="1484310" y="1104495"/>
            <a:ext cx="3299301"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2000" b="1" dirty="0" smtClean="0">
                <a:solidFill>
                  <a:schemeClr val="dk1"/>
                </a:solidFill>
                <a:latin typeface="Verdana"/>
                <a:ea typeface="Verdana"/>
                <a:cs typeface="Verdana"/>
                <a:sym typeface="Verdana"/>
              </a:rPr>
              <a:t>1.5.2. </a:t>
            </a:r>
            <a:r>
              <a:rPr lang="el-GR" sz="2000" b="1" dirty="0">
                <a:solidFill>
                  <a:schemeClr val="dk1"/>
                </a:solidFill>
                <a:latin typeface="Verdana"/>
                <a:ea typeface="Verdana"/>
                <a:cs typeface="Verdana"/>
                <a:sym typeface="Verdana"/>
              </a:rPr>
              <a:t>Στάδια</a:t>
            </a:r>
            <a:endParaRPr sz="2000" b="1" dirty="0">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g2adfc9e2d43_1_1"/>
          <p:cNvSpPr txBox="1">
            <a:spLocks noGrp="1"/>
          </p:cNvSpPr>
          <p:nvPr>
            <p:ph type="title"/>
          </p:nvPr>
        </p:nvSpPr>
        <p:spPr>
          <a:xfrm>
            <a:off x="1484310" y="1"/>
            <a:ext cx="10018800" cy="15045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1.5. Το σπειροειδές μοντέλο </a:t>
            </a:r>
            <a:endParaRPr sz="3000" b="1">
              <a:latin typeface="Verdana"/>
              <a:ea typeface="Verdana"/>
              <a:cs typeface="Verdana"/>
              <a:sym typeface="Verdana"/>
            </a:endParaRPr>
          </a:p>
        </p:txBody>
      </p:sp>
      <p:sp>
        <p:nvSpPr>
          <p:cNvPr id="311" name="Google Shape;311;g2adfc9e2d43_1_1"/>
          <p:cNvSpPr txBox="1">
            <a:spLocks noGrp="1"/>
          </p:cNvSpPr>
          <p:nvPr>
            <p:ph type="body" idx="1"/>
          </p:nvPr>
        </p:nvSpPr>
        <p:spPr>
          <a:xfrm>
            <a:off x="1484310" y="2170216"/>
            <a:ext cx="10018800" cy="3124200"/>
          </a:xfrm>
          <a:prstGeom prst="rect">
            <a:avLst/>
          </a:prstGeom>
          <a:noFill/>
          <a:ln>
            <a:noFill/>
          </a:ln>
        </p:spPr>
        <p:txBody>
          <a:bodyPr spcFirstLastPara="1" wrap="square" lIns="91425" tIns="45700" rIns="91425" bIns="45700" anchor="ctr" anchorCtr="0">
            <a:normAutofit/>
          </a:bodyPr>
          <a:lstStyle/>
          <a:p>
            <a:pPr marL="285750" lvl="0" indent="-285750">
              <a:spcBef>
                <a:spcPts val="0"/>
              </a:spcBef>
              <a:buSzPts val="2320"/>
            </a:pPr>
            <a:r>
              <a:rPr lang="el-GR" sz="1600" dirty="0">
                <a:latin typeface="Verdana"/>
                <a:ea typeface="Verdana"/>
                <a:cs typeface="Verdana"/>
                <a:sym typeface="Verdana"/>
              </a:rPr>
              <a:t>Έμφαση στους Κινδύνους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Προσέγγιση με προληπτική οπτική.</a:t>
            </a:r>
            <a:endParaRPr dirty="0"/>
          </a:p>
          <a:p>
            <a:pPr marL="285750" lvl="0" indent="-285750">
              <a:spcBef>
                <a:spcPts val="920"/>
              </a:spcBef>
              <a:buSzPts val="2320"/>
            </a:pPr>
            <a:r>
              <a:rPr lang="el-GR" sz="1600" dirty="0">
                <a:latin typeface="Verdana"/>
                <a:ea typeface="Verdana"/>
                <a:cs typeface="Verdana"/>
                <a:sym typeface="Verdana"/>
              </a:rPr>
              <a:t>Κατάλληλο για Μεγάλα Έργα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Διαχείριση απαιτήσεων &amp; ενσωμάτωση αλλαγών.</a:t>
            </a:r>
            <a:endParaRPr sz="1600" dirty="0">
              <a:latin typeface="Verdana"/>
              <a:ea typeface="Verdana"/>
              <a:cs typeface="Verdana"/>
              <a:sym typeface="Verdana"/>
            </a:endParaRPr>
          </a:p>
          <a:p>
            <a:pPr marL="285750" lvl="0" indent="-240030">
              <a:spcBef>
                <a:spcPts val="920"/>
              </a:spcBef>
              <a:buSzPts val="1600"/>
              <a:buFont typeface="Verdana"/>
              <a:buChar char="•"/>
            </a:pPr>
            <a:r>
              <a:rPr lang="el-GR" sz="1600" dirty="0">
                <a:latin typeface="Verdana"/>
                <a:ea typeface="Verdana"/>
                <a:cs typeface="Verdana"/>
                <a:sym typeface="Verdana"/>
              </a:rPr>
              <a:t>Βελτιωμένη Ποιότητα &amp; Αξιοπιστία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Επαναλαμβανόμενοι έλεγχοι.</a:t>
            </a:r>
            <a:endParaRPr sz="1600" dirty="0">
              <a:latin typeface="Verdana"/>
              <a:ea typeface="Verdana"/>
              <a:cs typeface="Verdana"/>
              <a:sym typeface="Verdana"/>
            </a:endParaRPr>
          </a:p>
          <a:p>
            <a:pPr marL="285750" lvl="0" indent="-285750">
              <a:spcBef>
                <a:spcPts val="920"/>
              </a:spcBef>
              <a:buSzPts val="2320"/>
            </a:pPr>
            <a:r>
              <a:rPr lang="el-GR" sz="1600" dirty="0">
                <a:latin typeface="Verdana"/>
                <a:ea typeface="Verdana"/>
                <a:cs typeface="Verdana"/>
                <a:sym typeface="Verdana"/>
              </a:rPr>
              <a:t>Ικανοποίηση Πελάτη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Ορατή πρόοδος, ανατροφοδότηση.</a:t>
            </a:r>
            <a:endParaRPr dirty="0"/>
          </a:p>
        </p:txBody>
      </p:sp>
      <p:sp>
        <p:nvSpPr>
          <p:cNvPr id="312" name="Google Shape;312;g2adfc9e2d43_1_1"/>
          <p:cNvSpPr/>
          <p:nvPr/>
        </p:nvSpPr>
        <p:spPr>
          <a:xfrm>
            <a:off x="1484310" y="1104495"/>
            <a:ext cx="3299400" cy="400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l-GR" sz="2000" b="1" dirty="0" smtClean="0">
                <a:solidFill>
                  <a:schemeClr val="dk1"/>
                </a:solidFill>
                <a:latin typeface="Verdana"/>
                <a:ea typeface="Verdana"/>
                <a:cs typeface="Verdana"/>
                <a:sym typeface="Verdana"/>
              </a:rPr>
              <a:t>1.5.3. </a:t>
            </a:r>
            <a:r>
              <a:rPr lang="el-GR" sz="2000" b="1" dirty="0">
                <a:solidFill>
                  <a:schemeClr val="dk1"/>
                </a:solidFill>
                <a:latin typeface="Verdana"/>
                <a:ea typeface="Verdana"/>
                <a:cs typeface="Verdana"/>
                <a:sym typeface="Verdana"/>
              </a:rPr>
              <a:t>Πλεονεκτήματα</a:t>
            </a:r>
            <a:endParaRPr sz="2000" b="1" dirty="0">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25"/>
          <p:cNvSpPr txBox="1">
            <a:spLocks noGrp="1"/>
          </p:cNvSpPr>
          <p:nvPr>
            <p:ph type="title"/>
          </p:nvPr>
        </p:nvSpPr>
        <p:spPr>
          <a:xfrm>
            <a:off x="1484310" y="1"/>
            <a:ext cx="1001871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1.5. Το σπειροειδές μοντέλο </a:t>
            </a:r>
            <a:endParaRPr sz="3000" b="1">
              <a:latin typeface="Verdana"/>
              <a:ea typeface="Verdana"/>
              <a:cs typeface="Verdana"/>
              <a:sym typeface="Verdana"/>
            </a:endParaRPr>
          </a:p>
        </p:txBody>
      </p:sp>
      <p:sp>
        <p:nvSpPr>
          <p:cNvPr id="318" name="Google Shape;318;p25"/>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rmAutofit/>
          </a:bodyPr>
          <a:lstStyle/>
          <a:p>
            <a:pPr marL="285750" lvl="0" indent="-285750">
              <a:spcBef>
                <a:spcPts val="0"/>
              </a:spcBef>
              <a:buSzPts val="2320"/>
            </a:pPr>
            <a:r>
              <a:rPr lang="el-GR" sz="1600" dirty="0">
                <a:latin typeface="Verdana"/>
                <a:ea typeface="Verdana"/>
                <a:cs typeface="Verdana"/>
                <a:sym typeface="Verdana"/>
              </a:rPr>
              <a:t>Πολυπλοκότητα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Απαιτεί λεπτομερή σχεδιασμό.</a:t>
            </a:r>
            <a:endParaRPr dirty="0"/>
          </a:p>
          <a:p>
            <a:pPr marL="285750" lvl="0" indent="-285750">
              <a:spcBef>
                <a:spcPts val="920"/>
              </a:spcBef>
              <a:buSzPts val="2320"/>
            </a:pPr>
            <a:r>
              <a:rPr lang="el-GR" sz="1600" dirty="0">
                <a:latin typeface="Verdana"/>
                <a:ea typeface="Verdana"/>
                <a:cs typeface="Verdana"/>
                <a:sym typeface="Verdana"/>
              </a:rPr>
              <a:t>Ακρίβεια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Ακατάλληλο για έργα μικρής κλίμακας.</a:t>
            </a:r>
            <a:endParaRPr dirty="0"/>
          </a:p>
          <a:p>
            <a:pPr marL="285750" lvl="0" indent="-285750">
              <a:spcBef>
                <a:spcPts val="920"/>
              </a:spcBef>
              <a:buSzPts val="2320"/>
            </a:pPr>
            <a:r>
              <a:rPr lang="el-GR" sz="1600" dirty="0">
                <a:latin typeface="Verdana"/>
                <a:ea typeface="Verdana"/>
                <a:cs typeface="Verdana"/>
                <a:sym typeface="Verdana"/>
              </a:rPr>
              <a:t>Φόρτος Εργασίας στην Ανάλυση Κινδύνων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Ανάγκη αφιέρωσης χρόνου.</a:t>
            </a:r>
            <a:endParaRPr dirty="0"/>
          </a:p>
          <a:p>
            <a:pPr marL="285750" lvl="0" indent="-285750">
              <a:spcBef>
                <a:spcPts val="920"/>
              </a:spcBef>
              <a:buSzPts val="2320"/>
            </a:pPr>
            <a:r>
              <a:rPr lang="el-GR" sz="1600" dirty="0">
                <a:latin typeface="Verdana"/>
                <a:ea typeface="Verdana"/>
                <a:cs typeface="Verdana"/>
                <a:sym typeface="Verdana"/>
              </a:rPr>
              <a:t>Καθυστερήσεις στις Προθεσμίες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Απαιτεί χρόνο για αξιολογήσεις &amp; αναπροσαρμογές.</a:t>
            </a:r>
            <a:endParaRPr dirty="0"/>
          </a:p>
          <a:p>
            <a:pPr marL="285750" lvl="0" indent="-285750">
              <a:spcBef>
                <a:spcPts val="920"/>
              </a:spcBef>
              <a:buSzPts val="2320"/>
            </a:pPr>
            <a:r>
              <a:rPr lang="el-GR" sz="1600" dirty="0">
                <a:latin typeface="Verdana"/>
                <a:ea typeface="Verdana"/>
                <a:cs typeface="Verdana"/>
                <a:sym typeface="Verdana"/>
              </a:rPr>
              <a:t>Εξαντλητική Κατανάλωση Πόρων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Αντίκτυπο στο οικονομικό κομμάτι.</a:t>
            </a:r>
            <a:endParaRPr dirty="0"/>
          </a:p>
        </p:txBody>
      </p:sp>
      <p:sp>
        <p:nvSpPr>
          <p:cNvPr id="319" name="Google Shape;319;p25"/>
          <p:cNvSpPr/>
          <p:nvPr/>
        </p:nvSpPr>
        <p:spPr>
          <a:xfrm>
            <a:off x="1484310" y="1104495"/>
            <a:ext cx="324960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2000" b="1" dirty="0" smtClean="0">
                <a:solidFill>
                  <a:schemeClr val="dk1"/>
                </a:solidFill>
                <a:latin typeface="Verdana"/>
                <a:ea typeface="Verdana"/>
                <a:cs typeface="Verdana"/>
                <a:sym typeface="Verdana"/>
              </a:rPr>
              <a:t>1.5.4. </a:t>
            </a:r>
            <a:r>
              <a:rPr lang="el-GR" sz="2000" b="1" dirty="0">
                <a:solidFill>
                  <a:schemeClr val="dk1"/>
                </a:solidFill>
                <a:latin typeface="Verdana"/>
                <a:ea typeface="Verdana"/>
                <a:cs typeface="Verdana"/>
                <a:sym typeface="Verdana"/>
              </a:rPr>
              <a:t>Μειονεκτήματα</a:t>
            </a:r>
            <a:endParaRPr sz="2000" b="1" dirty="0">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26"/>
          <p:cNvSpPr txBox="1">
            <a:spLocks noGrp="1"/>
          </p:cNvSpPr>
          <p:nvPr>
            <p:ph type="title"/>
          </p:nvPr>
        </p:nvSpPr>
        <p:spPr>
          <a:xfrm>
            <a:off x="1484310" y="1"/>
            <a:ext cx="1001871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1.5. Το σπειροειδές μοντέλο </a:t>
            </a:r>
            <a:endParaRPr sz="3000" b="1">
              <a:latin typeface="Verdana"/>
              <a:ea typeface="Verdana"/>
              <a:cs typeface="Verdana"/>
              <a:sym typeface="Verdana"/>
            </a:endParaRPr>
          </a:p>
        </p:txBody>
      </p:sp>
      <p:sp>
        <p:nvSpPr>
          <p:cNvPr id="325" name="Google Shape;325;p26"/>
          <p:cNvSpPr txBox="1">
            <a:spLocks noGrp="1"/>
          </p:cNvSpPr>
          <p:nvPr>
            <p:ph type="body" idx="1"/>
          </p:nvPr>
        </p:nvSpPr>
        <p:spPr>
          <a:xfrm>
            <a:off x="1484299" y="2170225"/>
            <a:ext cx="10602600" cy="3124200"/>
          </a:xfrm>
          <a:prstGeom prst="rect">
            <a:avLst/>
          </a:prstGeom>
          <a:noFill/>
          <a:ln>
            <a:noFill/>
          </a:ln>
        </p:spPr>
        <p:txBody>
          <a:bodyPr spcFirstLastPara="1" wrap="square" lIns="91425" tIns="45700" rIns="91425" bIns="45700" anchor="ctr" anchorCtr="0">
            <a:normAutofit/>
          </a:bodyPr>
          <a:lstStyle/>
          <a:p>
            <a:pPr marL="0" lvl="0" indent="0" algn="l" rtl="0">
              <a:spcBef>
                <a:spcPts val="920"/>
              </a:spcBef>
              <a:spcAft>
                <a:spcPts val="0"/>
              </a:spcAft>
              <a:buNone/>
            </a:pPr>
            <a:r>
              <a:rPr lang="el-GR" sz="1600">
                <a:latin typeface="Verdana"/>
                <a:ea typeface="Verdana"/>
                <a:cs typeface="Verdana"/>
                <a:sym typeface="Verdana"/>
              </a:rPr>
              <a:t>Συνοψίζοντας, το σπειροειδές μοντέλο προσφέρει ευελιξία, συνεχή εξέλιξη και βελτίωση μέσω επαναλαμβανόμενων βημάτων. Με έμφαση στον ενεργό διάλογο και τον εντοπισμό κινδύνων, αποτελεί αποτελεσματική προσέγγιση για επιτυχημένα έργα λογισμικού</a:t>
            </a:r>
            <a:r>
              <a:rPr lang="el-GR" sz="1600"/>
              <a:t>.</a:t>
            </a:r>
            <a:endParaRPr sz="1600"/>
          </a:p>
        </p:txBody>
      </p:sp>
      <p:sp>
        <p:nvSpPr>
          <p:cNvPr id="326" name="Google Shape;326;p26"/>
          <p:cNvSpPr/>
          <p:nvPr/>
        </p:nvSpPr>
        <p:spPr>
          <a:xfrm>
            <a:off x="1484310" y="1104495"/>
            <a:ext cx="222368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2000" b="1" dirty="0" smtClean="0">
                <a:solidFill>
                  <a:schemeClr val="dk1"/>
                </a:solidFill>
                <a:latin typeface="Verdana"/>
                <a:ea typeface="Verdana"/>
                <a:cs typeface="Verdana"/>
                <a:sym typeface="Verdana"/>
              </a:rPr>
              <a:t>1.5.5. </a:t>
            </a:r>
            <a:r>
              <a:rPr lang="el-GR" sz="2000" b="1" dirty="0">
                <a:solidFill>
                  <a:schemeClr val="dk1"/>
                </a:solidFill>
                <a:latin typeface="Verdana"/>
                <a:ea typeface="Verdana"/>
                <a:cs typeface="Verdana"/>
                <a:sym typeface="Verdana"/>
              </a:rPr>
              <a:t>Σύνοψη</a:t>
            </a:r>
            <a:endParaRPr sz="2000" b="1" dirty="0">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28"/>
          <p:cNvSpPr txBox="1">
            <a:spLocks noGrp="1"/>
          </p:cNvSpPr>
          <p:nvPr>
            <p:ph type="title"/>
          </p:nvPr>
        </p:nvSpPr>
        <p:spPr>
          <a:xfrm>
            <a:off x="1683815" y="0"/>
            <a:ext cx="10018800" cy="17526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2. ΣΥΓΧΡΟΝΑ ΜΟΝΤΕΛΑ ΑΝΑΠΤΥΞΗΣ ΛΟΓΙΣΜΙΚΟΥ</a:t>
            </a:r>
            <a:endParaRPr sz="3000" b="1">
              <a:latin typeface="Verdana"/>
              <a:ea typeface="Verdana"/>
              <a:cs typeface="Verdana"/>
              <a:sym typeface="Verdana"/>
            </a:endParaRPr>
          </a:p>
        </p:txBody>
      </p:sp>
      <p:sp>
        <p:nvSpPr>
          <p:cNvPr id="332" name="Google Shape;332;p28"/>
          <p:cNvSpPr txBox="1">
            <a:spLocks noGrp="1"/>
          </p:cNvSpPr>
          <p:nvPr>
            <p:ph type="body" idx="1"/>
          </p:nvPr>
        </p:nvSpPr>
        <p:spPr>
          <a:xfrm>
            <a:off x="2037163" y="1866911"/>
            <a:ext cx="10018800" cy="3124200"/>
          </a:xfrm>
          <a:prstGeom prst="rect">
            <a:avLst/>
          </a:prstGeom>
          <a:noFill/>
          <a:ln>
            <a:noFill/>
          </a:ln>
        </p:spPr>
        <p:txBody>
          <a:bodyPr spcFirstLastPara="1" wrap="square" lIns="91425" tIns="45700" rIns="91425" bIns="45700" anchor="ctr" anchorCtr="0">
            <a:normAutofit/>
          </a:bodyPr>
          <a:lstStyle/>
          <a:p>
            <a:pPr marL="285750" lvl="0" indent="-285750" algn="l" rtl="0">
              <a:spcBef>
                <a:spcPts val="0"/>
              </a:spcBef>
              <a:spcAft>
                <a:spcPts val="0"/>
              </a:spcAft>
              <a:buSzPts val="2900"/>
              <a:buChar char="•"/>
            </a:pPr>
            <a:r>
              <a:rPr lang="el-GR" sz="2000">
                <a:latin typeface="Verdana"/>
                <a:ea typeface="Verdana"/>
                <a:cs typeface="Verdana"/>
                <a:sym typeface="Verdana"/>
              </a:rPr>
              <a:t>2.1. Ενοποιημένη προσέγγιση (Unified Process)</a:t>
            </a:r>
            <a:endParaRPr sz="2000">
              <a:latin typeface="Verdana"/>
              <a:ea typeface="Verdana"/>
              <a:cs typeface="Verdana"/>
              <a:sym typeface="Verdana"/>
            </a:endParaRPr>
          </a:p>
          <a:p>
            <a:pPr marL="285750" lvl="0" indent="-285750" algn="l" rtl="0">
              <a:spcBef>
                <a:spcPts val="1000"/>
              </a:spcBef>
              <a:spcAft>
                <a:spcPts val="0"/>
              </a:spcAft>
              <a:buSzPts val="2900"/>
              <a:buChar char="•"/>
            </a:pPr>
            <a:r>
              <a:rPr lang="el-GR" sz="2000">
                <a:latin typeface="Verdana"/>
                <a:ea typeface="Verdana"/>
                <a:cs typeface="Verdana"/>
                <a:sym typeface="Verdana"/>
              </a:rPr>
              <a:t>2.2. Ευέλικτη Ανάπτυξη (Agile Development)</a:t>
            </a:r>
            <a:endParaRPr/>
          </a:p>
          <a:p>
            <a:pPr marL="285750" lvl="0" indent="-285750" algn="l" rtl="0">
              <a:spcBef>
                <a:spcPts val="1000"/>
              </a:spcBef>
              <a:spcAft>
                <a:spcPts val="0"/>
              </a:spcAft>
              <a:buSzPts val="2900"/>
              <a:buChar char="•"/>
            </a:pPr>
            <a:r>
              <a:rPr lang="el-GR" sz="2000">
                <a:latin typeface="Verdana"/>
                <a:ea typeface="Verdana"/>
                <a:cs typeface="Verdana"/>
                <a:sym typeface="Verdana"/>
              </a:rPr>
              <a:t>2.3. Ανάπτυξη DevOps</a:t>
            </a:r>
            <a:endParaRPr sz="2000">
              <a:latin typeface="Verdana"/>
              <a:ea typeface="Verdana"/>
              <a:cs typeface="Verdana"/>
              <a:sym typeface="Verdana"/>
            </a:endParaRPr>
          </a:p>
          <a:p>
            <a:pPr marL="285750" lvl="0" indent="-285750" algn="l" rtl="0">
              <a:spcBef>
                <a:spcPts val="1000"/>
              </a:spcBef>
              <a:spcAft>
                <a:spcPts val="0"/>
              </a:spcAft>
              <a:buSzPts val="2900"/>
              <a:buChar char="•"/>
            </a:pPr>
            <a:r>
              <a:rPr lang="el-GR" sz="2000">
                <a:latin typeface="Verdana"/>
                <a:ea typeface="Verdana"/>
                <a:cs typeface="Verdana"/>
                <a:sym typeface="Verdana"/>
              </a:rPr>
              <a:t>2.4. Μεθοδολογία Scrum</a:t>
            </a:r>
            <a:endParaRPr sz="2000">
              <a:latin typeface="Verdana"/>
              <a:ea typeface="Verdana"/>
              <a:cs typeface="Verdana"/>
              <a:sym typeface="Verdana"/>
            </a:endParaRPr>
          </a:p>
          <a:p>
            <a:pPr marL="285750" lvl="0" indent="-285750" algn="l" rtl="0">
              <a:spcBef>
                <a:spcPts val="1000"/>
              </a:spcBef>
              <a:spcAft>
                <a:spcPts val="0"/>
              </a:spcAft>
              <a:buSzPts val="2900"/>
              <a:buChar char="•"/>
            </a:pPr>
            <a:r>
              <a:rPr lang="el-GR" sz="2000">
                <a:latin typeface="Verdana"/>
                <a:ea typeface="Verdana"/>
                <a:cs typeface="Verdana"/>
                <a:sym typeface="Verdana"/>
              </a:rPr>
              <a:t>2.5. Ακραίος Προγραμματισμός (Extreme Programming)</a:t>
            </a:r>
            <a:endParaRPr sz="2000">
              <a:latin typeface="Verdana"/>
              <a:ea typeface="Verdana"/>
              <a:cs typeface="Verdana"/>
              <a:sym typeface="Verdana"/>
            </a:endParaRPr>
          </a:p>
          <a:p>
            <a:pPr marL="285750" lvl="0" indent="-285750" algn="l" rtl="0">
              <a:spcBef>
                <a:spcPts val="1000"/>
              </a:spcBef>
              <a:spcAft>
                <a:spcPts val="0"/>
              </a:spcAft>
              <a:buSzPts val="2900"/>
              <a:buChar char="•"/>
            </a:pPr>
            <a:r>
              <a:rPr lang="el-GR" sz="2000">
                <a:latin typeface="Verdana"/>
                <a:ea typeface="Verdana"/>
                <a:cs typeface="Verdana"/>
                <a:sym typeface="Verdana"/>
              </a:rPr>
              <a:t>2.6. Ανάπτυξη οδηγούμενη από τον έλεγχο (Test-driven Development)</a:t>
            </a:r>
            <a:endParaRPr sz="2000">
              <a:latin typeface="Verdana"/>
              <a:ea typeface="Verdana"/>
              <a:cs typeface="Verdana"/>
              <a:sym typeface="Verdana"/>
            </a:endParaRPr>
          </a:p>
        </p:txBody>
      </p:sp>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29"/>
          <p:cNvSpPr txBox="1">
            <a:spLocks noGrp="1"/>
          </p:cNvSpPr>
          <p:nvPr>
            <p:ph type="title"/>
          </p:nvPr>
        </p:nvSpPr>
        <p:spPr>
          <a:xfrm>
            <a:off x="1326369" y="561109"/>
            <a:ext cx="10707689" cy="41140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2.1. Ενοποιημένη Προσέγγιση </a:t>
            </a:r>
            <a:br>
              <a:rPr lang="el-GR" sz="3000" b="1">
                <a:latin typeface="Verdana"/>
                <a:ea typeface="Verdana"/>
                <a:cs typeface="Verdana"/>
                <a:sym typeface="Verdana"/>
              </a:rPr>
            </a:br>
            <a:r>
              <a:rPr lang="el-GR" sz="3000" b="1">
                <a:latin typeface="Verdana"/>
                <a:ea typeface="Verdana"/>
                <a:cs typeface="Verdana"/>
                <a:sym typeface="Verdana"/>
              </a:rPr>
              <a:t>(Unified Process)</a:t>
            </a:r>
            <a:endParaRPr sz="3000">
              <a:latin typeface="Verdana"/>
              <a:ea typeface="Verdana"/>
              <a:cs typeface="Verdana"/>
              <a:sym typeface="Verdana"/>
            </a:endParaRPr>
          </a:p>
        </p:txBody>
      </p:sp>
      <p:sp>
        <p:nvSpPr>
          <p:cNvPr id="339" name="Google Shape;339;p29"/>
          <p:cNvSpPr txBox="1">
            <a:spLocks noGrp="1"/>
          </p:cNvSpPr>
          <p:nvPr>
            <p:ph type="body" idx="2"/>
          </p:nvPr>
        </p:nvSpPr>
        <p:spPr>
          <a:xfrm>
            <a:off x="1392871" y="2909453"/>
            <a:ext cx="3549121" cy="126345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SzPts val="2320"/>
              <a:buNone/>
            </a:pPr>
            <a:r>
              <a:rPr lang="el-GR">
                <a:latin typeface="Verdana"/>
                <a:ea typeface="Verdana"/>
                <a:cs typeface="Verdana"/>
                <a:sym typeface="Verdana"/>
              </a:rPr>
              <a:t>Η ενοποιημένη διαχείριση έργων διαιρεί το έργο σε φάσεις (έναρξη, σχεδιασμός, εκτέλεση και μετάβαση) με συγκεκριμένους στόχους και αποτελέσματα για κάθε μία. Οργανώνει τις δραστηριότητες κάθε φάσης, καθοδηγώντας την προς την επιτυχή ολοκλήρωση του έργου με δομημένα βήματα και ελέγχους.</a:t>
            </a:r>
            <a:endParaRPr>
              <a:latin typeface="Verdana"/>
              <a:ea typeface="Verdana"/>
              <a:cs typeface="Verdana"/>
              <a:sym typeface="Verdana"/>
            </a:endParaRPr>
          </a:p>
        </p:txBody>
      </p:sp>
      <p:sp>
        <p:nvSpPr>
          <p:cNvPr id="340" name="Google Shape;340;p29"/>
          <p:cNvSpPr/>
          <p:nvPr/>
        </p:nvSpPr>
        <p:spPr>
          <a:xfrm>
            <a:off x="1484311" y="787845"/>
            <a:ext cx="247375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2000" b="1">
                <a:solidFill>
                  <a:schemeClr val="dk1"/>
                </a:solidFill>
                <a:latin typeface="Verdana"/>
                <a:ea typeface="Verdana"/>
                <a:cs typeface="Verdana"/>
                <a:sym typeface="Verdana"/>
              </a:rPr>
              <a:t>2.1.1. Εισαγωγή</a:t>
            </a:r>
            <a:endParaRPr sz="2000" b="1">
              <a:solidFill>
                <a:schemeClr val="dk1"/>
              </a:solidFill>
              <a:latin typeface="Verdana"/>
              <a:ea typeface="Verdana"/>
              <a:cs typeface="Verdana"/>
              <a:sym typeface="Verdana"/>
            </a:endParaRPr>
          </a:p>
        </p:txBody>
      </p:sp>
      <p:sp>
        <p:nvSpPr>
          <p:cNvPr id="2" name="Text Placeholder 1"/>
          <p:cNvSpPr>
            <a:spLocks noGrp="1"/>
          </p:cNvSpPr>
          <p:nvPr>
            <p:ph type="body" idx="1"/>
          </p:nvPr>
        </p:nvSpPr>
        <p:spPr/>
        <p:txBody>
          <a:bodyPr/>
          <a:lstStyle/>
          <a:p>
            <a:endParaRPr lang="en-US"/>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98544" y="1368104"/>
            <a:ext cx="6167967" cy="434615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30"/>
          <p:cNvSpPr txBox="1">
            <a:spLocks noGrp="1"/>
          </p:cNvSpPr>
          <p:nvPr>
            <p:ph type="title"/>
          </p:nvPr>
        </p:nvSpPr>
        <p:spPr>
          <a:xfrm>
            <a:off x="1484310" y="-16625"/>
            <a:ext cx="1058862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2.1. Ενοποιημένη Προσέγγιση </a:t>
            </a:r>
            <a:br>
              <a:rPr lang="el-GR" sz="3000" b="1">
                <a:latin typeface="Verdana"/>
                <a:ea typeface="Verdana"/>
                <a:cs typeface="Verdana"/>
                <a:sym typeface="Verdana"/>
              </a:rPr>
            </a:br>
            <a:r>
              <a:rPr lang="el-GR" sz="3000" b="1">
                <a:latin typeface="Verdana"/>
                <a:ea typeface="Verdana"/>
                <a:cs typeface="Verdana"/>
                <a:sym typeface="Verdana"/>
              </a:rPr>
              <a:t>(Unified Process)</a:t>
            </a:r>
            <a:endParaRPr/>
          </a:p>
        </p:txBody>
      </p:sp>
      <p:sp>
        <p:nvSpPr>
          <p:cNvPr id="346" name="Google Shape;346;p30"/>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rmAutofit/>
          </a:bodyPr>
          <a:lstStyle/>
          <a:p>
            <a:pPr marL="285750" lvl="0" indent="-285750">
              <a:spcBef>
                <a:spcPts val="0"/>
              </a:spcBef>
              <a:buSzPts val="2320"/>
            </a:pPr>
            <a:r>
              <a:rPr lang="el-GR" sz="1600" dirty="0">
                <a:latin typeface="Verdana"/>
                <a:ea typeface="Verdana"/>
                <a:cs typeface="Verdana"/>
                <a:sym typeface="Verdana"/>
              </a:rPr>
              <a:t>Αυτοτέλεια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Ολοκληρώνει τη διαδικασία αυτόνομα.</a:t>
            </a:r>
            <a:endParaRPr dirty="0"/>
          </a:p>
          <a:p>
            <a:pPr marL="285750" lvl="0" indent="-285750">
              <a:spcBef>
                <a:spcPts val="920"/>
              </a:spcBef>
              <a:buSzPts val="2320"/>
            </a:pPr>
            <a:r>
              <a:rPr lang="el-GR" sz="1600" dirty="0">
                <a:latin typeface="Verdana"/>
                <a:ea typeface="Verdana"/>
                <a:cs typeface="Verdana"/>
                <a:sym typeface="Verdana"/>
              </a:rPr>
              <a:t>Διαχείριση Κινδύνων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Υποστηρίζει τον έλεγχο και την αντιμετώπιση κινδύνων.</a:t>
            </a:r>
            <a:endParaRPr dirty="0"/>
          </a:p>
          <a:p>
            <a:pPr marL="285750" lvl="0" indent="-285750">
              <a:spcBef>
                <a:spcPts val="920"/>
              </a:spcBef>
              <a:buSzPts val="2320"/>
            </a:pPr>
            <a:r>
              <a:rPr lang="el-GR" sz="1600" dirty="0">
                <a:latin typeface="Verdana"/>
                <a:ea typeface="Verdana"/>
                <a:cs typeface="Verdana"/>
                <a:sym typeface="Verdana"/>
              </a:rPr>
              <a:t>Χρονική Αποδοτικότητα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Αξιοποιεί αποτελεσματικά τα στοιχεία με επαναλαμβανόμενη χρήση. </a:t>
            </a:r>
            <a:endParaRPr dirty="0"/>
          </a:p>
          <a:p>
            <a:pPr marL="285750" lvl="0" indent="-285750">
              <a:spcBef>
                <a:spcPts val="920"/>
              </a:spcBef>
              <a:buSzPts val="2320"/>
            </a:pPr>
            <a:r>
              <a:rPr lang="el-GR" sz="1600" dirty="0">
                <a:latin typeface="Verdana"/>
                <a:ea typeface="Verdana"/>
                <a:cs typeface="Verdana"/>
                <a:sym typeface="Verdana"/>
              </a:rPr>
              <a:t>Ηλεκτρονική Υποστήριξη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Διαθέτει καλή ηλεκτρονική υποστήριξη.</a:t>
            </a:r>
            <a:endParaRPr dirty="0"/>
          </a:p>
          <a:p>
            <a:pPr marL="0" lvl="0" indent="0" algn="l" rtl="0">
              <a:spcBef>
                <a:spcPts val="820"/>
              </a:spcBef>
              <a:spcAft>
                <a:spcPts val="0"/>
              </a:spcAft>
              <a:buSzPts val="1595"/>
              <a:buNone/>
            </a:pPr>
            <a:endParaRPr sz="1100" dirty="0">
              <a:latin typeface="Verdana"/>
              <a:ea typeface="Verdana"/>
              <a:cs typeface="Verdana"/>
              <a:sym typeface="Verdana"/>
            </a:endParaRPr>
          </a:p>
        </p:txBody>
      </p:sp>
      <p:sp>
        <p:nvSpPr>
          <p:cNvPr id="347" name="Google Shape;347;p30"/>
          <p:cNvSpPr/>
          <p:nvPr/>
        </p:nvSpPr>
        <p:spPr>
          <a:xfrm>
            <a:off x="1484310" y="1087869"/>
            <a:ext cx="3299301"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2000" b="1">
                <a:solidFill>
                  <a:schemeClr val="dk1"/>
                </a:solidFill>
                <a:latin typeface="Verdana"/>
                <a:ea typeface="Verdana"/>
                <a:cs typeface="Verdana"/>
                <a:sym typeface="Verdana"/>
              </a:rPr>
              <a:t>2.1.2. Πλεονεκτήματα</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31"/>
          <p:cNvSpPr txBox="1">
            <a:spLocks noGrp="1"/>
          </p:cNvSpPr>
          <p:nvPr>
            <p:ph type="title"/>
          </p:nvPr>
        </p:nvSpPr>
        <p:spPr>
          <a:xfrm>
            <a:off x="1484310" y="-16625"/>
            <a:ext cx="1058862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2.1. Ενοποιημένη Προσέγγιση </a:t>
            </a:r>
            <a:br>
              <a:rPr lang="el-GR" sz="3000" b="1">
                <a:latin typeface="Verdana"/>
                <a:ea typeface="Verdana"/>
                <a:cs typeface="Verdana"/>
                <a:sym typeface="Verdana"/>
              </a:rPr>
            </a:br>
            <a:r>
              <a:rPr lang="el-GR" sz="3000" b="1">
                <a:latin typeface="Verdana"/>
                <a:ea typeface="Verdana"/>
                <a:cs typeface="Verdana"/>
                <a:sym typeface="Verdana"/>
              </a:rPr>
              <a:t>(Unified Process)</a:t>
            </a:r>
            <a:endParaRPr/>
          </a:p>
        </p:txBody>
      </p:sp>
      <p:sp>
        <p:nvSpPr>
          <p:cNvPr id="353" name="Google Shape;353;p31"/>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rmAutofit/>
          </a:bodyPr>
          <a:lstStyle/>
          <a:p>
            <a:pPr marL="285750" lvl="0" indent="-285750">
              <a:spcBef>
                <a:spcPts val="0"/>
              </a:spcBef>
              <a:buSzPts val="2320"/>
            </a:pPr>
            <a:r>
              <a:rPr lang="el-GR" sz="1600" dirty="0">
                <a:latin typeface="Verdana"/>
                <a:ea typeface="Verdana"/>
                <a:cs typeface="Verdana"/>
                <a:sym typeface="Verdana"/>
              </a:rPr>
              <a:t>Απαιτεί Ειδικούς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Πολυπλοκότητα που απαιτεί εξειδικευμένους.</a:t>
            </a:r>
            <a:endParaRPr dirty="0"/>
          </a:p>
          <a:p>
            <a:pPr marL="285750" lvl="0" indent="-285750">
              <a:spcBef>
                <a:spcPts val="920"/>
              </a:spcBef>
              <a:buSzPts val="2320"/>
            </a:pPr>
            <a:r>
              <a:rPr lang="el-GR" sz="1600" dirty="0">
                <a:latin typeface="Verdana"/>
                <a:ea typeface="Verdana"/>
                <a:cs typeface="Verdana"/>
                <a:sym typeface="Verdana"/>
              </a:rPr>
              <a:t>Πολυπλοκότητα και Αταξία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Μπορεί να δημιουργήσει εντύπωση περιπλοκότητας και έλλειψης οργάνωσης.</a:t>
            </a:r>
            <a:endParaRPr dirty="0"/>
          </a:p>
          <a:p>
            <a:pPr marL="285750" lvl="0" indent="-285750">
              <a:spcBef>
                <a:spcPts val="920"/>
              </a:spcBef>
              <a:buSzPts val="2320"/>
            </a:pPr>
            <a:r>
              <a:rPr lang="el-GR" sz="1600" dirty="0">
                <a:latin typeface="Verdana"/>
                <a:ea typeface="Verdana"/>
                <a:cs typeface="Verdana"/>
                <a:sym typeface="Verdana"/>
              </a:rPr>
              <a:t>Μεγαλύτερη Εξάρτηση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Εξάρτηση από τη διαχείριση κινδύνων.</a:t>
            </a:r>
            <a:endParaRPr dirty="0"/>
          </a:p>
          <a:p>
            <a:pPr marL="285750" lvl="0" indent="-285750">
              <a:spcBef>
                <a:spcPts val="920"/>
              </a:spcBef>
              <a:buSzPts val="2320"/>
            </a:pPr>
            <a:r>
              <a:rPr lang="el-GR" sz="1600" dirty="0">
                <a:latin typeface="Verdana"/>
                <a:ea typeface="Verdana"/>
                <a:cs typeface="Verdana"/>
                <a:sym typeface="Verdana"/>
              </a:rPr>
              <a:t>Δυσκολία Ενσωμάτωσης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Δυσκολία στο να επαναληφθεί η διαδικασία και να ενσωματωθούν οι αλλαγές.</a:t>
            </a:r>
            <a:endParaRPr dirty="0"/>
          </a:p>
          <a:p>
            <a:pPr marL="0" lvl="0" indent="0" algn="l" rtl="0">
              <a:spcBef>
                <a:spcPts val="820"/>
              </a:spcBef>
              <a:spcAft>
                <a:spcPts val="0"/>
              </a:spcAft>
              <a:buSzPts val="1595"/>
              <a:buNone/>
            </a:pPr>
            <a:endParaRPr sz="1100" dirty="0">
              <a:latin typeface="Verdana"/>
              <a:ea typeface="Verdana"/>
              <a:cs typeface="Verdana"/>
              <a:sym typeface="Verdana"/>
            </a:endParaRPr>
          </a:p>
        </p:txBody>
      </p:sp>
      <p:sp>
        <p:nvSpPr>
          <p:cNvPr id="354" name="Google Shape;354;p31"/>
          <p:cNvSpPr/>
          <p:nvPr/>
        </p:nvSpPr>
        <p:spPr>
          <a:xfrm>
            <a:off x="1484310" y="1087869"/>
            <a:ext cx="324960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2000" b="1">
                <a:solidFill>
                  <a:schemeClr val="dk1"/>
                </a:solidFill>
                <a:latin typeface="Verdana"/>
                <a:ea typeface="Verdana"/>
                <a:cs typeface="Verdana"/>
                <a:sym typeface="Verdana"/>
              </a:rPr>
              <a:t>2.1.3. Μειονεκτήματα</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32"/>
          <p:cNvSpPr txBox="1">
            <a:spLocks noGrp="1"/>
          </p:cNvSpPr>
          <p:nvPr>
            <p:ph type="title"/>
          </p:nvPr>
        </p:nvSpPr>
        <p:spPr>
          <a:xfrm>
            <a:off x="1484310" y="-16625"/>
            <a:ext cx="1058862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2.1. Ενοποιημένη Προσέγγιση </a:t>
            </a:r>
            <a:br>
              <a:rPr lang="el-GR" sz="3000" b="1">
                <a:latin typeface="Verdana"/>
                <a:ea typeface="Verdana"/>
                <a:cs typeface="Verdana"/>
                <a:sym typeface="Verdana"/>
              </a:rPr>
            </a:br>
            <a:r>
              <a:rPr lang="el-GR" sz="3000" b="1">
                <a:latin typeface="Verdana"/>
                <a:ea typeface="Verdana"/>
                <a:cs typeface="Verdana"/>
                <a:sym typeface="Verdana"/>
              </a:rPr>
              <a:t>(Unified Process)</a:t>
            </a:r>
            <a:endParaRPr/>
          </a:p>
        </p:txBody>
      </p:sp>
      <p:sp>
        <p:nvSpPr>
          <p:cNvPr id="360" name="Google Shape;360;p32"/>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rmAutofit/>
          </a:bodyPr>
          <a:lstStyle/>
          <a:p>
            <a:pPr marL="0" lvl="0" indent="0" algn="l" rtl="0">
              <a:spcBef>
                <a:spcPts val="920"/>
              </a:spcBef>
              <a:spcAft>
                <a:spcPts val="0"/>
              </a:spcAft>
              <a:buNone/>
            </a:pPr>
            <a:r>
              <a:rPr lang="el-GR" sz="1600">
                <a:latin typeface="Verdana"/>
                <a:ea typeface="Verdana"/>
                <a:cs typeface="Verdana"/>
                <a:sym typeface="Verdana"/>
              </a:rPr>
              <a:t>Η ενοποιημένη διαδικασία ανάπτυξης λογισμικού παρέχει οργάνωση και καθοδήγηση, αλλά μπορεί να γίνει περίπλοκη. Η αξία της εξαρτάται από το πώς την προσαρμόζουμε στις ανάγκες του έργου. Κατανοώντας πλεονεκτήματα και πιθανά μειονεκτήματα, προσαρμόζουμε τη μέθοδο για αποτελεσματική ανάπτυξη λογισμικού.</a:t>
            </a:r>
            <a:endParaRPr/>
          </a:p>
          <a:p>
            <a:pPr marL="0" lvl="0" indent="0" algn="l" rtl="0">
              <a:spcBef>
                <a:spcPts val="820"/>
              </a:spcBef>
              <a:spcAft>
                <a:spcPts val="0"/>
              </a:spcAft>
              <a:buSzPts val="1595"/>
              <a:buNone/>
            </a:pPr>
            <a:endParaRPr sz="1100">
              <a:latin typeface="Verdana"/>
              <a:ea typeface="Verdana"/>
              <a:cs typeface="Verdana"/>
              <a:sym typeface="Verdana"/>
            </a:endParaRPr>
          </a:p>
        </p:txBody>
      </p:sp>
      <p:sp>
        <p:nvSpPr>
          <p:cNvPr id="361" name="Google Shape;361;p32"/>
          <p:cNvSpPr/>
          <p:nvPr/>
        </p:nvSpPr>
        <p:spPr>
          <a:xfrm>
            <a:off x="1484310" y="1087869"/>
            <a:ext cx="222368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2000" b="1">
                <a:solidFill>
                  <a:schemeClr val="dk1"/>
                </a:solidFill>
                <a:latin typeface="Verdana"/>
                <a:ea typeface="Verdana"/>
                <a:cs typeface="Verdana"/>
                <a:sym typeface="Verdana"/>
              </a:rPr>
              <a:t>2.1.4. Σύνοψη</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33"/>
          <p:cNvSpPr txBox="1">
            <a:spLocks noGrp="1"/>
          </p:cNvSpPr>
          <p:nvPr>
            <p:ph type="title"/>
          </p:nvPr>
        </p:nvSpPr>
        <p:spPr>
          <a:xfrm>
            <a:off x="1713440" y="295846"/>
            <a:ext cx="9658371" cy="71905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2.2. Ευέλικτη Ανάπτυξη </a:t>
            </a:r>
            <a:br>
              <a:rPr lang="el-GR" sz="3000" b="1">
                <a:latin typeface="Verdana"/>
                <a:ea typeface="Verdana"/>
                <a:cs typeface="Verdana"/>
                <a:sym typeface="Verdana"/>
              </a:rPr>
            </a:br>
            <a:r>
              <a:rPr lang="el-GR" sz="3000" b="1">
                <a:latin typeface="Verdana"/>
                <a:ea typeface="Verdana"/>
                <a:cs typeface="Verdana"/>
                <a:sym typeface="Verdana"/>
              </a:rPr>
              <a:t>(Agile Development)</a:t>
            </a:r>
            <a:endParaRPr sz="3000">
              <a:latin typeface="Verdana"/>
              <a:ea typeface="Verdana"/>
              <a:cs typeface="Verdana"/>
              <a:sym typeface="Verdana"/>
            </a:endParaRPr>
          </a:p>
        </p:txBody>
      </p:sp>
      <p:sp>
        <p:nvSpPr>
          <p:cNvPr id="368" name="Google Shape;368;p33"/>
          <p:cNvSpPr txBox="1">
            <a:spLocks noGrp="1"/>
          </p:cNvSpPr>
          <p:nvPr>
            <p:ph type="body" idx="2"/>
          </p:nvPr>
        </p:nvSpPr>
        <p:spPr>
          <a:xfrm>
            <a:off x="1713440" y="2647604"/>
            <a:ext cx="3549121" cy="18288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SzPts val="2320"/>
              <a:buNone/>
            </a:pPr>
            <a:r>
              <a:rPr lang="el-GR">
                <a:latin typeface="Verdana"/>
                <a:ea typeface="Verdana"/>
                <a:cs typeface="Verdana"/>
                <a:sym typeface="Verdana"/>
              </a:rPr>
              <a:t>Είναι μια επαναληπτική, ευέλικτη ανάπτυξη λογισμικού που δίνει έμφαση στη συνεργασία, στη προσαρμοστικότητα και στη συνεχή παράδοση. Σε αντίθεση με τα παραδοσιακά μοντέλα, η Ευέλικτη Ανάπτυξη ακολουθεί την αλλαγή και προωθεί ένα συνεργατικό περιβάλλον. Διακρίνεται για τον διαμερισμό των έργων σε μικρά τμήματα, επιτρέποντας τακτική επανεκτίμηση και προσαρμογές.</a:t>
            </a:r>
            <a:endParaRPr>
              <a:latin typeface="Verdana"/>
              <a:ea typeface="Verdana"/>
              <a:cs typeface="Verdana"/>
              <a:sym typeface="Verdana"/>
            </a:endParaRPr>
          </a:p>
        </p:txBody>
      </p:sp>
      <p:sp>
        <p:nvSpPr>
          <p:cNvPr id="369" name="Google Shape;369;p33"/>
          <p:cNvSpPr/>
          <p:nvPr/>
        </p:nvSpPr>
        <p:spPr>
          <a:xfrm>
            <a:off x="1713440" y="1138415"/>
            <a:ext cx="224131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1800" b="1">
                <a:solidFill>
                  <a:schemeClr val="dk1"/>
                </a:solidFill>
                <a:latin typeface="Verdana"/>
                <a:ea typeface="Verdana"/>
                <a:cs typeface="Verdana"/>
                <a:sym typeface="Verdana"/>
              </a:rPr>
              <a:t>2.2.1. Εισαγωγή</a:t>
            </a:r>
            <a:endParaRPr sz="1800" b="1">
              <a:solidFill>
                <a:schemeClr val="dk1"/>
              </a:solidFill>
              <a:latin typeface="Verdana"/>
              <a:ea typeface="Verdana"/>
              <a:cs typeface="Verdana"/>
              <a:sym typeface="Verdana"/>
            </a:endParaRPr>
          </a:p>
        </p:txBody>
      </p:sp>
      <p:sp>
        <p:nvSpPr>
          <p:cNvPr id="2" name="Text Placeholder 1"/>
          <p:cNvSpPr>
            <a:spLocks noGrp="1"/>
          </p:cNvSpPr>
          <p:nvPr>
            <p:ph type="body" idx="1"/>
          </p:nvPr>
        </p:nvSpPr>
        <p:spPr/>
        <p:txBody>
          <a:bodyPr/>
          <a:lstStyle/>
          <a:p>
            <a:endParaRPr lang="en-US"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62033" y="1903702"/>
            <a:ext cx="6240990" cy="3441633"/>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34"/>
          <p:cNvSpPr txBox="1">
            <a:spLocks noGrp="1"/>
          </p:cNvSpPr>
          <p:nvPr>
            <p:ph type="title"/>
          </p:nvPr>
        </p:nvSpPr>
        <p:spPr>
          <a:xfrm>
            <a:off x="1484310" y="-16625"/>
            <a:ext cx="1058862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2.2. Ευέλικτη Ανάπτυξη </a:t>
            </a:r>
            <a:br>
              <a:rPr lang="el-GR" sz="3000" b="1">
                <a:latin typeface="Verdana"/>
                <a:ea typeface="Verdana"/>
                <a:cs typeface="Verdana"/>
                <a:sym typeface="Verdana"/>
              </a:rPr>
            </a:br>
            <a:r>
              <a:rPr lang="el-GR" sz="3000" b="1">
                <a:latin typeface="Verdana"/>
                <a:ea typeface="Verdana"/>
                <a:cs typeface="Verdana"/>
                <a:sym typeface="Verdana"/>
              </a:rPr>
              <a:t>(Agile Development)</a:t>
            </a:r>
            <a:endParaRPr/>
          </a:p>
        </p:txBody>
      </p:sp>
      <p:sp>
        <p:nvSpPr>
          <p:cNvPr id="375" name="Google Shape;375;p34"/>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Autofit/>
          </a:bodyPr>
          <a:lstStyle/>
          <a:p>
            <a:pPr marL="285750" lvl="0" indent="-285750">
              <a:spcBef>
                <a:spcPts val="0"/>
              </a:spcBef>
              <a:buSzPts val="2320"/>
            </a:pPr>
            <a:r>
              <a:rPr lang="el-GR" sz="1600" dirty="0">
                <a:latin typeface="Verdana"/>
                <a:ea typeface="Verdana"/>
                <a:cs typeface="Verdana"/>
                <a:sym typeface="Verdana"/>
              </a:rPr>
              <a:t>Ευελιξία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Η βασική έννοια του Agile μπορεί να περιγραφεί ως ένας τρόπος προσέγγισης που αντιμετωπίζει τις μεταβαλλόμενες απαιτήσεις, δημιουργώντας συνεχώς νέους δρόμους για αλλαγές και προσαρμογές.</a:t>
            </a:r>
            <a:endParaRPr dirty="0"/>
          </a:p>
          <a:p>
            <a:pPr marL="285750" lvl="0" indent="-285750">
              <a:spcBef>
                <a:spcPts val="920"/>
              </a:spcBef>
              <a:buSzPts val="2320"/>
            </a:pPr>
            <a:r>
              <a:rPr lang="el-GR" sz="1600" dirty="0">
                <a:latin typeface="Verdana"/>
                <a:ea typeface="Verdana"/>
                <a:cs typeface="Verdana"/>
                <a:sym typeface="Verdana"/>
              </a:rPr>
              <a:t>Συνεργασία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Η ενεργή συμμετοχή του πελάτη και της ομάδας δημιουργεί έναν ρυθμό που ενθαρρύνει τη συνεργασία και αναδεικνύει τις ανάγκες με μια συμφωνία.</a:t>
            </a:r>
            <a:endParaRPr dirty="0"/>
          </a:p>
          <a:p>
            <a:pPr marL="285750" lvl="0" indent="-285750">
              <a:spcBef>
                <a:spcPts val="920"/>
              </a:spcBef>
              <a:buSzPts val="2320"/>
            </a:pPr>
            <a:r>
              <a:rPr lang="el-GR" sz="1600" dirty="0">
                <a:latin typeface="Verdana"/>
                <a:ea typeface="Verdana"/>
                <a:cs typeface="Verdana"/>
                <a:sym typeface="Verdana"/>
              </a:rPr>
              <a:t>Γρήγορη παράδοση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Συχνές παραδόσεις δημιουργούν μια εντυπωσιακή λειτουργικότητα, όπου η αξία συναντά τον πελάτη με ικανοποιητικό τρόπο.</a:t>
            </a:r>
            <a:br>
              <a:rPr lang="el-GR" sz="1600" dirty="0">
                <a:latin typeface="Verdana"/>
                <a:ea typeface="Verdana"/>
                <a:cs typeface="Verdana"/>
                <a:sym typeface="Verdana"/>
              </a:rPr>
            </a:br>
            <a:endParaRPr sz="1600" dirty="0">
              <a:latin typeface="Verdana"/>
              <a:ea typeface="Verdana"/>
              <a:cs typeface="Verdana"/>
              <a:sym typeface="Verdana"/>
            </a:endParaRPr>
          </a:p>
        </p:txBody>
      </p:sp>
      <p:sp>
        <p:nvSpPr>
          <p:cNvPr id="376" name="Google Shape;376;p34"/>
          <p:cNvSpPr/>
          <p:nvPr/>
        </p:nvSpPr>
        <p:spPr>
          <a:xfrm>
            <a:off x="1484310" y="1087869"/>
            <a:ext cx="3299301"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2000" b="1">
                <a:solidFill>
                  <a:schemeClr val="dk1"/>
                </a:solidFill>
                <a:latin typeface="Verdana"/>
                <a:ea typeface="Verdana"/>
                <a:cs typeface="Verdana"/>
                <a:sym typeface="Verdana"/>
              </a:rPr>
              <a:t>2.2.2. Πλεονεκτήματα</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35"/>
          <p:cNvSpPr txBox="1">
            <a:spLocks noGrp="1"/>
          </p:cNvSpPr>
          <p:nvPr>
            <p:ph type="title"/>
          </p:nvPr>
        </p:nvSpPr>
        <p:spPr>
          <a:xfrm>
            <a:off x="1484310" y="-16625"/>
            <a:ext cx="1058862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2.2. Ευέλικτη Ανάπτυξη</a:t>
            </a:r>
            <a:br>
              <a:rPr lang="el-GR" sz="3000" b="1">
                <a:latin typeface="Verdana"/>
                <a:ea typeface="Verdana"/>
                <a:cs typeface="Verdana"/>
                <a:sym typeface="Verdana"/>
              </a:rPr>
            </a:br>
            <a:r>
              <a:rPr lang="el-GR" sz="3000" b="1">
                <a:latin typeface="Verdana"/>
                <a:ea typeface="Verdana"/>
                <a:cs typeface="Verdana"/>
                <a:sym typeface="Verdana"/>
              </a:rPr>
              <a:t>(Agile Development)</a:t>
            </a:r>
            <a:endParaRPr/>
          </a:p>
        </p:txBody>
      </p:sp>
      <p:sp>
        <p:nvSpPr>
          <p:cNvPr id="382" name="Google Shape;382;p35"/>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rmAutofit/>
          </a:bodyPr>
          <a:lstStyle/>
          <a:p>
            <a:pPr marL="285750" lvl="0" indent="-285750" algn="l" rtl="0">
              <a:spcBef>
                <a:spcPts val="0"/>
              </a:spcBef>
              <a:spcAft>
                <a:spcPts val="0"/>
              </a:spcAft>
              <a:buSzPts val="2320"/>
              <a:buChar char="•"/>
            </a:pPr>
            <a:r>
              <a:rPr lang="el-GR" sz="1600" dirty="0">
                <a:latin typeface="Verdana"/>
                <a:ea typeface="Verdana"/>
                <a:cs typeface="Verdana"/>
                <a:sym typeface="Verdana"/>
              </a:rPr>
              <a:t>Πίεση χρόνου </a:t>
            </a:r>
            <a:r>
              <a:rPr lang="el-GR" sz="1600" dirty="0" smtClean="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Η ανάγκη έντονης συμμετοχής απαιτεί χρόνο και διαθεσιμότητα, με συνέπεια να διαταράσσεται η ροή του χρόνου με απαιτητικά κενά.</a:t>
            </a:r>
            <a:endParaRPr sz="1600" dirty="0">
              <a:latin typeface="Verdana"/>
              <a:ea typeface="Verdana"/>
              <a:cs typeface="Verdana"/>
              <a:sym typeface="Verdana"/>
            </a:endParaRPr>
          </a:p>
          <a:p>
            <a:pPr marL="285750" lvl="0" indent="-285750">
              <a:spcBef>
                <a:spcPts val="920"/>
              </a:spcBef>
              <a:buSzPts val="2320"/>
            </a:pPr>
            <a:r>
              <a:rPr lang="el-GR" sz="1600" dirty="0">
                <a:latin typeface="Verdana"/>
                <a:ea typeface="Verdana"/>
                <a:cs typeface="Verdana"/>
                <a:sym typeface="Verdana"/>
              </a:rPr>
              <a:t>Έλλειψη διακριτικής ανάλυσης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Σε δύσκολα έργα, η έλλειψη λεπτομερούς ανάλυσης είναι σαν να προσπαθούμε να ολοκληρώσουμε ένα παζλ χωρίς να έχουμε όλα τα κομμάτια.</a:t>
            </a:r>
            <a:endParaRPr dirty="0"/>
          </a:p>
          <a:p>
            <a:pPr marL="0" lvl="0" indent="0" algn="l" rtl="0">
              <a:spcBef>
                <a:spcPts val="920"/>
              </a:spcBef>
              <a:spcAft>
                <a:spcPts val="0"/>
              </a:spcAft>
              <a:buSzPts val="2320"/>
              <a:buNone/>
            </a:pPr>
            <a:endParaRPr sz="1600" dirty="0">
              <a:latin typeface="Verdana"/>
              <a:ea typeface="Verdana"/>
              <a:cs typeface="Verdana"/>
              <a:sym typeface="Verdana"/>
            </a:endParaRPr>
          </a:p>
        </p:txBody>
      </p:sp>
      <p:sp>
        <p:nvSpPr>
          <p:cNvPr id="383" name="Google Shape;383;p35"/>
          <p:cNvSpPr/>
          <p:nvPr/>
        </p:nvSpPr>
        <p:spPr>
          <a:xfrm>
            <a:off x="1484310" y="1087869"/>
            <a:ext cx="324960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2000" b="1">
                <a:solidFill>
                  <a:schemeClr val="dk1"/>
                </a:solidFill>
                <a:latin typeface="Verdana"/>
                <a:ea typeface="Verdana"/>
                <a:cs typeface="Verdana"/>
                <a:sym typeface="Verdana"/>
              </a:rPr>
              <a:t>2.2.3. Μειονεκτήματα</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36"/>
          <p:cNvSpPr txBox="1">
            <a:spLocks noGrp="1"/>
          </p:cNvSpPr>
          <p:nvPr>
            <p:ph type="title"/>
          </p:nvPr>
        </p:nvSpPr>
        <p:spPr>
          <a:xfrm>
            <a:off x="1484310" y="-16625"/>
            <a:ext cx="1058862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2.2. Ευέλικτη Ανάπτυξη </a:t>
            </a:r>
            <a:br>
              <a:rPr lang="el-GR" sz="3000" b="1">
                <a:latin typeface="Verdana"/>
                <a:ea typeface="Verdana"/>
                <a:cs typeface="Verdana"/>
                <a:sym typeface="Verdana"/>
              </a:rPr>
            </a:br>
            <a:r>
              <a:rPr lang="el-GR" sz="3000" b="1">
                <a:latin typeface="Verdana"/>
                <a:ea typeface="Verdana"/>
                <a:cs typeface="Verdana"/>
                <a:sym typeface="Verdana"/>
              </a:rPr>
              <a:t>(Agile Development)</a:t>
            </a:r>
            <a:endParaRPr/>
          </a:p>
        </p:txBody>
      </p:sp>
      <p:sp>
        <p:nvSpPr>
          <p:cNvPr id="389" name="Google Shape;389;p36"/>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2320"/>
              <a:buNone/>
            </a:pPr>
            <a:r>
              <a:rPr lang="el-GR" sz="1600">
                <a:latin typeface="Verdana"/>
                <a:ea typeface="Verdana"/>
                <a:cs typeface="Verdana"/>
                <a:sym typeface="Verdana"/>
              </a:rPr>
              <a:t>Συνολικά, η Agile Development μετακινεί την προσοχή από τη στρατηγική στην επικοινωνία, επιτρέποντας στην ανάπτυξη να οδηγεί τη συνεργασία και τη συνεχή παρουσίαση λειτουργικού λογισμικού.</a:t>
            </a:r>
            <a:endParaRPr/>
          </a:p>
        </p:txBody>
      </p:sp>
      <p:sp>
        <p:nvSpPr>
          <p:cNvPr id="390" name="Google Shape;390;p36"/>
          <p:cNvSpPr/>
          <p:nvPr/>
        </p:nvSpPr>
        <p:spPr>
          <a:xfrm>
            <a:off x="1484310" y="1087869"/>
            <a:ext cx="222368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2000" b="1">
                <a:solidFill>
                  <a:schemeClr val="dk1"/>
                </a:solidFill>
                <a:latin typeface="Verdana"/>
                <a:ea typeface="Verdana"/>
                <a:cs typeface="Verdana"/>
                <a:sym typeface="Verdana"/>
              </a:rPr>
              <a:t>2.1.4. Σύνοψη</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37"/>
          <p:cNvSpPr txBox="1">
            <a:spLocks noGrp="1"/>
          </p:cNvSpPr>
          <p:nvPr>
            <p:ph type="title"/>
          </p:nvPr>
        </p:nvSpPr>
        <p:spPr>
          <a:xfrm>
            <a:off x="2729662" y="368543"/>
            <a:ext cx="7751128" cy="403578"/>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2.3. Ανάπτυξης DevOps</a:t>
            </a:r>
            <a:endParaRPr sz="3000">
              <a:latin typeface="Verdana"/>
              <a:ea typeface="Verdana"/>
              <a:cs typeface="Verdana"/>
              <a:sym typeface="Verdana"/>
            </a:endParaRPr>
          </a:p>
        </p:txBody>
      </p:sp>
      <p:sp>
        <p:nvSpPr>
          <p:cNvPr id="397" name="Google Shape;397;p37"/>
          <p:cNvSpPr txBox="1">
            <a:spLocks noGrp="1"/>
          </p:cNvSpPr>
          <p:nvPr>
            <p:ph type="body" idx="2"/>
          </p:nvPr>
        </p:nvSpPr>
        <p:spPr>
          <a:xfrm>
            <a:off x="1401185" y="2324100"/>
            <a:ext cx="3549121" cy="18288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2320"/>
              <a:buNone/>
            </a:pPr>
            <a:r>
              <a:rPr lang="el-GR">
                <a:latin typeface="Verdana"/>
                <a:ea typeface="Verdana"/>
                <a:cs typeface="Verdana"/>
                <a:sym typeface="Verdana"/>
              </a:rPr>
              <a:t>Το DevOps συνδυάζει Developing και Operations για συνεργατική ανάπτυξη, επιτρέποντας γρήγορη παράδοση και ελαχιστοποίηση σφαλμάτων.</a:t>
            </a:r>
            <a:endParaRPr>
              <a:latin typeface="Verdana"/>
              <a:ea typeface="Verdana"/>
              <a:cs typeface="Verdana"/>
              <a:sym typeface="Verdana"/>
            </a:endParaRPr>
          </a:p>
        </p:txBody>
      </p:sp>
      <p:sp>
        <p:nvSpPr>
          <p:cNvPr id="398" name="Google Shape;398;p37"/>
          <p:cNvSpPr/>
          <p:nvPr/>
        </p:nvSpPr>
        <p:spPr>
          <a:xfrm>
            <a:off x="1609003" y="806507"/>
            <a:ext cx="224131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1800" b="1">
                <a:solidFill>
                  <a:schemeClr val="dk1"/>
                </a:solidFill>
                <a:latin typeface="Verdana"/>
                <a:ea typeface="Verdana"/>
                <a:cs typeface="Verdana"/>
                <a:sym typeface="Verdana"/>
              </a:rPr>
              <a:t>2.3.1. Εισαγωγή</a:t>
            </a:r>
            <a:endParaRPr sz="1800" b="1">
              <a:solidFill>
                <a:schemeClr val="dk1"/>
              </a:solidFill>
              <a:latin typeface="Verdana"/>
              <a:ea typeface="Verdana"/>
              <a:cs typeface="Verdana"/>
              <a:sym typeface="Verdana"/>
            </a:endParaRPr>
          </a:p>
        </p:txBody>
      </p:sp>
      <p:sp>
        <p:nvSpPr>
          <p:cNvPr id="2" name="Text Placeholder 1"/>
          <p:cNvSpPr>
            <a:spLocks noGrp="1"/>
          </p:cNvSpPr>
          <p:nvPr>
            <p:ph type="body" idx="1"/>
          </p:nvPr>
        </p:nvSpPr>
        <p:spPr/>
        <p:txBody>
          <a:bodyPr/>
          <a:lstStyle/>
          <a:p>
            <a:endParaRPr lang="en-US"/>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62033" y="1440954"/>
            <a:ext cx="6240990" cy="3784819"/>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38"/>
          <p:cNvSpPr txBox="1">
            <a:spLocks noGrp="1"/>
          </p:cNvSpPr>
          <p:nvPr>
            <p:ph type="title"/>
          </p:nvPr>
        </p:nvSpPr>
        <p:spPr>
          <a:xfrm>
            <a:off x="1484310" y="-16625"/>
            <a:ext cx="1058862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2.3. Ανάπτυξης DevOps</a:t>
            </a:r>
            <a:endParaRPr/>
          </a:p>
        </p:txBody>
      </p:sp>
      <p:sp>
        <p:nvSpPr>
          <p:cNvPr id="404" name="Google Shape;404;p38"/>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2320"/>
              <a:buNone/>
            </a:pPr>
            <a:r>
              <a:rPr lang="el-GR" sz="1600">
                <a:latin typeface="Verdana"/>
                <a:ea typeface="Verdana"/>
                <a:cs typeface="Verdana"/>
                <a:sym typeface="Verdana"/>
              </a:rPr>
              <a:t>Η ομάδα DevOps αποτελείται από προγραμματιστές και ειδικούς IT operations. Ακολουθεί κοινή γνώση και συνεργασία σ’ όλη την πορεία της ανάπτυξης. Τα αυτοματοποιημένα εργαλεία επιταχύνουν τη διαδικασία και επιτρέπουν στην ομάδα να επικεντρωθεί στη λειτουργικότητα του έργου.</a:t>
            </a:r>
            <a:endParaRPr sz="1100">
              <a:latin typeface="Verdana"/>
              <a:ea typeface="Verdana"/>
              <a:cs typeface="Verdana"/>
              <a:sym typeface="Verdana"/>
            </a:endParaRPr>
          </a:p>
        </p:txBody>
      </p:sp>
      <p:sp>
        <p:nvSpPr>
          <p:cNvPr id="405" name="Google Shape;405;p38"/>
          <p:cNvSpPr/>
          <p:nvPr/>
        </p:nvSpPr>
        <p:spPr>
          <a:xfrm>
            <a:off x="1484310" y="1087869"/>
            <a:ext cx="264687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2000" b="1">
                <a:solidFill>
                  <a:schemeClr val="dk1"/>
                </a:solidFill>
                <a:latin typeface="Verdana"/>
                <a:ea typeface="Verdana"/>
                <a:cs typeface="Verdana"/>
                <a:sym typeface="Verdana"/>
              </a:rPr>
              <a:t>2.3.2. Λειτουργία</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39"/>
          <p:cNvSpPr txBox="1">
            <a:spLocks noGrp="1"/>
          </p:cNvSpPr>
          <p:nvPr>
            <p:ph type="title"/>
          </p:nvPr>
        </p:nvSpPr>
        <p:spPr>
          <a:xfrm>
            <a:off x="1484310" y="-16625"/>
            <a:ext cx="1058862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2.3. Ανάπτυξης DevOps</a:t>
            </a:r>
            <a:endParaRPr/>
          </a:p>
        </p:txBody>
      </p:sp>
      <p:sp>
        <p:nvSpPr>
          <p:cNvPr id="411" name="Google Shape;411;p39"/>
          <p:cNvSpPr txBox="1">
            <a:spLocks noGrp="1"/>
          </p:cNvSpPr>
          <p:nvPr>
            <p:ph type="body" idx="1"/>
          </p:nvPr>
        </p:nvSpPr>
        <p:spPr>
          <a:xfrm>
            <a:off x="1484300" y="1797277"/>
            <a:ext cx="10018800" cy="3952200"/>
          </a:xfrm>
          <a:prstGeom prst="rect">
            <a:avLst/>
          </a:prstGeom>
          <a:noFill/>
          <a:ln>
            <a:noFill/>
          </a:ln>
        </p:spPr>
        <p:txBody>
          <a:bodyPr spcFirstLastPara="1" wrap="square" lIns="91425" tIns="45700" rIns="91425" bIns="45700" anchor="ctr" anchorCtr="0">
            <a:normAutofit/>
          </a:bodyPr>
          <a:lstStyle/>
          <a:p>
            <a:pPr marL="285750" lvl="0" indent="-285750">
              <a:spcBef>
                <a:spcPts val="0"/>
              </a:spcBef>
              <a:buSzPts val="2320"/>
            </a:pPr>
            <a:r>
              <a:rPr lang="el-GR" sz="1600" dirty="0">
                <a:latin typeface="Verdana"/>
                <a:ea typeface="Verdana"/>
                <a:cs typeface="Verdana"/>
                <a:sym typeface="Verdana"/>
              </a:rPr>
              <a:t>Σχεδίαση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Σχεδιάζουμε πώς θα κάνουμε τη δουλειά.</a:t>
            </a:r>
            <a:endParaRPr dirty="0"/>
          </a:p>
          <a:p>
            <a:pPr marL="285750" lvl="0" indent="-285750">
              <a:spcBef>
                <a:spcPts val="920"/>
              </a:spcBef>
              <a:buSzPts val="2320"/>
            </a:pPr>
            <a:r>
              <a:rPr lang="el-GR" sz="1600" dirty="0">
                <a:latin typeface="Verdana"/>
                <a:ea typeface="Verdana"/>
                <a:cs typeface="Verdana"/>
                <a:sym typeface="Verdana"/>
              </a:rPr>
              <a:t>Προγραμματισμός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Γράφουμε τον κώδικα.</a:t>
            </a:r>
            <a:endParaRPr sz="1600" dirty="0">
              <a:latin typeface="Verdana"/>
              <a:ea typeface="Verdana"/>
              <a:cs typeface="Verdana"/>
              <a:sym typeface="Verdana"/>
            </a:endParaRPr>
          </a:p>
          <a:p>
            <a:pPr marL="285750" lvl="0" indent="-285750">
              <a:spcBef>
                <a:spcPts val="920"/>
              </a:spcBef>
              <a:buSzPts val="2320"/>
            </a:pPr>
            <a:r>
              <a:rPr lang="el-GR" sz="1600" dirty="0">
                <a:latin typeface="Verdana"/>
                <a:ea typeface="Verdana"/>
                <a:cs typeface="Verdana"/>
                <a:sym typeface="Verdana"/>
              </a:rPr>
              <a:t>Δοκιμή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Βεβαιωνόμαστε ότι όλα δουλεύουν σωστά.</a:t>
            </a:r>
            <a:endParaRPr sz="1600" dirty="0">
              <a:latin typeface="Verdana"/>
              <a:ea typeface="Verdana"/>
              <a:cs typeface="Verdana"/>
              <a:sym typeface="Verdana"/>
            </a:endParaRPr>
          </a:p>
          <a:p>
            <a:pPr marL="285750" lvl="0" indent="-285750">
              <a:spcBef>
                <a:spcPts val="920"/>
              </a:spcBef>
              <a:buSzPts val="2320"/>
            </a:pPr>
            <a:r>
              <a:rPr lang="el-GR" sz="1600" dirty="0">
                <a:latin typeface="Verdana"/>
                <a:ea typeface="Verdana"/>
                <a:cs typeface="Verdana"/>
                <a:sym typeface="Verdana"/>
              </a:rPr>
              <a:t>Παράδοση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Παραδίδουμε το έργο.</a:t>
            </a:r>
            <a:endParaRPr sz="1600" dirty="0">
              <a:latin typeface="Verdana"/>
              <a:ea typeface="Verdana"/>
              <a:cs typeface="Verdana"/>
              <a:sym typeface="Verdana"/>
            </a:endParaRPr>
          </a:p>
          <a:p>
            <a:pPr marL="285750" lvl="0" indent="-285750">
              <a:spcBef>
                <a:spcPts val="920"/>
              </a:spcBef>
              <a:buSzPts val="2320"/>
            </a:pPr>
            <a:r>
              <a:rPr lang="el-GR" sz="1600" dirty="0">
                <a:latin typeface="Verdana"/>
                <a:ea typeface="Verdana"/>
                <a:cs typeface="Verdana"/>
                <a:sym typeface="Verdana"/>
              </a:rPr>
              <a:t>Λειτουργία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Το έργο δουλεύει και εξυπηρετεί τον σκοπό του.</a:t>
            </a:r>
            <a:endParaRPr sz="1600" dirty="0">
              <a:latin typeface="Verdana"/>
              <a:ea typeface="Verdana"/>
              <a:cs typeface="Verdana"/>
              <a:sym typeface="Verdana"/>
            </a:endParaRPr>
          </a:p>
          <a:p>
            <a:pPr marL="285750" lvl="0" indent="-285750">
              <a:spcBef>
                <a:spcPts val="920"/>
              </a:spcBef>
              <a:buSzPts val="2320"/>
            </a:pPr>
            <a:r>
              <a:rPr lang="el-GR" sz="1600" dirty="0">
                <a:latin typeface="Verdana"/>
                <a:ea typeface="Verdana"/>
                <a:cs typeface="Verdana"/>
                <a:sym typeface="Verdana"/>
              </a:rPr>
              <a:t>Παρατήρηση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Παρατηρούμε αν υπάρχουν προβλήματα.</a:t>
            </a:r>
            <a:endParaRPr sz="1600" dirty="0">
              <a:latin typeface="Verdana"/>
              <a:ea typeface="Verdana"/>
              <a:cs typeface="Verdana"/>
              <a:sym typeface="Verdana"/>
            </a:endParaRPr>
          </a:p>
          <a:p>
            <a:pPr marL="285750" lvl="0" indent="-285750">
              <a:spcBef>
                <a:spcPts val="920"/>
              </a:spcBef>
              <a:buSzPts val="2320"/>
            </a:pPr>
            <a:r>
              <a:rPr lang="el-GR" sz="1600" dirty="0">
                <a:latin typeface="Verdana"/>
                <a:ea typeface="Verdana"/>
                <a:cs typeface="Verdana"/>
                <a:sym typeface="Verdana"/>
              </a:rPr>
              <a:t>Αξιολόγηση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Κρίνουμε το πώς πήγε το έργο.</a:t>
            </a:r>
            <a:endParaRPr sz="1600" dirty="0">
              <a:latin typeface="Verdana"/>
              <a:ea typeface="Verdana"/>
              <a:cs typeface="Verdana"/>
              <a:sym typeface="Verdana"/>
            </a:endParaRPr>
          </a:p>
          <a:p>
            <a:pPr marL="0" lvl="0" indent="0" algn="l" rtl="0">
              <a:spcBef>
                <a:spcPts val="0"/>
              </a:spcBef>
              <a:spcAft>
                <a:spcPts val="0"/>
              </a:spcAft>
              <a:buNone/>
            </a:pPr>
            <a:endParaRPr sz="1600" dirty="0">
              <a:latin typeface="Verdana"/>
              <a:ea typeface="Verdana"/>
              <a:cs typeface="Verdana"/>
              <a:sym typeface="Verdana"/>
            </a:endParaRPr>
          </a:p>
        </p:txBody>
      </p:sp>
      <p:sp>
        <p:nvSpPr>
          <p:cNvPr id="412" name="Google Shape;412;p39"/>
          <p:cNvSpPr/>
          <p:nvPr/>
        </p:nvSpPr>
        <p:spPr>
          <a:xfrm>
            <a:off x="1484310" y="1087869"/>
            <a:ext cx="213712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2000" b="1">
                <a:solidFill>
                  <a:schemeClr val="dk1"/>
                </a:solidFill>
                <a:latin typeface="Verdana"/>
                <a:ea typeface="Verdana"/>
                <a:cs typeface="Verdana"/>
                <a:sym typeface="Verdana"/>
              </a:rPr>
              <a:t>2.3.3. Κύκλος</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p40"/>
          <p:cNvSpPr txBox="1">
            <a:spLocks noGrp="1"/>
          </p:cNvSpPr>
          <p:nvPr>
            <p:ph type="title"/>
          </p:nvPr>
        </p:nvSpPr>
        <p:spPr>
          <a:xfrm>
            <a:off x="1484310" y="-16625"/>
            <a:ext cx="1058862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2.3. Ανάπτυξης DevOps</a:t>
            </a:r>
            <a:endParaRPr/>
          </a:p>
        </p:txBody>
      </p:sp>
      <p:sp>
        <p:nvSpPr>
          <p:cNvPr id="418" name="Google Shape;418;p40"/>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rmAutofit/>
          </a:bodyPr>
          <a:lstStyle/>
          <a:p>
            <a:pPr marL="285750" lvl="0" indent="-285750">
              <a:spcBef>
                <a:spcPts val="0"/>
              </a:spcBef>
              <a:buSzPts val="2320"/>
            </a:pPr>
            <a:r>
              <a:rPr lang="el-GR" sz="1600" dirty="0">
                <a:latin typeface="Verdana"/>
                <a:ea typeface="Verdana"/>
                <a:cs typeface="Verdana"/>
                <a:sym typeface="Verdana"/>
              </a:rPr>
              <a:t>Ταχύτητα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Αυτοματοποιημένα εργαλεία επιταχύνουν την ανάπτυξη.</a:t>
            </a:r>
            <a:endParaRPr dirty="0"/>
          </a:p>
          <a:p>
            <a:pPr marL="285750" lvl="0" indent="-285750">
              <a:spcBef>
                <a:spcPts val="920"/>
              </a:spcBef>
              <a:buSzPts val="2320"/>
            </a:pPr>
            <a:r>
              <a:rPr lang="el-GR" sz="1600" dirty="0">
                <a:latin typeface="Verdana"/>
                <a:ea typeface="Verdana"/>
                <a:cs typeface="Verdana"/>
                <a:sym typeface="Verdana"/>
              </a:rPr>
              <a:t>Βελτιωμένη συνεργασία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Σύνθεση γνώσεων προγραμματιστών και ειδικών IT operations για ενίσχυση της επικοινωνίας.</a:t>
            </a:r>
            <a:endParaRPr dirty="0"/>
          </a:p>
          <a:p>
            <a:pPr marL="285750" lvl="0" indent="-285750">
              <a:spcBef>
                <a:spcPts val="920"/>
              </a:spcBef>
              <a:buSzPts val="2320"/>
            </a:pPr>
            <a:r>
              <a:rPr lang="el-GR" sz="1600" dirty="0">
                <a:latin typeface="Verdana"/>
                <a:ea typeface="Verdana"/>
                <a:cs typeface="Verdana"/>
                <a:sym typeface="Verdana"/>
              </a:rPr>
              <a:t>Βελτιωμένη ποιότητα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Ελαχιστοποίηση σφαλμάτων και ασφαλής ανάπτυξη.</a:t>
            </a:r>
            <a:endParaRPr sz="1600" dirty="0">
              <a:latin typeface="Verdana"/>
              <a:ea typeface="Verdana"/>
              <a:cs typeface="Verdana"/>
              <a:sym typeface="Verdana"/>
            </a:endParaRPr>
          </a:p>
          <a:p>
            <a:pPr marL="285750" lvl="0" indent="-240030">
              <a:spcBef>
                <a:spcPts val="920"/>
              </a:spcBef>
              <a:buSzPts val="1600"/>
              <a:buFont typeface="Verdana"/>
              <a:buChar char="•"/>
            </a:pPr>
            <a:r>
              <a:rPr lang="el-GR" sz="1600" dirty="0">
                <a:latin typeface="Verdana"/>
                <a:ea typeface="Verdana"/>
                <a:cs typeface="Verdana"/>
                <a:sym typeface="Verdana"/>
              </a:rPr>
              <a:t>Ασφάλεια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Ειδική ομάδα (DevSecOps) που ασχολείται.</a:t>
            </a:r>
            <a:endParaRPr sz="1600" dirty="0">
              <a:latin typeface="Verdana"/>
              <a:ea typeface="Verdana"/>
              <a:cs typeface="Verdana"/>
              <a:sym typeface="Verdana"/>
            </a:endParaRPr>
          </a:p>
        </p:txBody>
      </p:sp>
      <p:sp>
        <p:nvSpPr>
          <p:cNvPr id="419" name="Google Shape;419;p40"/>
          <p:cNvSpPr/>
          <p:nvPr/>
        </p:nvSpPr>
        <p:spPr>
          <a:xfrm>
            <a:off x="1484310" y="1087869"/>
            <a:ext cx="3299301"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2000" b="1">
                <a:solidFill>
                  <a:schemeClr val="dk1"/>
                </a:solidFill>
                <a:latin typeface="Verdana"/>
                <a:ea typeface="Verdana"/>
                <a:cs typeface="Verdana"/>
                <a:sym typeface="Verdana"/>
              </a:rPr>
              <a:t>2.3.4. Πλεονεκτήματα</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p41"/>
          <p:cNvSpPr txBox="1">
            <a:spLocks noGrp="1"/>
          </p:cNvSpPr>
          <p:nvPr>
            <p:ph type="title"/>
          </p:nvPr>
        </p:nvSpPr>
        <p:spPr>
          <a:xfrm>
            <a:off x="1484310" y="-16625"/>
            <a:ext cx="1058862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2.3. Ανάπτυξης DevOps</a:t>
            </a:r>
            <a:endParaRPr/>
          </a:p>
        </p:txBody>
      </p:sp>
      <p:sp>
        <p:nvSpPr>
          <p:cNvPr id="425" name="Google Shape;425;p41"/>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rmAutofit/>
          </a:bodyPr>
          <a:lstStyle/>
          <a:p>
            <a:pPr marL="285750" lvl="0" indent="-285750">
              <a:spcBef>
                <a:spcPts val="0"/>
              </a:spcBef>
              <a:buSzPts val="2320"/>
            </a:pPr>
            <a:r>
              <a:rPr lang="el-GR" sz="1600" dirty="0">
                <a:latin typeface="Verdana"/>
                <a:ea typeface="Verdana"/>
                <a:cs typeface="Verdana"/>
                <a:sym typeface="Verdana"/>
              </a:rPr>
              <a:t>Ανάγκη για γνώση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Απαιτεί επιπλέον γνώση και εμπειρία.</a:t>
            </a:r>
            <a:endParaRPr dirty="0"/>
          </a:p>
          <a:p>
            <a:pPr marL="285750" lvl="0" indent="-285750">
              <a:spcBef>
                <a:spcPts val="920"/>
              </a:spcBef>
              <a:buSzPts val="2320"/>
            </a:pPr>
            <a:r>
              <a:rPr lang="el-GR" sz="1600" dirty="0">
                <a:latin typeface="Verdana"/>
                <a:ea typeface="Verdana"/>
                <a:cs typeface="Verdana"/>
                <a:sym typeface="Verdana"/>
              </a:rPr>
              <a:t>Πίεση στον χρόνο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Η χρήση εργαλείων είναι χρονοβόρα.</a:t>
            </a:r>
            <a:endParaRPr dirty="0"/>
          </a:p>
          <a:p>
            <a:pPr marL="285750" lvl="0" indent="-285750">
              <a:spcBef>
                <a:spcPts val="920"/>
              </a:spcBef>
              <a:buSzPts val="2320"/>
            </a:pPr>
            <a:r>
              <a:rPr lang="el-GR" sz="1600" dirty="0">
                <a:latin typeface="Verdana"/>
                <a:ea typeface="Verdana"/>
                <a:cs typeface="Verdana"/>
                <a:sym typeface="Verdana"/>
              </a:rPr>
              <a:t>Μη-ασφαλής ανάπτυξη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Η βιαστική ανάπτυξη βάζει σε ρίσκο την ασφαλή ανάπτυξη.</a:t>
            </a:r>
            <a:endParaRPr dirty="0"/>
          </a:p>
        </p:txBody>
      </p:sp>
      <p:sp>
        <p:nvSpPr>
          <p:cNvPr id="426" name="Google Shape;426;p41"/>
          <p:cNvSpPr/>
          <p:nvPr/>
        </p:nvSpPr>
        <p:spPr>
          <a:xfrm>
            <a:off x="1484310" y="1087869"/>
            <a:ext cx="324960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2000" b="1">
                <a:solidFill>
                  <a:schemeClr val="dk1"/>
                </a:solidFill>
                <a:latin typeface="Verdana"/>
                <a:ea typeface="Verdana"/>
                <a:cs typeface="Verdana"/>
                <a:sym typeface="Verdana"/>
              </a:rPr>
              <a:t>2.3.5. Μειονεκτήματα</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42"/>
          <p:cNvSpPr txBox="1">
            <a:spLocks noGrp="1"/>
          </p:cNvSpPr>
          <p:nvPr>
            <p:ph type="title"/>
          </p:nvPr>
        </p:nvSpPr>
        <p:spPr>
          <a:xfrm>
            <a:off x="1484310" y="-16625"/>
            <a:ext cx="1058862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2.3. Ανάπτυξης DevOps</a:t>
            </a:r>
            <a:endParaRPr/>
          </a:p>
        </p:txBody>
      </p:sp>
      <p:sp>
        <p:nvSpPr>
          <p:cNvPr id="432" name="Google Shape;432;p42"/>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2320"/>
              <a:buNone/>
            </a:pPr>
            <a:r>
              <a:rPr lang="el-GR" sz="1600">
                <a:latin typeface="Verdana"/>
                <a:ea typeface="Verdana"/>
                <a:cs typeface="Verdana"/>
                <a:sym typeface="Verdana"/>
              </a:rPr>
              <a:t>Συνολικά, το DevOps επιτρέπει αποτελεσματική παραγωγή έργων, με ελάχιστα λάθη, βελτιωμένη ποιότητα, ικανοποιημένες απαιτήσεις και γρήγορη ανάπτυξη. Η ανάγκη για αλλαγή εξυπηρετείται με αυτοματοποιημένες δυνατότητες ανατροφοδότησης και βελτίωσης.</a:t>
            </a:r>
            <a:endParaRPr sz="1100">
              <a:latin typeface="Verdana"/>
              <a:ea typeface="Verdana"/>
              <a:cs typeface="Verdana"/>
              <a:sym typeface="Verdana"/>
            </a:endParaRPr>
          </a:p>
        </p:txBody>
      </p:sp>
      <p:sp>
        <p:nvSpPr>
          <p:cNvPr id="433" name="Google Shape;433;p42"/>
          <p:cNvSpPr/>
          <p:nvPr/>
        </p:nvSpPr>
        <p:spPr>
          <a:xfrm>
            <a:off x="1484310" y="1087869"/>
            <a:ext cx="222368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2000" b="1">
                <a:solidFill>
                  <a:schemeClr val="dk1"/>
                </a:solidFill>
                <a:latin typeface="Verdana"/>
                <a:ea typeface="Verdana"/>
                <a:cs typeface="Verdana"/>
                <a:sym typeface="Verdana"/>
              </a:rPr>
              <a:t>2.3.6. Σύνοψη</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43"/>
          <p:cNvSpPr txBox="1">
            <a:spLocks noGrp="1"/>
          </p:cNvSpPr>
          <p:nvPr>
            <p:ph type="title"/>
          </p:nvPr>
        </p:nvSpPr>
        <p:spPr>
          <a:xfrm>
            <a:off x="3258872" y="406990"/>
            <a:ext cx="6504220" cy="361604"/>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2.4. Μεθοδολογία Scrum</a:t>
            </a:r>
            <a:endParaRPr sz="3000">
              <a:latin typeface="Verdana"/>
              <a:ea typeface="Verdana"/>
              <a:cs typeface="Verdana"/>
              <a:sym typeface="Verdana"/>
            </a:endParaRPr>
          </a:p>
        </p:txBody>
      </p:sp>
      <p:sp>
        <p:nvSpPr>
          <p:cNvPr id="440" name="Google Shape;440;p43"/>
          <p:cNvSpPr txBox="1">
            <a:spLocks noGrp="1"/>
          </p:cNvSpPr>
          <p:nvPr>
            <p:ph type="body" idx="2"/>
          </p:nvPr>
        </p:nvSpPr>
        <p:spPr>
          <a:xfrm>
            <a:off x="1484311" y="2414513"/>
            <a:ext cx="3549121" cy="18288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SzPts val="2320"/>
              <a:buNone/>
            </a:pPr>
            <a:r>
              <a:rPr lang="el-GR">
                <a:latin typeface="Verdana"/>
                <a:ea typeface="Verdana"/>
                <a:cs typeface="Verdana"/>
                <a:sym typeface="Verdana"/>
              </a:rPr>
              <a:t>Η εμβληματική μέθοδος Scrum αποτελεί πλαίσιο διαχείρισης έργων, καθορίζοντας νέα πρότυπα στον κόσμο της ανάπτυξης λογισμικού. Βασίζεται σε αρχές ευελιξίας και συνεργατικής αλληλεπίδρασης, δίνοντας έμφασης σε μια πολυεπίπεδη προσέγγιση για την εκτέλεση σύνθετων έργων και την αποτελεσματική παραγωγή υψηλής ποιότητας προϊόντων σε στενές χρονικές προθεσμίες.</a:t>
            </a:r>
            <a:endParaRPr>
              <a:latin typeface="Verdana"/>
              <a:ea typeface="Verdana"/>
              <a:cs typeface="Verdana"/>
              <a:sym typeface="Verdana"/>
            </a:endParaRPr>
          </a:p>
        </p:txBody>
      </p:sp>
      <p:sp>
        <p:nvSpPr>
          <p:cNvPr id="441" name="Google Shape;441;p43"/>
          <p:cNvSpPr/>
          <p:nvPr/>
        </p:nvSpPr>
        <p:spPr>
          <a:xfrm>
            <a:off x="1609003" y="819054"/>
            <a:ext cx="224131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1800" b="1">
                <a:solidFill>
                  <a:schemeClr val="dk1"/>
                </a:solidFill>
                <a:latin typeface="Verdana"/>
                <a:ea typeface="Verdana"/>
                <a:cs typeface="Verdana"/>
                <a:sym typeface="Verdana"/>
              </a:rPr>
              <a:t>2.4.1. Εισαγωγή</a:t>
            </a:r>
            <a:endParaRPr sz="1800" b="1">
              <a:solidFill>
                <a:schemeClr val="dk1"/>
              </a:solidFill>
              <a:latin typeface="Verdana"/>
              <a:ea typeface="Verdana"/>
              <a:cs typeface="Verdana"/>
              <a:sym typeface="Verdana"/>
            </a:endParaRPr>
          </a:p>
        </p:txBody>
      </p:sp>
      <p:sp>
        <p:nvSpPr>
          <p:cNvPr id="2" name="Text Placeholder 1"/>
          <p:cNvSpPr>
            <a:spLocks noGrp="1"/>
          </p:cNvSpPr>
          <p:nvPr>
            <p:ph type="body" idx="1"/>
          </p:nvPr>
        </p:nvSpPr>
        <p:spPr/>
        <p:txBody>
          <a:bodyPr/>
          <a:lstStyle/>
          <a:p>
            <a:endParaRPr lang="en-US"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62033" y="1746373"/>
            <a:ext cx="6240990" cy="3232781"/>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4"/>
          <p:cNvSpPr txBox="1">
            <a:spLocks noGrp="1"/>
          </p:cNvSpPr>
          <p:nvPr>
            <p:ph type="title"/>
          </p:nvPr>
        </p:nvSpPr>
        <p:spPr>
          <a:xfrm>
            <a:off x="1484310" y="-16625"/>
            <a:ext cx="1058862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2.4. Μεθοδολογία Scrum</a:t>
            </a:r>
            <a:endParaRPr/>
          </a:p>
        </p:txBody>
      </p:sp>
      <p:sp>
        <p:nvSpPr>
          <p:cNvPr id="447" name="Google Shape;447;p44"/>
          <p:cNvSpPr txBox="1">
            <a:spLocks noGrp="1"/>
          </p:cNvSpPr>
          <p:nvPr>
            <p:ph type="body" idx="1"/>
          </p:nvPr>
        </p:nvSpPr>
        <p:spPr>
          <a:xfrm>
            <a:off x="1484300" y="1730050"/>
            <a:ext cx="10018800" cy="4029900"/>
          </a:xfrm>
          <a:prstGeom prst="rect">
            <a:avLst/>
          </a:prstGeom>
          <a:noFill/>
          <a:ln>
            <a:noFill/>
          </a:ln>
        </p:spPr>
        <p:txBody>
          <a:bodyPr spcFirstLastPara="1" wrap="square" lIns="91425" tIns="45700" rIns="91425" bIns="45700" anchor="ctr" anchorCtr="0">
            <a:normAutofit/>
          </a:bodyPr>
          <a:lstStyle/>
          <a:p>
            <a:pPr lvl="0" indent="-330200">
              <a:lnSpc>
                <a:spcPct val="150000"/>
              </a:lnSpc>
              <a:spcBef>
                <a:spcPts val="0"/>
              </a:spcBef>
              <a:buSzPts val="1600"/>
              <a:buFont typeface="Verdana"/>
              <a:buChar char="•"/>
            </a:pPr>
            <a:r>
              <a:rPr lang="el-GR" sz="1600" dirty="0">
                <a:latin typeface="Verdana"/>
                <a:ea typeface="Verdana"/>
                <a:cs typeface="Verdana"/>
                <a:sym typeface="Verdana"/>
              </a:rPr>
              <a:t>Ευελιξία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Η δομή Sprint επιτρέπει την προσαρμογή σε αλλαγές και ανάγκες του έργου κατά τη διάρκεια της ανάπτυξης.</a:t>
            </a:r>
            <a:endParaRPr sz="1600" dirty="0">
              <a:latin typeface="Verdana"/>
              <a:ea typeface="Verdana"/>
              <a:cs typeface="Verdana"/>
              <a:sym typeface="Verdana"/>
            </a:endParaRPr>
          </a:p>
          <a:p>
            <a:pPr lvl="0" indent="-330200">
              <a:lnSpc>
                <a:spcPct val="150000"/>
              </a:lnSpc>
              <a:spcBef>
                <a:spcPts val="0"/>
              </a:spcBef>
              <a:buSzPts val="1600"/>
              <a:buFont typeface="Verdana"/>
              <a:buChar char="•"/>
            </a:pPr>
            <a:r>
              <a:rPr lang="el-GR" sz="1600" dirty="0">
                <a:latin typeface="Verdana"/>
                <a:ea typeface="Verdana"/>
                <a:cs typeface="Verdana"/>
                <a:sym typeface="Verdana"/>
              </a:rPr>
              <a:t>Συνεχής Επικοινωνία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Οι καθημερινές συναντήσεις ενισχύουν την επικοινωνία και την αμοιβαία κατανόηση μεταξύ των μελών της ομάδας.</a:t>
            </a:r>
            <a:endParaRPr sz="1600" dirty="0">
              <a:latin typeface="Verdana"/>
              <a:ea typeface="Verdana"/>
              <a:cs typeface="Verdana"/>
              <a:sym typeface="Verdana"/>
            </a:endParaRPr>
          </a:p>
          <a:p>
            <a:pPr lvl="0" indent="-330200">
              <a:lnSpc>
                <a:spcPct val="150000"/>
              </a:lnSpc>
              <a:spcBef>
                <a:spcPts val="0"/>
              </a:spcBef>
              <a:buSzPts val="1600"/>
              <a:buFont typeface="Verdana"/>
              <a:buChar char="•"/>
            </a:pPr>
            <a:r>
              <a:rPr lang="el-GR" sz="1600" dirty="0">
                <a:latin typeface="Verdana"/>
                <a:ea typeface="Verdana"/>
                <a:cs typeface="Verdana"/>
                <a:sym typeface="Verdana"/>
              </a:rPr>
              <a:t>Παράδοση Λειτουργικού Προϊόντος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Κάθε Sprint ολοκληρώνεται με την παράδοση ενός λειτουργικού προϊόντος, προσφέροντας αξία στον πελάτη.</a:t>
            </a:r>
            <a:endParaRPr sz="1600" dirty="0">
              <a:latin typeface="Verdana"/>
              <a:ea typeface="Verdana"/>
              <a:cs typeface="Verdana"/>
              <a:sym typeface="Verdana"/>
            </a:endParaRPr>
          </a:p>
          <a:p>
            <a:pPr lvl="0" indent="-330200">
              <a:lnSpc>
                <a:spcPct val="150000"/>
              </a:lnSpc>
              <a:spcBef>
                <a:spcPts val="0"/>
              </a:spcBef>
              <a:buSzPts val="1600"/>
              <a:buFont typeface="Verdana"/>
              <a:buChar char="•"/>
            </a:pPr>
            <a:r>
              <a:rPr lang="el-GR" sz="1600" dirty="0">
                <a:latin typeface="Verdana"/>
                <a:ea typeface="Verdana"/>
                <a:cs typeface="Verdana"/>
                <a:sym typeface="Verdana"/>
              </a:rPr>
              <a:t>Ενεργή Συμμετοχή Πελάτη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Ο πελάτης έχει ευκαιρίες για ενεργό engagement και ανατροφοδότηση κατά τη διάρκεια του έργου.</a:t>
            </a:r>
            <a:endParaRPr sz="1600" dirty="0">
              <a:latin typeface="Verdana"/>
              <a:ea typeface="Verdana"/>
              <a:cs typeface="Verdana"/>
              <a:sym typeface="Verdana"/>
            </a:endParaRPr>
          </a:p>
          <a:p>
            <a:pPr lvl="0" indent="-330200">
              <a:lnSpc>
                <a:spcPct val="150000"/>
              </a:lnSpc>
              <a:spcBef>
                <a:spcPts val="0"/>
              </a:spcBef>
              <a:buSzPts val="1600"/>
              <a:buFont typeface="Verdana"/>
              <a:buChar char="•"/>
            </a:pPr>
            <a:r>
              <a:rPr lang="el-GR" sz="1600" dirty="0">
                <a:latin typeface="Verdana"/>
                <a:ea typeface="Verdana"/>
                <a:cs typeface="Verdana"/>
                <a:sym typeface="Verdana"/>
              </a:rPr>
              <a:t>Εστίαση στην Ομάδα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Η ομάδα είναι αυτοοργανωμένη, με εστίαση στην επίλυση προβλημάτων και την επίτευξη στόχων.</a:t>
            </a:r>
            <a:endParaRPr sz="1600" dirty="0">
              <a:latin typeface="Verdana"/>
              <a:ea typeface="Verdana"/>
              <a:cs typeface="Verdana"/>
              <a:sym typeface="Verdana"/>
            </a:endParaRPr>
          </a:p>
          <a:p>
            <a:pPr marL="0" lvl="0" indent="0" algn="l" rtl="0">
              <a:spcBef>
                <a:spcPts val="0"/>
              </a:spcBef>
              <a:spcAft>
                <a:spcPts val="0"/>
              </a:spcAft>
              <a:buSzPts val="2320"/>
              <a:buNone/>
            </a:pPr>
            <a:endParaRPr sz="1600" dirty="0">
              <a:latin typeface="Verdana"/>
              <a:ea typeface="Verdana"/>
              <a:cs typeface="Verdana"/>
              <a:sym typeface="Verdana"/>
            </a:endParaRPr>
          </a:p>
        </p:txBody>
      </p:sp>
      <p:sp>
        <p:nvSpPr>
          <p:cNvPr id="448" name="Google Shape;448;p44"/>
          <p:cNvSpPr/>
          <p:nvPr/>
        </p:nvSpPr>
        <p:spPr>
          <a:xfrm>
            <a:off x="1484310" y="1087869"/>
            <a:ext cx="3299301"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2000" b="1">
                <a:solidFill>
                  <a:schemeClr val="dk1"/>
                </a:solidFill>
                <a:latin typeface="Verdana"/>
                <a:ea typeface="Verdana"/>
                <a:cs typeface="Verdana"/>
                <a:sym typeface="Verdana"/>
              </a:rPr>
              <a:t>2.4.2. Πλεονεκτήματα</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p45"/>
          <p:cNvSpPr txBox="1">
            <a:spLocks noGrp="1"/>
          </p:cNvSpPr>
          <p:nvPr>
            <p:ph type="title"/>
          </p:nvPr>
        </p:nvSpPr>
        <p:spPr>
          <a:xfrm>
            <a:off x="1484310" y="-16625"/>
            <a:ext cx="1058862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2.4. Μεθοδολογία Scrum</a:t>
            </a:r>
            <a:endParaRPr/>
          </a:p>
        </p:txBody>
      </p:sp>
      <p:sp>
        <p:nvSpPr>
          <p:cNvPr id="454" name="Google Shape;454;p45"/>
          <p:cNvSpPr txBox="1">
            <a:spLocks noGrp="1"/>
          </p:cNvSpPr>
          <p:nvPr>
            <p:ph type="body" idx="1"/>
          </p:nvPr>
        </p:nvSpPr>
        <p:spPr>
          <a:xfrm>
            <a:off x="1484300" y="1854350"/>
            <a:ext cx="10018800" cy="3615300"/>
          </a:xfrm>
          <a:prstGeom prst="rect">
            <a:avLst/>
          </a:prstGeom>
          <a:noFill/>
          <a:ln>
            <a:noFill/>
          </a:ln>
        </p:spPr>
        <p:txBody>
          <a:bodyPr spcFirstLastPara="1" wrap="square" lIns="91425" tIns="45700" rIns="91425" bIns="45700" anchor="ctr" anchorCtr="0">
            <a:normAutofit lnSpcReduction="10000"/>
          </a:bodyPr>
          <a:lstStyle/>
          <a:p>
            <a:pPr lvl="0" indent="-330200">
              <a:lnSpc>
                <a:spcPct val="150000"/>
              </a:lnSpc>
              <a:spcBef>
                <a:spcPts val="0"/>
              </a:spcBef>
              <a:buSzPts val="1600"/>
              <a:buFont typeface="Verdana"/>
              <a:buChar char="•"/>
            </a:pPr>
            <a:r>
              <a:rPr lang="el-GR" sz="1600" dirty="0">
                <a:latin typeface="Verdana"/>
                <a:ea typeface="Verdana"/>
                <a:cs typeface="Verdana"/>
                <a:sym typeface="Verdana"/>
              </a:rPr>
              <a:t>Δυσκολία Προβλεπτικότητας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Η επαναληπτική φύση των Sprints μπορεί να καθιστά δύσκολο τον προσδιορισμό του τελικού χρονοδιαγράμματος.</a:t>
            </a:r>
            <a:endParaRPr sz="1600" dirty="0">
              <a:latin typeface="Verdana"/>
              <a:ea typeface="Verdana"/>
              <a:cs typeface="Verdana"/>
              <a:sym typeface="Verdana"/>
            </a:endParaRPr>
          </a:p>
          <a:p>
            <a:pPr lvl="0" indent="-330200">
              <a:lnSpc>
                <a:spcPct val="150000"/>
              </a:lnSpc>
              <a:spcBef>
                <a:spcPts val="0"/>
              </a:spcBef>
              <a:buSzPts val="1600"/>
              <a:buFont typeface="Verdana"/>
              <a:buChar char="•"/>
            </a:pPr>
            <a:r>
              <a:rPr lang="el-GR" sz="1600" dirty="0">
                <a:latin typeface="Verdana"/>
                <a:ea typeface="Verdana"/>
                <a:cs typeface="Verdana"/>
                <a:sym typeface="Verdana"/>
              </a:rPr>
              <a:t>Απαιτητική Διαδικασία Εκμάθησης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Τα νέα μέλη της ομάδας πρέπει να προσαρμοστούν στη φιλοσοφία και τις διαδικασίες του Scrum.</a:t>
            </a:r>
            <a:endParaRPr sz="1600" dirty="0">
              <a:latin typeface="Verdana"/>
              <a:ea typeface="Verdana"/>
              <a:cs typeface="Verdana"/>
              <a:sym typeface="Verdana"/>
            </a:endParaRPr>
          </a:p>
          <a:p>
            <a:pPr lvl="0" indent="-330200">
              <a:lnSpc>
                <a:spcPct val="150000"/>
              </a:lnSpc>
              <a:spcBef>
                <a:spcPts val="0"/>
              </a:spcBef>
              <a:buSzPts val="1600"/>
              <a:buFont typeface="Verdana"/>
              <a:buChar char="•"/>
            </a:pPr>
            <a:r>
              <a:rPr lang="el-GR" sz="1600" dirty="0">
                <a:latin typeface="Verdana"/>
                <a:ea typeface="Verdana"/>
                <a:cs typeface="Verdana"/>
                <a:sym typeface="Verdana"/>
              </a:rPr>
              <a:t>Έλλειψη Κατάλληλου Documentation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Σε κάποιες περιπτώσεις, μπορεί να υπάρχει έλλειψη τεκμηρίωσης λόγω έμφασης στην αποτελεσματικότητα.</a:t>
            </a:r>
            <a:endParaRPr sz="1600" dirty="0">
              <a:latin typeface="Verdana"/>
              <a:ea typeface="Verdana"/>
              <a:cs typeface="Verdana"/>
              <a:sym typeface="Verdana"/>
            </a:endParaRPr>
          </a:p>
          <a:p>
            <a:pPr lvl="0" indent="-330200">
              <a:lnSpc>
                <a:spcPct val="150000"/>
              </a:lnSpc>
              <a:spcBef>
                <a:spcPts val="0"/>
              </a:spcBef>
              <a:buSzPts val="1600"/>
              <a:buFont typeface="Verdana"/>
              <a:buChar char="•"/>
            </a:pPr>
            <a:r>
              <a:rPr lang="el-GR" sz="1600" dirty="0">
                <a:latin typeface="Verdana"/>
                <a:ea typeface="Verdana"/>
                <a:cs typeface="Verdana"/>
                <a:sym typeface="Verdana"/>
              </a:rPr>
              <a:t>Εξάρτηση από την Αυτοοργάνωση της Ομάδας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Η επιτυχία του Scrum εξαρτάται σε μεγάλο βαθμό από την ικανότητα αυτοοργάνωσης της ομάδας.</a:t>
            </a:r>
            <a:endParaRPr sz="1600" dirty="0">
              <a:latin typeface="Verdana"/>
              <a:ea typeface="Verdana"/>
              <a:cs typeface="Verdana"/>
              <a:sym typeface="Verdana"/>
            </a:endParaRPr>
          </a:p>
          <a:p>
            <a:pPr lvl="0" indent="-330200">
              <a:lnSpc>
                <a:spcPct val="150000"/>
              </a:lnSpc>
              <a:spcBef>
                <a:spcPts val="0"/>
              </a:spcBef>
              <a:buSzPts val="1600"/>
              <a:buFont typeface="Verdana"/>
              <a:buChar char="•"/>
            </a:pPr>
            <a:r>
              <a:rPr lang="el-GR" sz="1600" dirty="0">
                <a:latin typeface="Verdana"/>
                <a:ea typeface="Verdana"/>
                <a:cs typeface="Verdana"/>
                <a:sym typeface="Verdana"/>
              </a:rPr>
              <a:t>Δυσκολία Εφαρμογής σε Μικρά Έργα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Σε έργα μικρής κλίμακας, η πολυπλοκότητα των διαδικασιών του Scrum μπορεί να είναι υπερβολική.</a:t>
            </a:r>
            <a:endParaRPr sz="1600" dirty="0">
              <a:latin typeface="Verdana"/>
              <a:ea typeface="Verdana"/>
              <a:cs typeface="Verdana"/>
              <a:sym typeface="Verdana"/>
            </a:endParaRPr>
          </a:p>
        </p:txBody>
      </p:sp>
      <p:sp>
        <p:nvSpPr>
          <p:cNvPr id="455" name="Google Shape;455;p45"/>
          <p:cNvSpPr/>
          <p:nvPr/>
        </p:nvSpPr>
        <p:spPr>
          <a:xfrm>
            <a:off x="1484310" y="1087869"/>
            <a:ext cx="324960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2000" b="1">
                <a:solidFill>
                  <a:schemeClr val="dk1"/>
                </a:solidFill>
                <a:latin typeface="Verdana"/>
                <a:ea typeface="Verdana"/>
                <a:cs typeface="Verdana"/>
                <a:sym typeface="Verdana"/>
              </a:rPr>
              <a:t>2.4.3. Μειονεκτήματα</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46"/>
          <p:cNvSpPr txBox="1">
            <a:spLocks noGrp="1"/>
          </p:cNvSpPr>
          <p:nvPr>
            <p:ph type="title"/>
          </p:nvPr>
        </p:nvSpPr>
        <p:spPr>
          <a:xfrm>
            <a:off x="1484310" y="-16625"/>
            <a:ext cx="1058862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2.4. Μεθοδολογία Scrum</a:t>
            </a:r>
            <a:endParaRPr/>
          </a:p>
        </p:txBody>
      </p:sp>
      <p:sp>
        <p:nvSpPr>
          <p:cNvPr id="461" name="Google Shape;461;p46"/>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2320"/>
              <a:buNone/>
            </a:pPr>
            <a:r>
              <a:rPr lang="el-GR" sz="1600">
                <a:latin typeface="Verdana"/>
                <a:ea typeface="Verdana"/>
                <a:cs typeface="Verdana"/>
                <a:sym typeface="Verdana"/>
              </a:rPr>
              <a:t>Συνολικά, η μέθοδος Scrum, προσφέρει μια πρωτοποριακή προσέγγιση στην ανάπτυξη προϊόντων. Ενώ, οι προκλήσεις παραμένουν εμφανείς, η δομημένη τεχνική του Scrum τον καθιστά απαραίτητο για διάφορες κατηγορίες έργων.</a:t>
            </a:r>
            <a:endParaRPr sz="1600">
              <a:latin typeface="Verdana"/>
              <a:ea typeface="Verdana"/>
              <a:cs typeface="Verdana"/>
              <a:sym typeface="Verdana"/>
            </a:endParaRPr>
          </a:p>
          <a:p>
            <a:pPr marL="0" lvl="0" indent="0" algn="l" rtl="0">
              <a:spcBef>
                <a:spcPts val="0"/>
              </a:spcBef>
              <a:spcAft>
                <a:spcPts val="0"/>
              </a:spcAft>
              <a:buSzPts val="2320"/>
              <a:buNone/>
            </a:pPr>
            <a:endParaRPr sz="900">
              <a:latin typeface="Verdana"/>
              <a:ea typeface="Verdana"/>
              <a:cs typeface="Verdana"/>
              <a:sym typeface="Verdana"/>
            </a:endParaRPr>
          </a:p>
        </p:txBody>
      </p:sp>
      <p:sp>
        <p:nvSpPr>
          <p:cNvPr id="462" name="Google Shape;462;p46"/>
          <p:cNvSpPr/>
          <p:nvPr/>
        </p:nvSpPr>
        <p:spPr>
          <a:xfrm>
            <a:off x="1484310" y="1087869"/>
            <a:ext cx="222368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2000" b="1">
                <a:solidFill>
                  <a:schemeClr val="dk1"/>
                </a:solidFill>
                <a:latin typeface="Verdana"/>
                <a:ea typeface="Verdana"/>
                <a:cs typeface="Verdana"/>
                <a:sym typeface="Verdana"/>
              </a:rPr>
              <a:t>2.4.4. Σύνοψη</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47"/>
          <p:cNvSpPr txBox="1">
            <a:spLocks noGrp="1"/>
          </p:cNvSpPr>
          <p:nvPr>
            <p:ph type="title"/>
          </p:nvPr>
        </p:nvSpPr>
        <p:spPr>
          <a:xfrm>
            <a:off x="626309" y="0"/>
            <a:ext cx="11358854" cy="1009996"/>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2.5. Ακραίος Προγραμματισμός </a:t>
            </a:r>
            <a:br>
              <a:rPr lang="el-GR" sz="3000" b="1">
                <a:latin typeface="Verdana"/>
                <a:ea typeface="Verdana"/>
                <a:cs typeface="Verdana"/>
                <a:sym typeface="Verdana"/>
              </a:rPr>
            </a:br>
            <a:r>
              <a:rPr lang="el-GR" sz="3000" b="1">
                <a:latin typeface="Verdana"/>
                <a:ea typeface="Verdana"/>
                <a:cs typeface="Verdana"/>
                <a:sym typeface="Verdana"/>
              </a:rPr>
              <a:t>(Extreme Programming)</a:t>
            </a:r>
            <a:endParaRPr sz="3000">
              <a:latin typeface="Verdana"/>
              <a:ea typeface="Verdana"/>
              <a:cs typeface="Verdana"/>
              <a:sym typeface="Verdana"/>
            </a:endParaRPr>
          </a:p>
        </p:txBody>
      </p:sp>
      <p:sp>
        <p:nvSpPr>
          <p:cNvPr id="469" name="Google Shape;469;p47"/>
          <p:cNvSpPr txBox="1">
            <a:spLocks noGrp="1"/>
          </p:cNvSpPr>
          <p:nvPr>
            <p:ph type="body" idx="2"/>
          </p:nvPr>
        </p:nvSpPr>
        <p:spPr>
          <a:xfrm>
            <a:off x="1409495" y="2739043"/>
            <a:ext cx="3549121" cy="18288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SzPts val="2320"/>
              <a:buNone/>
            </a:pPr>
            <a:r>
              <a:rPr lang="el-GR">
                <a:latin typeface="Verdana"/>
                <a:ea typeface="Verdana"/>
                <a:cs typeface="Verdana"/>
                <a:sym typeface="Verdana"/>
              </a:rPr>
              <a:t>Ο ακραίος προγραμματισμός είναι ένα μοντέλο για γρήγορη ανάπτυξη λογισμικού, με έμφαση στη συνεργασία, στην ποιότητα, και στην ευελιξία. Στοχεύει σε συνεχείς αναθεωρήσεις και δοκιμές για να προσαρμόζεται στις απαιτήσεις του πελάτη.</a:t>
            </a:r>
            <a:endParaRPr/>
          </a:p>
          <a:p>
            <a:pPr marL="0" lvl="0" indent="0" algn="l" rtl="0">
              <a:spcBef>
                <a:spcPts val="920"/>
              </a:spcBef>
              <a:spcAft>
                <a:spcPts val="0"/>
              </a:spcAft>
              <a:buSzPts val="2320"/>
              <a:buNone/>
            </a:pPr>
            <a:r>
              <a:rPr lang="el-GR">
                <a:latin typeface="Verdana"/>
                <a:ea typeface="Verdana"/>
                <a:cs typeface="Verdana"/>
                <a:sym typeface="Verdana"/>
              </a:rPr>
              <a:t/>
            </a:r>
            <a:br>
              <a:rPr lang="el-GR">
                <a:latin typeface="Verdana"/>
                <a:ea typeface="Verdana"/>
                <a:cs typeface="Verdana"/>
                <a:sym typeface="Verdana"/>
              </a:rPr>
            </a:br>
            <a:endParaRPr>
              <a:latin typeface="Verdana"/>
              <a:ea typeface="Verdana"/>
              <a:cs typeface="Verdana"/>
              <a:sym typeface="Verdana"/>
            </a:endParaRPr>
          </a:p>
        </p:txBody>
      </p:sp>
      <p:sp>
        <p:nvSpPr>
          <p:cNvPr id="470" name="Google Shape;470;p47"/>
          <p:cNvSpPr/>
          <p:nvPr/>
        </p:nvSpPr>
        <p:spPr>
          <a:xfrm>
            <a:off x="1409495" y="1009996"/>
            <a:ext cx="224131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1800" b="1">
                <a:solidFill>
                  <a:schemeClr val="dk1"/>
                </a:solidFill>
                <a:latin typeface="Verdana"/>
                <a:ea typeface="Verdana"/>
                <a:cs typeface="Verdana"/>
                <a:sym typeface="Verdana"/>
              </a:rPr>
              <a:t>2.5.1. Εισαγωγή</a:t>
            </a:r>
            <a:endParaRPr sz="1800" b="1">
              <a:solidFill>
                <a:schemeClr val="dk1"/>
              </a:solidFill>
              <a:latin typeface="Verdana"/>
              <a:ea typeface="Verdana"/>
              <a:cs typeface="Verdana"/>
              <a:sym typeface="Verdana"/>
            </a:endParaRPr>
          </a:p>
        </p:txBody>
      </p:sp>
      <p:sp>
        <p:nvSpPr>
          <p:cNvPr id="2" name="Text Placeholder 1"/>
          <p:cNvSpPr>
            <a:spLocks noGrp="1"/>
          </p:cNvSpPr>
          <p:nvPr>
            <p:ph type="body" idx="1"/>
          </p:nvPr>
        </p:nvSpPr>
        <p:spPr/>
        <p:txBody>
          <a:bodyPr/>
          <a:lstStyle/>
          <a:p>
            <a:endParaRPr lang="en-US"/>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91695" y="1494915"/>
            <a:ext cx="6593032" cy="3487167"/>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5" name="Google Shape;475;p48"/>
          <p:cNvSpPr txBox="1">
            <a:spLocks noGrp="1"/>
          </p:cNvSpPr>
          <p:nvPr>
            <p:ph type="title"/>
          </p:nvPr>
        </p:nvSpPr>
        <p:spPr>
          <a:xfrm>
            <a:off x="1484310" y="-16625"/>
            <a:ext cx="1058862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2.5. Ακραίος Προγραμματισμός </a:t>
            </a:r>
            <a:br>
              <a:rPr lang="el-GR" sz="3000" b="1">
                <a:latin typeface="Verdana"/>
                <a:ea typeface="Verdana"/>
                <a:cs typeface="Verdana"/>
                <a:sym typeface="Verdana"/>
              </a:rPr>
            </a:br>
            <a:r>
              <a:rPr lang="el-GR" sz="3000" b="1">
                <a:latin typeface="Verdana"/>
                <a:ea typeface="Verdana"/>
                <a:cs typeface="Verdana"/>
                <a:sym typeface="Verdana"/>
              </a:rPr>
              <a:t>(Extreme Programming)</a:t>
            </a:r>
            <a:endParaRPr/>
          </a:p>
        </p:txBody>
      </p:sp>
      <p:sp>
        <p:nvSpPr>
          <p:cNvPr id="476" name="Google Shape;476;p48"/>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2320"/>
              <a:buNone/>
            </a:pPr>
            <a:r>
              <a:rPr lang="el-GR" sz="1600">
                <a:latin typeface="Verdana"/>
                <a:ea typeface="Verdana"/>
                <a:cs typeface="Verdana"/>
                <a:sym typeface="Verdana"/>
              </a:rPr>
              <a:t>Ο Ακραίος Προγραμματισμός συνίσταται σε συνεργατικό προγραμματισμό σε ζεύγη, ανάπτυξη βασισμένη σε δοκιμές, συχνή ολοκλήρωση και συνεχείς κυκλοφορίες. Ο πελάτης συμμετέχει ενεργά, ενώ ο ρυθμός εργασίας είναι βιώσιμος και ανθρώπινος.</a:t>
            </a:r>
            <a:endParaRPr sz="600">
              <a:latin typeface="Verdana"/>
              <a:ea typeface="Verdana"/>
              <a:cs typeface="Verdana"/>
              <a:sym typeface="Verdana"/>
            </a:endParaRPr>
          </a:p>
        </p:txBody>
      </p:sp>
      <p:sp>
        <p:nvSpPr>
          <p:cNvPr id="477" name="Google Shape;477;p48"/>
          <p:cNvSpPr/>
          <p:nvPr/>
        </p:nvSpPr>
        <p:spPr>
          <a:xfrm>
            <a:off x="1484310" y="1087869"/>
            <a:ext cx="3453189"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2000" b="1">
                <a:solidFill>
                  <a:schemeClr val="dk1"/>
                </a:solidFill>
                <a:latin typeface="Verdana"/>
                <a:ea typeface="Verdana"/>
                <a:cs typeface="Verdana"/>
                <a:sym typeface="Verdana"/>
              </a:rPr>
              <a:t>2.5.2. Λειτουργικότητα</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50"/>
          <p:cNvSpPr txBox="1">
            <a:spLocks noGrp="1"/>
          </p:cNvSpPr>
          <p:nvPr>
            <p:ph type="title"/>
          </p:nvPr>
        </p:nvSpPr>
        <p:spPr>
          <a:xfrm>
            <a:off x="1484310" y="-16625"/>
            <a:ext cx="1058862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2.5. Ακραίος Προγραμματισμός </a:t>
            </a:r>
            <a:br>
              <a:rPr lang="el-GR" sz="3000" b="1">
                <a:latin typeface="Verdana"/>
                <a:ea typeface="Verdana"/>
                <a:cs typeface="Verdana"/>
                <a:sym typeface="Verdana"/>
              </a:rPr>
            </a:br>
            <a:r>
              <a:rPr lang="el-GR" sz="3000" b="1">
                <a:latin typeface="Verdana"/>
                <a:ea typeface="Verdana"/>
                <a:cs typeface="Verdana"/>
                <a:sym typeface="Verdana"/>
              </a:rPr>
              <a:t>(Extreme Programming)</a:t>
            </a:r>
            <a:endParaRPr/>
          </a:p>
        </p:txBody>
      </p:sp>
      <p:sp>
        <p:nvSpPr>
          <p:cNvPr id="490" name="Google Shape;490;p50"/>
          <p:cNvSpPr txBox="1">
            <a:spLocks noGrp="1"/>
          </p:cNvSpPr>
          <p:nvPr>
            <p:ph type="body" idx="1"/>
          </p:nvPr>
        </p:nvSpPr>
        <p:spPr>
          <a:xfrm>
            <a:off x="1484310" y="2367066"/>
            <a:ext cx="10018800" cy="3124200"/>
          </a:xfrm>
          <a:prstGeom prst="rect">
            <a:avLst/>
          </a:prstGeom>
          <a:noFill/>
          <a:ln>
            <a:noFill/>
          </a:ln>
        </p:spPr>
        <p:txBody>
          <a:bodyPr spcFirstLastPara="1" wrap="square" lIns="91425" tIns="45700" rIns="91425" bIns="45700" anchor="ctr" anchorCtr="0">
            <a:noAutofit/>
          </a:bodyPr>
          <a:lstStyle/>
          <a:p>
            <a:pPr marL="285750" lvl="0" indent="-285750">
              <a:spcBef>
                <a:spcPts val="0"/>
              </a:spcBef>
              <a:buSzPts val="2320"/>
            </a:pPr>
            <a:r>
              <a:rPr lang="el-GR" sz="1600" dirty="0">
                <a:latin typeface="Verdana"/>
                <a:ea typeface="Verdana"/>
                <a:cs typeface="Verdana"/>
                <a:sym typeface="Verdana"/>
              </a:rPr>
              <a:t>Εξοικονόμηση Κόστους &amp; Χρόνου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Γρήγορη ανάπτυξη εξασφαλίζει έγκαιρη παράδοση χωρίς περιττές δαπάνες και τεκμηριώσεις.</a:t>
            </a:r>
            <a:endParaRPr dirty="0"/>
          </a:p>
          <a:p>
            <a:pPr marL="285750" lvl="0" indent="-285750">
              <a:spcBef>
                <a:spcPts val="920"/>
              </a:spcBef>
              <a:buSzPts val="2320"/>
            </a:pPr>
            <a:r>
              <a:rPr lang="el-GR" sz="1600" dirty="0">
                <a:latin typeface="Verdana"/>
                <a:ea typeface="Verdana"/>
                <a:cs typeface="Verdana"/>
                <a:sym typeface="Verdana"/>
              </a:rPr>
              <a:t>Βελτίωση Ποιότητας μέσω Απλότητας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Ο απλός κώδικας επιτρέπει γρηγορότερες διορθώσεις και ενισχύει την ποιότητα του έργου.</a:t>
            </a:r>
            <a:endParaRPr dirty="0"/>
          </a:p>
          <a:p>
            <a:pPr marL="285750" lvl="0" indent="-285750">
              <a:spcBef>
                <a:spcPts val="920"/>
              </a:spcBef>
              <a:buSzPts val="2320"/>
            </a:pPr>
            <a:r>
              <a:rPr lang="el-GR" sz="1600" dirty="0">
                <a:latin typeface="Verdana"/>
                <a:ea typeface="Verdana"/>
                <a:cs typeface="Verdana"/>
                <a:sym typeface="Verdana"/>
              </a:rPr>
              <a:t>Αίσθηση Ευθύνης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Ο προγραμματισμός σε ζεύγη εμπνέει κίνητρο και αίσθηση ευθύνης στα μέλη της ομάδας.</a:t>
            </a:r>
            <a:endParaRPr dirty="0"/>
          </a:p>
          <a:p>
            <a:pPr marL="285750" lvl="0" indent="-285750">
              <a:spcBef>
                <a:spcPts val="920"/>
              </a:spcBef>
              <a:buSzPts val="2320"/>
            </a:pPr>
            <a:r>
              <a:rPr lang="el-GR" sz="1600" dirty="0">
                <a:latin typeface="Verdana"/>
                <a:ea typeface="Verdana"/>
                <a:cs typeface="Verdana"/>
                <a:sym typeface="Verdana"/>
              </a:rPr>
              <a:t>Οφέλη Ανατροφοδότησης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Η συνεχής ανατροφοδότηση προσφέρει ευκαιρίες βελτίωσης και επιτρέπει την ενσωμάτωση νέων ιδεών.</a:t>
            </a:r>
            <a:endParaRPr dirty="0"/>
          </a:p>
          <a:p>
            <a:pPr marL="285750" lvl="0" indent="-285750">
              <a:spcBef>
                <a:spcPts val="920"/>
              </a:spcBef>
              <a:buSzPts val="2320"/>
            </a:pPr>
            <a:r>
              <a:rPr lang="el-GR" sz="1600" dirty="0">
                <a:latin typeface="Verdana"/>
                <a:ea typeface="Verdana"/>
                <a:cs typeface="Verdana"/>
                <a:sym typeface="Verdana"/>
              </a:rPr>
              <a:t>Βελτιωμένη Αξιοπιστία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Οι δοκιμές κατά την ανάπτυξη ενισχύουν την αξιοπιστία του τελικού έργου.</a:t>
            </a:r>
            <a:endParaRPr dirty="0"/>
          </a:p>
          <a:p>
            <a:pPr marL="0" lvl="0" indent="0" algn="l" rtl="0">
              <a:spcBef>
                <a:spcPts val="920"/>
              </a:spcBef>
              <a:spcAft>
                <a:spcPts val="0"/>
              </a:spcAft>
              <a:buSzPts val="2320"/>
              <a:buNone/>
            </a:pPr>
            <a:r>
              <a:rPr lang="el-GR" sz="1600" dirty="0">
                <a:latin typeface="Verdana"/>
                <a:ea typeface="Verdana"/>
                <a:cs typeface="Verdana"/>
                <a:sym typeface="Verdana"/>
              </a:rPr>
              <a:t/>
            </a:r>
            <a:br>
              <a:rPr lang="el-GR" sz="1600" dirty="0">
                <a:latin typeface="Verdana"/>
                <a:ea typeface="Verdana"/>
                <a:cs typeface="Verdana"/>
                <a:sym typeface="Verdana"/>
              </a:rPr>
            </a:br>
            <a:endParaRPr sz="1600" dirty="0">
              <a:latin typeface="Verdana"/>
              <a:ea typeface="Verdana"/>
              <a:cs typeface="Verdana"/>
              <a:sym typeface="Verdana"/>
            </a:endParaRPr>
          </a:p>
        </p:txBody>
      </p:sp>
      <p:sp>
        <p:nvSpPr>
          <p:cNvPr id="491" name="Google Shape;491;p50"/>
          <p:cNvSpPr/>
          <p:nvPr/>
        </p:nvSpPr>
        <p:spPr>
          <a:xfrm>
            <a:off x="1484310" y="1087869"/>
            <a:ext cx="3299301"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2000" b="1" dirty="0" smtClean="0">
                <a:solidFill>
                  <a:schemeClr val="dk1"/>
                </a:solidFill>
                <a:latin typeface="Verdana"/>
                <a:ea typeface="Verdana"/>
                <a:cs typeface="Verdana"/>
                <a:sym typeface="Verdana"/>
              </a:rPr>
              <a:t>2.5.3. </a:t>
            </a:r>
            <a:r>
              <a:rPr lang="el-GR" sz="2000" b="1" dirty="0">
                <a:solidFill>
                  <a:schemeClr val="dk1"/>
                </a:solidFill>
                <a:latin typeface="Verdana"/>
                <a:ea typeface="Verdana"/>
                <a:cs typeface="Verdana"/>
                <a:sym typeface="Verdana"/>
              </a:rPr>
              <a:t>Πλεονεκτήματα</a:t>
            </a:r>
            <a:endParaRPr sz="2000" b="1" dirty="0">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51"/>
          <p:cNvSpPr txBox="1">
            <a:spLocks noGrp="1"/>
          </p:cNvSpPr>
          <p:nvPr>
            <p:ph type="title"/>
          </p:nvPr>
        </p:nvSpPr>
        <p:spPr>
          <a:xfrm>
            <a:off x="1484310" y="-16625"/>
            <a:ext cx="1058862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2.5. Ακραίος Προγραμματισμός </a:t>
            </a:r>
            <a:br>
              <a:rPr lang="el-GR" sz="3000" b="1">
                <a:latin typeface="Verdana"/>
                <a:ea typeface="Verdana"/>
                <a:cs typeface="Verdana"/>
                <a:sym typeface="Verdana"/>
              </a:rPr>
            </a:br>
            <a:r>
              <a:rPr lang="el-GR" sz="3000" b="1">
                <a:latin typeface="Verdana"/>
                <a:ea typeface="Verdana"/>
                <a:cs typeface="Verdana"/>
                <a:sym typeface="Verdana"/>
              </a:rPr>
              <a:t>(Extreme Programming)</a:t>
            </a:r>
            <a:endParaRPr/>
          </a:p>
        </p:txBody>
      </p:sp>
      <p:sp>
        <p:nvSpPr>
          <p:cNvPr id="497" name="Google Shape;497;p51"/>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Autofit/>
          </a:bodyPr>
          <a:lstStyle/>
          <a:p>
            <a:pPr marL="285750" lvl="0" indent="-285750">
              <a:spcBef>
                <a:spcPts val="0"/>
              </a:spcBef>
              <a:buSzPts val="2320"/>
            </a:pPr>
            <a:r>
              <a:rPr lang="el-GR" sz="1600" dirty="0">
                <a:latin typeface="Verdana"/>
                <a:ea typeface="Verdana"/>
                <a:cs typeface="Verdana"/>
                <a:sym typeface="Verdana"/>
              </a:rPr>
              <a:t>Αφέλεια στο Σχεδιασμό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Έλλειψη ικανοποιητικού σχεδιασμού με πιθανές δυσαρέσκειες από τον πελάτη.</a:t>
            </a:r>
            <a:endParaRPr dirty="0"/>
          </a:p>
          <a:p>
            <a:pPr marL="285750" lvl="0" indent="-285750">
              <a:spcBef>
                <a:spcPts val="920"/>
              </a:spcBef>
              <a:buSzPts val="2320"/>
            </a:pPr>
            <a:r>
              <a:rPr lang="el-GR" sz="1600" dirty="0">
                <a:latin typeface="Verdana"/>
                <a:ea typeface="Verdana"/>
                <a:cs typeface="Verdana"/>
                <a:sym typeface="Verdana"/>
              </a:rPr>
              <a:t>Πρόβλημα Απόστασης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Δυσκολίες στην επικοινωνία και συνεργασία για τα μέλη που απουσιάζουν.</a:t>
            </a:r>
            <a:endParaRPr dirty="0"/>
          </a:p>
          <a:p>
            <a:pPr marL="285750" lvl="0" indent="-285750">
              <a:spcBef>
                <a:spcPts val="920"/>
              </a:spcBef>
              <a:buSzPts val="2320"/>
            </a:pPr>
            <a:r>
              <a:rPr lang="el-GR" sz="1600" dirty="0">
                <a:latin typeface="Verdana"/>
                <a:ea typeface="Verdana"/>
                <a:cs typeface="Verdana"/>
                <a:sym typeface="Verdana"/>
              </a:rPr>
              <a:t>Έλλειψη Τεκμηριώσεων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Η έλλειψη τεκμηριώσεων μπορεί να οδηγήσει σε σφάλματα και προβλήματα.</a:t>
            </a:r>
            <a:endParaRPr dirty="0"/>
          </a:p>
          <a:p>
            <a:pPr marL="285750" lvl="0" indent="-285750">
              <a:spcBef>
                <a:spcPts val="920"/>
              </a:spcBef>
              <a:buSzPts val="2320"/>
            </a:pPr>
            <a:r>
              <a:rPr lang="el-GR" sz="1600" dirty="0">
                <a:latin typeface="Verdana"/>
                <a:ea typeface="Verdana"/>
                <a:cs typeface="Verdana"/>
                <a:sym typeface="Verdana"/>
              </a:rPr>
              <a:t>Άγχος λόγω Χρονικών Περιορισμών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Ο περιορισμένος χρόνος παράδοσης μπορεί να προκαλέσει άγχος και να επηρεάσει την ποιότητα του κώδικα.</a:t>
            </a:r>
            <a:endParaRPr dirty="0"/>
          </a:p>
          <a:p>
            <a:pPr marL="0" lvl="0" indent="0" algn="l" rtl="0">
              <a:spcBef>
                <a:spcPts val="920"/>
              </a:spcBef>
              <a:spcAft>
                <a:spcPts val="0"/>
              </a:spcAft>
              <a:buSzPts val="2320"/>
              <a:buNone/>
            </a:pPr>
            <a:r>
              <a:rPr lang="el-GR" sz="1600" dirty="0">
                <a:latin typeface="Verdana"/>
                <a:ea typeface="Verdana"/>
                <a:cs typeface="Verdana"/>
                <a:sym typeface="Verdana"/>
              </a:rPr>
              <a:t/>
            </a:r>
            <a:br>
              <a:rPr lang="el-GR" sz="1600" dirty="0">
                <a:latin typeface="Verdana"/>
                <a:ea typeface="Verdana"/>
                <a:cs typeface="Verdana"/>
                <a:sym typeface="Verdana"/>
              </a:rPr>
            </a:br>
            <a:endParaRPr sz="1600" dirty="0">
              <a:latin typeface="Verdana"/>
              <a:ea typeface="Verdana"/>
              <a:cs typeface="Verdana"/>
              <a:sym typeface="Verdana"/>
            </a:endParaRPr>
          </a:p>
        </p:txBody>
      </p:sp>
      <p:sp>
        <p:nvSpPr>
          <p:cNvPr id="498" name="Google Shape;498;p51"/>
          <p:cNvSpPr/>
          <p:nvPr/>
        </p:nvSpPr>
        <p:spPr>
          <a:xfrm>
            <a:off x="1484310" y="1087869"/>
            <a:ext cx="324960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2000" b="1" dirty="0" smtClean="0">
                <a:solidFill>
                  <a:schemeClr val="dk1"/>
                </a:solidFill>
                <a:latin typeface="Verdana"/>
                <a:ea typeface="Verdana"/>
                <a:cs typeface="Verdana"/>
                <a:sym typeface="Verdana"/>
              </a:rPr>
              <a:t>2.5.4. </a:t>
            </a:r>
            <a:r>
              <a:rPr lang="el-GR" sz="2000" b="1" dirty="0">
                <a:solidFill>
                  <a:schemeClr val="dk1"/>
                </a:solidFill>
                <a:latin typeface="Verdana"/>
                <a:ea typeface="Verdana"/>
                <a:cs typeface="Verdana"/>
                <a:sym typeface="Verdana"/>
              </a:rPr>
              <a:t>Μειονεκτήματα</a:t>
            </a:r>
            <a:endParaRPr sz="2000" b="1" dirty="0">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p52"/>
          <p:cNvSpPr txBox="1">
            <a:spLocks noGrp="1"/>
          </p:cNvSpPr>
          <p:nvPr>
            <p:ph type="title"/>
          </p:nvPr>
        </p:nvSpPr>
        <p:spPr>
          <a:xfrm>
            <a:off x="1484310" y="-16625"/>
            <a:ext cx="1058862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2.5. Ακραίος Προγραμματισμός </a:t>
            </a:r>
            <a:br>
              <a:rPr lang="el-GR" sz="3000" b="1">
                <a:latin typeface="Verdana"/>
                <a:ea typeface="Verdana"/>
                <a:cs typeface="Verdana"/>
                <a:sym typeface="Verdana"/>
              </a:rPr>
            </a:br>
            <a:r>
              <a:rPr lang="el-GR" sz="3000" b="1">
                <a:latin typeface="Verdana"/>
                <a:ea typeface="Verdana"/>
                <a:cs typeface="Verdana"/>
                <a:sym typeface="Verdana"/>
              </a:rPr>
              <a:t>(Extreme Programming)</a:t>
            </a:r>
            <a:endParaRPr/>
          </a:p>
        </p:txBody>
      </p:sp>
      <p:sp>
        <p:nvSpPr>
          <p:cNvPr id="504" name="Google Shape;504;p52"/>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l-GR" sz="1600" dirty="0">
                <a:latin typeface="Verdana"/>
                <a:ea typeface="Verdana"/>
                <a:cs typeface="Verdana"/>
                <a:sym typeface="Verdana"/>
              </a:rPr>
              <a:t>Ο ακραίος προγραμματισμός προσφέρει δυναμική προσέγγιση με πλεονεκτήματα σε εξοικονόμηση κόστους και χρόνου, ενώ ταυτόχρονα αντιμετωπίζει προκλήσεις στον σχεδιασμό και την επικοινωνία. Είναι μια επιλογή που απαιτεί ισορροπία μεταξύ της γρήγορης ανάπτυξης και της διατήρησης υψηλής ποιότητας.</a:t>
            </a:r>
            <a:endParaRPr dirty="0"/>
          </a:p>
          <a:p>
            <a:pPr marL="0" lvl="0" indent="0" algn="l" rtl="0">
              <a:spcBef>
                <a:spcPts val="920"/>
              </a:spcBef>
              <a:spcAft>
                <a:spcPts val="0"/>
              </a:spcAft>
              <a:buSzPts val="2320"/>
              <a:buNone/>
            </a:pPr>
            <a:r>
              <a:rPr lang="el-GR" sz="1600" dirty="0">
                <a:latin typeface="Verdana"/>
                <a:ea typeface="Verdana"/>
                <a:cs typeface="Verdana"/>
                <a:sym typeface="Verdana"/>
              </a:rPr>
              <a:t/>
            </a:r>
            <a:br>
              <a:rPr lang="el-GR" sz="1600" dirty="0">
                <a:latin typeface="Verdana"/>
                <a:ea typeface="Verdana"/>
                <a:cs typeface="Verdana"/>
                <a:sym typeface="Verdana"/>
              </a:rPr>
            </a:br>
            <a:endParaRPr sz="1600" dirty="0">
              <a:latin typeface="Verdana"/>
              <a:ea typeface="Verdana"/>
              <a:cs typeface="Verdana"/>
              <a:sym typeface="Verdana"/>
            </a:endParaRPr>
          </a:p>
        </p:txBody>
      </p:sp>
      <p:sp>
        <p:nvSpPr>
          <p:cNvPr id="505" name="Google Shape;505;p52"/>
          <p:cNvSpPr/>
          <p:nvPr/>
        </p:nvSpPr>
        <p:spPr>
          <a:xfrm>
            <a:off x="1484310" y="1087869"/>
            <a:ext cx="222368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2000" b="1" dirty="0" smtClean="0">
                <a:solidFill>
                  <a:schemeClr val="dk1"/>
                </a:solidFill>
                <a:latin typeface="Verdana"/>
                <a:ea typeface="Verdana"/>
                <a:cs typeface="Verdana"/>
                <a:sym typeface="Verdana"/>
              </a:rPr>
              <a:t>2.5.5. </a:t>
            </a:r>
            <a:r>
              <a:rPr lang="el-GR" sz="2000" b="1" dirty="0">
                <a:solidFill>
                  <a:schemeClr val="dk1"/>
                </a:solidFill>
                <a:latin typeface="Verdana"/>
                <a:ea typeface="Verdana"/>
                <a:cs typeface="Verdana"/>
                <a:sym typeface="Verdana"/>
              </a:rPr>
              <a:t>Σύνοψη</a:t>
            </a:r>
            <a:endParaRPr sz="2000" b="1" dirty="0">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p53"/>
          <p:cNvSpPr txBox="1">
            <a:spLocks noGrp="1"/>
          </p:cNvSpPr>
          <p:nvPr>
            <p:ph type="title"/>
          </p:nvPr>
        </p:nvSpPr>
        <p:spPr>
          <a:xfrm>
            <a:off x="1598877" y="148163"/>
            <a:ext cx="9789559" cy="1018309"/>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2.6. Ανάπτυξη οδηγούμενη από τον έλεγχο </a:t>
            </a:r>
            <a:br>
              <a:rPr lang="el-GR" sz="3000" b="1">
                <a:latin typeface="Verdana"/>
                <a:ea typeface="Verdana"/>
                <a:cs typeface="Verdana"/>
                <a:sym typeface="Verdana"/>
              </a:rPr>
            </a:br>
            <a:r>
              <a:rPr lang="el-GR" sz="3000" b="1">
                <a:latin typeface="Verdana"/>
                <a:ea typeface="Verdana"/>
                <a:cs typeface="Verdana"/>
                <a:sym typeface="Verdana"/>
              </a:rPr>
              <a:t>(Test-driven Development)</a:t>
            </a:r>
            <a:endParaRPr sz="3000">
              <a:latin typeface="Verdana"/>
              <a:ea typeface="Verdana"/>
              <a:cs typeface="Verdana"/>
              <a:sym typeface="Verdana"/>
            </a:endParaRPr>
          </a:p>
        </p:txBody>
      </p:sp>
      <p:sp>
        <p:nvSpPr>
          <p:cNvPr id="512" name="Google Shape;512;p53"/>
          <p:cNvSpPr txBox="1">
            <a:spLocks noGrp="1"/>
          </p:cNvSpPr>
          <p:nvPr>
            <p:ph type="body" idx="2"/>
          </p:nvPr>
        </p:nvSpPr>
        <p:spPr>
          <a:xfrm>
            <a:off x="1374432" y="2687701"/>
            <a:ext cx="3549121" cy="1828800"/>
          </a:xfrm>
          <a:prstGeom prst="rect">
            <a:avLst/>
          </a:prstGeom>
          <a:noFill/>
          <a:ln>
            <a:noFill/>
          </a:ln>
        </p:spPr>
        <p:txBody>
          <a:bodyPr spcFirstLastPara="1" wrap="square" lIns="91425" tIns="45700" rIns="91425" bIns="45700" anchor="ctr" anchorCtr="0">
            <a:normAutofit fontScale="92500" lnSpcReduction="10000"/>
          </a:bodyPr>
          <a:lstStyle/>
          <a:p>
            <a:pPr marL="0" lvl="0" indent="0" algn="l" rtl="0">
              <a:spcBef>
                <a:spcPts val="0"/>
              </a:spcBef>
              <a:spcAft>
                <a:spcPts val="0"/>
              </a:spcAft>
              <a:buSzPct val="145000"/>
              <a:buNone/>
            </a:pPr>
            <a:r>
              <a:rPr lang="el-GR">
                <a:latin typeface="Verdana"/>
                <a:ea typeface="Verdana"/>
                <a:cs typeface="Verdana"/>
                <a:sym typeface="Verdana"/>
              </a:rPr>
              <a:t>Test Driven Development (TDD) είναι η διαδικασία όπου οι δοκιμαστικές υποθέσεις γράφονται πριν τον κώδικα, με σύντομους κύκλους ανάπτυξης. Χρησιμοποιεί αυτοματοποιημένες μονάδες δοκιμής για τον σχεδιασμό και την αποσύνδεση των εξαρτήσεων.</a:t>
            </a:r>
            <a:endParaRPr>
              <a:latin typeface="Verdana"/>
              <a:ea typeface="Verdana"/>
              <a:cs typeface="Verdana"/>
              <a:sym typeface="Verdana"/>
            </a:endParaRPr>
          </a:p>
        </p:txBody>
      </p:sp>
      <p:sp>
        <p:nvSpPr>
          <p:cNvPr id="513" name="Google Shape;513;p53"/>
          <p:cNvSpPr/>
          <p:nvPr/>
        </p:nvSpPr>
        <p:spPr>
          <a:xfrm>
            <a:off x="1374432" y="1166472"/>
            <a:ext cx="224131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1800" b="1">
                <a:solidFill>
                  <a:schemeClr val="dk1"/>
                </a:solidFill>
                <a:latin typeface="Verdana"/>
                <a:ea typeface="Verdana"/>
                <a:cs typeface="Verdana"/>
                <a:sym typeface="Verdana"/>
              </a:rPr>
              <a:t>2.6.1. Εισαγωγή</a:t>
            </a:r>
            <a:endParaRPr sz="1800" b="1">
              <a:solidFill>
                <a:schemeClr val="dk1"/>
              </a:solidFill>
              <a:latin typeface="Verdana"/>
              <a:ea typeface="Verdana"/>
              <a:cs typeface="Verdana"/>
              <a:sym typeface="Verdana"/>
            </a:endParaRPr>
          </a:p>
        </p:txBody>
      </p:sp>
      <p:sp>
        <p:nvSpPr>
          <p:cNvPr id="2" name="Text Placeholder 1"/>
          <p:cNvSpPr>
            <a:spLocks noGrp="1"/>
          </p:cNvSpPr>
          <p:nvPr>
            <p:ph type="body" idx="1"/>
          </p:nvPr>
        </p:nvSpPr>
        <p:spPr/>
        <p:txBody>
          <a:bodyPr/>
          <a:lstStyle/>
          <a:p>
            <a:endParaRPr lang="en-US"/>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62033" y="1704108"/>
            <a:ext cx="6391275" cy="394335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p54"/>
          <p:cNvSpPr txBox="1">
            <a:spLocks noGrp="1"/>
          </p:cNvSpPr>
          <p:nvPr>
            <p:ph type="title"/>
          </p:nvPr>
        </p:nvSpPr>
        <p:spPr>
          <a:xfrm>
            <a:off x="1484310" y="-16625"/>
            <a:ext cx="1058862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2.6. Ανάπτυξη οδηγούμενη από τον έλεγχο </a:t>
            </a:r>
            <a:br>
              <a:rPr lang="el-GR" sz="3000" b="1">
                <a:latin typeface="Verdana"/>
                <a:ea typeface="Verdana"/>
                <a:cs typeface="Verdana"/>
                <a:sym typeface="Verdana"/>
              </a:rPr>
            </a:br>
            <a:r>
              <a:rPr lang="el-GR" sz="3000" b="1">
                <a:latin typeface="Verdana"/>
                <a:ea typeface="Verdana"/>
                <a:cs typeface="Verdana"/>
                <a:sym typeface="Verdana"/>
              </a:rPr>
              <a:t>(Test-driven Development)</a:t>
            </a:r>
            <a:endParaRPr/>
          </a:p>
        </p:txBody>
      </p:sp>
      <p:sp>
        <p:nvSpPr>
          <p:cNvPr id="519" name="Google Shape;519;p54"/>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Autofit/>
          </a:bodyPr>
          <a:lstStyle/>
          <a:p>
            <a:pPr marL="285750" lvl="0" indent="-285750" algn="l" rtl="0">
              <a:spcBef>
                <a:spcPts val="0"/>
              </a:spcBef>
              <a:spcAft>
                <a:spcPts val="0"/>
              </a:spcAft>
              <a:buSzPts val="2320"/>
              <a:buChar char="•"/>
            </a:pPr>
            <a:r>
              <a:rPr lang="el-GR" sz="1600">
                <a:latin typeface="Verdana"/>
                <a:ea typeface="Verdana"/>
                <a:cs typeface="Verdana"/>
                <a:sym typeface="Verdana"/>
              </a:rPr>
              <a:t>Αποτροπή περιττού κώδικα</a:t>
            </a:r>
            <a:endParaRPr/>
          </a:p>
          <a:p>
            <a:pPr marL="285750" lvl="0" indent="-285750" algn="l" rtl="0">
              <a:spcBef>
                <a:spcPts val="920"/>
              </a:spcBef>
              <a:spcAft>
                <a:spcPts val="0"/>
              </a:spcAft>
              <a:buSzPts val="2320"/>
              <a:buChar char="•"/>
            </a:pPr>
            <a:r>
              <a:rPr lang="el-GR" sz="1600">
                <a:latin typeface="Verdana"/>
                <a:ea typeface="Verdana"/>
                <a:cs typeface="Verdana"/>
                <a:sym typeface="Verdana"/>
              </a:rPr>
              <a:t>Ευκολία στη συντήρηση και αλλαγές</a:t>
            </a:r>
            <a:endParaRPr/>
          </a:p>
          <a:p>
            <a:pPr marL="285750" lvl="0" indent="-285750" algn="l" rtl="0">
              <a:spcBef>
                <a:spcPts val="920"/>
              </a:spcBef>
              <a:spcAft>
                <a:spcPts val="0"/>
              </a:spcAft>
              <a:buSzPts val="2320"/>
              <a:buChar char="•"/>
            </a:pPr>
            <a:r>
              <a:rPr lang="el-GR" sz="1600">
                <a:latin typeface="Verdana"/>
                <a:ea typeface="Verdana"/>
                <a:cs typeface="Verdana"/>
                <a:sym typeface="Verdana"/>
              </a:rPr>
              <a:t>Εύκολη αναπαράσταση με δοκιμές υψηλής ποιότητας</a:t>
            </a:r>
            <a:endParaRPr/>
          </a:p>
          <a:p>
            <a:pPr marL="285750" lvl="0" indent="-285750" algn="l" rtl="0">
              <a:spcBef>
                <a:spcPts val="920"/>
              </a:spcBef>
              <a:spcAft>
                <a:spcPts val="0"/>
              </a:spcAft>
              <a:buSzPts val="2320"/>
              <a:buChar char="•"/>
            </a:pPr>
            <a:r>
              <a:rPr lang="el-GR" sz="1600">
                <a:latin typeface="Verdana"/>
                <a:ea typeface="Verdana"/>
                <a:cs typeface="Verdana"/>
                <a:sym typeface="Verdana"/>
              </a:rPr>
              <a:t>Υψηλή κάλυψη δοκιμών για ασφάλεια και εμπιστοσύνη</a:t>
            </a:r>
            <a:endParaRPr/>
          </a:p>
          <a:p>
            <a:pPr marL="285750" lvl="0" indent="-285750" algn="l" rtl="0">
              <a:spcBef>
                <a:spcPts val="920"/>
              </a:spcBef>
              <a:spcAft>
                <a:spcPts val="0"/>
              </a:spcAft>
              <a:buSzPts val="2320"/>
              <a:buChar char="•"/>
            </a:pPr>
            <a:r>
              <a:rPr lang="el-GR" sz="1600">
                <a:latin typeface="Verdana"/>
                <a:ea typeface="Verdana"/>
                <a:cs typeface="Verdana"/>
                <a:sym typeface="Verdana"/>
              </a:rPr>
              <a:t>Τεκμηρίωση μέσω δοκιμών</a:t>
            </a:r>
            <a:endParaRPr/>
          </a:p>
          <a:p>
            <a:pPr marL="285750" lvl="0" indent="-285750" algn="l" rtl="0">
              <a:spcBef>
                <a:spcPts val="920"/>
              </a:spcBef>
              <a:spcAft>
                <a:spcPts val="0"/>
              </a:spcAft>
              <a:buSzPts val="2320"/>
              <a:buChar char="•"/>
            </a:pPr>
            <a:r>
              <a:rPr lang="el-GR" sz="1600">
                <a:latin typeface="Verdana"/>
                <a:ea typeface="Verdana"/>
                <a:cs typeface="Verdana"/>
                <a:sym typeface="Verdana"/>
              </a:rPr>
              <a:t>Γρήγορος εντοπισμός σφαλμάτων με συχνές δοκιμές</a:t>
            </a:r>
            <a:endParaRPr/>
          </a:p>
          <a:p>
            <a:pPr marL="0" lvl="0" indent="0" algn="l" rtl="0">
              <a:spcBef>
                <a:spcPts val="920"/>
              </a:spcBef>
              <a:spcAft>
                <a:spcPts val="0"/>
              </a:spcAft>
              <a:buSzPts val="2320"/>
              <a:buNone/>
            </a:pPr>
            <a:r>
              <a:rPr lang="el-GR" sz="1600">
                <a:latin typeface="Verdana"/>
                <a:ea typeface="Verdana"/>
                <a:cs typeface="Verdana"/>
                <a:sym typeface="Verdana"/>
              </a:rPr>
              <a:t/>
            </a:r>
            <a:br>
              <a:rPr lang="el-GR" sz="1600">
                <a:latin typeface="Verdana"/>
                <a:ea typeface="Verdana"/>
                <a:cs typeface="Verdana"/>
                <a:sym typeface="Verdana"/>
              </a:rPr>
            </a:br>
            <a:endParaRPr sz="1600">
              <a:latin typeface="Verdana"/>
              <a:ea typeface="Verdana"/>
              <a:cs typeface="Verdana"/>
              <a:sym typeface="Verdana"/>
            </a:endParaRPr>
          </a:p>
        </p:txBody>
      </p:sp>
      <p:sp>
        <p:nvSpPr>
          <p:cNvPr id="520" name="Google Shape;520;p54"/>
          <p:cNvSpPr/>
          <p:nvPr/>
        </p:nvSpPr>
        <p:spPr>
          <a:xfrm>
            <a:off x="1484310" y="1087869"/>
            <a:ext cx="3299301"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2000" b="1">
                <a:solidFill>
                  <a:schemeClr val="dk1"/>
                </a:solidFill>
                <a:latin typeface="Verdana"/>
                <a:ea typeface="Verdana"/>
                <a:cs typeface="Verdana"/>
                <a:sym typeface="Verdana"/>
              </a:rPr>
              <a:t>2.6.2. Πλεονεκτήματα</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5" name="Google Shape;525;p55"/>
          <p:cNvSpPr txBox="1">
            <a:spLocks noGrp="1"/>
          </p:cNvSpPr>
          <p:nvPr>
            <p:ph type="title"/>
          </p:nvPr>
        </p:nvSpPr>
        <p:spPr>
          <a:xfrm>
            <a:off x="1484310" y="-16625"/>
            <a:ext cx="1058862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2.6. Ανάπτυξη οδηγούμενη από τον έλεγχο </a:t>
            </a:r>
            <a:br>
              <a:rPr lang="el-GR" sz="3000" b="1">
                <a:latin typeface="Verdana"/>
                <a:ea typeface="Verdana"/>
                <a:cs typeface="Verdana"/>
                <a:sym typeface="Verdana"/>
              </a:rPr>
            </a:br>
            <a:r>
              <a:rPr lang="el-GR" sz="3000" b="1">
                <a:latin typeface="Verdana"/>
                <a:ea typeface="Verdana"/>
                <a:cs typeface="Verdana"/>
                <a:sym typeface="Verdana"/>
              </a:rPr>
              <a:t>(Test-driven Development)</a:t>
            </a:r>
            <a:endParaRPr/>
          </a:p>
        </p:txBody>
      </p:sp>
      <p:sp>
        <p:nvSpPr>
          <p:cNvPr id="526" name="Google Shape;526;p55"/>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rmAutofit/>
          </a:bodyPr>
          <a:lstStyle/>
          <a:p>
            <a:pPr marL="285750" lvl="0" indent="-285750" algn="l" rtl="0">
              <a:spcBef>
                <a:spcPts val="0"/>
              </a:spcBef>
              <a:spcAft>
                <a:spcPts val="0"/>
              </a:spcAft>
              <a:buSzPts val="2320"/>
              <a:buChar char="•"/>
            </a:pPr>
            <a:r>
              <a:rPr lang="el-GR" sz="1600">
                <a:latin typeface="Verdana"/>
                <a:ea typeface="Verdana"/>
                <a:cs typeface="Verdana"/>
                <a:sym typeface="Verdana"/>
              </a:rPr>
              <a:t>Δοκιμές μπορεί να μην ανιχνεύσουν όλα τα σφάλματα</a:t>
            </a:r>
            <a:endParaRPr/>
          </a:p>
          <a:p>
            <a:pPr marL="285750" lvl="0" indent="-285750" algn="l" rtl="0">
              <a:spcBef>
                <a:spcPts val="920"/>
              </a:spcBef>
              <a:spcAft>
                <a:spcPts val="0"/>
              </a:spcAft>
              <a:buSzPts val="2320"/>
              <a:buChar char="•"/>
            </a:pPr>
            <a:r>
              <a:rPr lang="el-GR" sz="1600">
                <a:latin typeface="Verdana"/>
                <a:ea typeface="Verdana"/>
                <a:cs typeface="Verdana"/>
                <a:sym typeface="Verdana"/>
              </a:rPr>
              <a:t>Το TDD μπορεί να απαιτεί περισσότερο χρόνο αρχικά, αλλά οδηγεί σε αποδοτικότερη παραγωγή στο μακροπρόθεσμο</a:t>
            </a:r>
            <a:endParaRPr/>
          </a:p>
          <a:p>
            <a:pPr marL="285750" lvl="0" indent="-285750" algn="l" rtl="0">
              <a:spcBef>
                <a:spcPts val="920"/>
              </a:spcBef>
              <a:spcAft>
                <a:spcPts val="0"/>
              </a:spcAft>
              <a:buSzPts val="2320"/>
              <a:buChar char="•"/>
            </a:pPr>
            <a:r>
              <a:rPr lang="el-GR" sz="1600">
                <a:latin typeface="Verdana"/>
                <a:ea typeface="Verdana"/>
                <a:cs typeface="Verdana"/>
                <a:sym typeface="Verdana"/>
              </a:rPr>
              <a:t>Σημαντική η συμφωνία στην ομάδα για τη χρήση του TDD</a:t>
            </a:r>
            <a:endParaRPr/>
          </a:p>
          <a:p>
            <a:pPr marL="285750" lvl="0" indent="-285750" algn="l" rtl="0">
              <a:spcBef>
                <a:spcPts val="920"/>
              </a:spcBef>
              <a:spcAft>
                <a:spcPts val="0"/>
              </a:spcAft>
              <a:buSzPts val="2320"/>
              <a:buChar char="•"/>
            </a:pPr>
            <a:r>
              <a:rPr lang="el-GR" sz="1600">
                <a:latin typeface="Verdana"/>
                <a:ea typeface="Verdana"/>
                <a:cs typeface="Verdana"/>
                <a:sym typeface="Verdana"/>
              </a:rPr>
              <a:t>Απαιτητική διατήρηση των δοκιμών με αλλαγές στις απαιτήσεις</a:t>
            </a:r>
            <a:endParaRPr/>
          </a:p>
        </p:txBody>
      </p:sp>
      <p:sp>
        <p:nvSpPr>
          <p:cNvPr id="527" name="Google Shape;527;p55"/>
          <p:cNvSpPr/>
          <p:nvPr/>
        </p:nvSpPr>
        <p:spPr>
          <a:xfrm>
            <a:off x="1484310" y="1087869"/>
            <a:ext cx="324960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2000" b="1">
                <a:solidFill>
                  <a:schemeClr val="dk1"/>
                </a:solidFill>
                <a:latin typeface="Verdana"/>
                <a:ea typeface="Verdana"/>
                <a:cs typeface="Verdana"/>
                <a:sym typeface="Verdana"/>
              </a:rPr>
              <a:t>2.6.3. Μειονεκτήματα</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31"/>
        <p:cNvGrpSpPr/>
        <p:nvPr/>
      </p:nvGrpSpPr>
      <p:grpSpPr>
        <a:xfrm>
          <a:off x="0" y="0"/>
          <a:ext cx="0" cy="0"/>
          <a:chOff x="0" y="0"/>
          <a:chExt cx="0" cy="0"/>
        </a:xfrm>
      </p:grpSpPr>
      <p:sp>
        <p:nvSpPr>
          <p:cNvPr id="532" name="Google Shape;532;p56"/>
          <p:cNvSpPr txBox="1">
            <a:spLocks noGrp="1"/>
          </p:cNvSpPr>
          <p:nvPr>
            <p:ph type="title"/>
          </p:nvPr>
        </p:nvSpPr>
        <p:spPr>
          <a:xfrm>
            <a:off x="1484310" y="-16625"/>
            <a:ext cx="1058862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2.6. Ανάπτυξη οδηγούμενη από τον έλεγχο </a:t>
            </a:r>
            <a:br>
              <a:rPr lang="el-GR" sz="3000" b="1">
                <a:latin typeface="Verdana"/>
                <a:ea typeface="Verdana"/>
                <a:cs typeface="Verdana"/>
                <a:sym typeface="Verdana"/>
              </a:rPr>
            </a:br>
            <a:r>
              <a:rPr lang="el-GR" sz="3000" b="1">
                <a:latin typeface="Verdana"/>
                <a:ea typeface="Verdana"/>
                <a:cs typeface="Verdana"/>
                <a:sym typeface="Verdana"/>
              </a:rPr>
              <a:t>(Test-driven Development)</a:t>
            </a:r>
            <a:endParaRPr/>
          </a:p>
        </p:txBody>
      </p:sp>
      <p:sp>
        <p:nvSpPr>
          <p:cNvPr id="533" name="Google Shape;533;p56"/>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2320"/>
              <a:buNone/>
            </a:pPr>
            <a:r>
              <a:rPr lang="el-GR" sz="1600">
                <a:latin typeface="Verdana"/>
                <a:ea typeface="Verdana"/>
                <a:cs typeface="Verdana"/>
                <a:sym typeface="Verdana"/>
              </a:rPr>
              <a:t>Το TDD προσφέρει καλύτερη ποιότητα, ανθεκτικότητα σε αλλαγές και σαφήνεια στην αρχιτεκτονική, αλλά μπορεί να απαιτήσει περισσότερο χρόνο αρχικά, να δυσκολεύει την κατανόηση και απαιτεί συνεχή διατήρηση δοκιμών. Η σωστή εφαρμογή εξαρτάται από τις ανάγκες του έργου, εξετάζοντας και πιθανούς περιορισμούς.</a:t>
            </a:r>
            <a:endParaRPr sz="1100">
              <a:latin typeface="Verdana"/>
              <a:ea typeface="Verdana"/>
              <a:cs typeface="Verdana"/>
              <a:sym typeface="Verdana"/>
            </a:endParaRPr>
          </a:p>
        </p:txBody>
      </p:sp>
      <p:sp>
        <p:nvSpPr>
          <p:cNvPr id="534" name="Google Shape;534;p56"/>
          <p:cNvSpPr/>
          <p:nvPr/>
        </p:nvSpPr>
        <p:spPr>
          <a:xfrm>
            <a:off x="1484310" y="1087869"/>
            <a:ext cx="222368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2000" b="1">
                <a:solidFill>
                  <a:schemeClr val="dk1"/>
                </a:solidFill>
                <a:latin typeface="Verdana"/>
                <a:ea typeface="Verdana"/>
                <a:cs typeface="Verdana"/>
                <a:sym typeface="Verdana"/>
              </a:rPr>
              <a:t>2.6.4. Σύνοψη</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39" name="Google Shape;539;p57"/>
          <p:cNvSpPr txBox="1">
            <a:spLocks noGrp="1"/>
          </p:cNvSpPr>
          <p:nvPr>
            <p:ph type="title"/>
          </p:nvPr>
        </p:nvSpPr>
        <p:spPr>
          <a:xfrm>
            <a:off x="1445476" y="120534"/>
            <a:ext cx="10018713" cy="1752599"/>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3. ΕΠΙΛΟΓΗ ΚΑΤΑΛΛΗΛΗΣ ΜΕΘΟΔΟΛΟΓΙΑΣ ΑΝΑΠΤΥΞΗΣ </a:t>
            </a:r>
            <a:endParaRPr sz="3000"/>
          </a:p>
        </p:txBody>
      </p:sp>
      <p:pic>
        <p:nvPicPr>
          <p:cNvPr id="540" name="Google Shape;540;p57"/>
          <p:cNvPicPr preferRelativeResize="0">
            <a:picLocks noGrp="1"/>
          </p:cNvPicPr>
          <p:nvPr>
            <p:ph type="body" idx="1"/>
          </p:nvPr>
        </p:nvPicPr>
        <p:blipFill rotWithShape="1">
          <a:blip r:embed="rId3">
            <a:alphaModFix/>
          </a:blip>
          <a:srcRect/>
          <a:stretch/>
        </p:blipFill>
        <p:spPr>
          <a:xfrm>
            <a:off x="4314306" y="2127409"/>
            <a:ext cx="4281054" cy="4281054"/>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58"/>
          <p:cNvSpPr txBox="1">
            <a:spLocks noGrp="1"/>
          </p:cNvSpPr>
          <p:nvPr>
            <p:ph type="title"/>
          </p:nvPr>
        </p:nvSpPr>
        <p:spPr>
          <a:xfrm>
            <a:off x="1484311" y="685801"/>
            <a:ext cx="10018713" cy="6858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3.0. ΕΙΣΑΓΩΓΗ </a:t>
            </a:r>
            <a:endParaRPr sz="3000" b="1">
              <a:latin typeface="Verdana"/>
              <a:ea typeface="Verdana"/>
              <a:cs typeface="Verdana"/>
              <a:sym typeface="Verdana"/>
            </a:endParaRPr>
          </a:p>
        </p:txBody>
      </p:sp>
      <p:sp>
        <p:nvSpPr>
          <p:cNvPr id="546" name="Google Shape;546;p58"/>
          <p:cNvSpPr txBox="1">
            <a:spLocks noGrp="1"/>
          </p:cNvSpPr>
          <p:nvPr>
            <p:ph type="body" idx="1"/>
          </p:nvPr>
        </p:nvSpPr>
        <p:spPr>
          <a:xfrm>
            <a:off x="1618986" y="2414160"/>
            <a:ext cx="10018800" cy="2029800"/>
          </a:xfrm>
          <a:prstGeom prst="rect">
            <a:avLst/>
          </a:prstGeom>
          <a:noFill/>
          <a:ln>
            <a:noFill/>
          </a:ln>
        </p:spPr>
        <p:txBody>
          <a:bodyPr spcFirstLastPara="1" wrap="square" lIns="91425" tIns="45700" rIns="91425" bIns="45700" anchor="ctr" anchorCtr="0">
            <a:normAutofit/>
          </a:bodyPr>
          <a:lstStyle/>
          <a:p>
            <a:pPr marL="0" lvl="0" indent="0">
              <a:spcBef>
                <a:spcPts val="0"/>
              </a:spcBef>
              <a:buSzPts val="2320"/>
              <a:buNone/>
            </a:pPr>
            <a:r>
              <a:rPr lang="el-GR" sz="1600" dirty="0">
                <a:latin typeface="Verdana"/>
                <a:ea typeface="Verdana"/>
                <a:cs typeface="Verdana"/>
                <a:sym typeface="Verdana"/>
              </a:rPr>
              <a:t>Η επιλογή της κατάλληλης μεθοδολογίας ανάπτυξης εξαρτάται από διάφορους παράγοντες, συμπεριλαμβανομένων των </a:t>
            </a:r>
            <a:r>
              <a:rPr lang="el-GR" sz="1600" dirty="0" smtClean="0">
                <a:latin typeface="Verdana"/>
                <a:ea typeface="Verdana"/>
                <a:cs typeface="Verdana"/>
                <a:sym typeface="Verdana"/>
              </a:rPr>
              <a:t>απαιτήσεων, </a:t>
            </a:r>
            <a:r>
              <a:rPr lang="el-GR" sz="1600" dirty="0">
                <a:latin typeface="Verdana"/>
                <a:ea typeface="Verdana"/>
                <a:cs typeface="Verdana"/>
                <a:sym typeface="Verdana"/>
              </a:rPr>
              <a:t>της ευελιξίας και της </a:t>
            </a:r>
            <a:r>
              <a:rPr lang="el-GR" sz="1600" dirty="0">
                <a:latin typeface="Verdana"/>
                <a:ea typeface="Verdana"/>
                <a:cs typeface="Verdana"/>
                <a:sym typeface="Verdana"/>
              </a:rPr>
              <a:t>προσαρμοστικότητας του έργου. </a:t>
            </a:r>
            <a:r>
              <a:rPr lang="el-GR" sz="1600" dirty="0">
                <a:latin typeface="Verdana"/>
                <a:ea typeface="Verdana"/>
                <a:cs typeface="Verdana"/>
                <a:sym typeface="Verdana"/>
              </a:rPr>
              <a:t>Ας εξετάσουμε την καταλληλότητα κάθε μοντέλου με βάση τα θετικά και τα αρνητικά τους.</a:t>
            </a:r>
            <a:endParaRPr dirty="0"/>
          </a:p>
          <a:p>
            <a:pPr marL="0" lvl="0" indent="0" algn="l" rtl="0">
              <a:spcBef>
                <a:spcPts val="920"/>
              </a:spcBef>
              <a:spcAft>
                <a:spcPts val="0"/>
              </a:spcAft>
              <a:buSzPts val="2320"/>
              <a:buNone/>
            </a:pPr>
            <a:endParaRPr sz="1600" dirty="0"/>
          </a:p>
        </p:txBody>
      </p:sp>
    </p:spTree>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50"/>
        <p:cNvGrpSpPr/>
        <p:nvPr/>
      </p:nvGrpSpPr>
      <p:grpSpPr>
        <a:xfrm>
          <a:off x="0" y="0"/>
          <a:ext cx="0" cy="0"/>
          <a:chOff x="0" y="0"/>
          <a:chExt cx="0" cy="0"/>
        </a:xfrm>
      </p:grpSpPr>
      <p:sp>
        <p:nvSpPr>
          <p:cNvPr id="551" name="Google Shape;551;p59"/>
          <p:cNvSpPr txBox="1">
            <a:spLocks noGrp="1"/>
          </p:cNvSpPr>
          <p:nvPr>
            <p:ph type="title"/>
          </p:nvPr>
        </p:nvSpPr>
        <p:spPr>
          <a:xfrm>
            <a:off x="1484310" y="-16625"/>
            <a:ext cx="1058862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3.1. Καταλληλότητα των Βασικών Μοντέλων Ανάπτυξης Λογισμικού</a:t>
            </a:r>
            <a:endParaRPr sz="3000" b="1">
              <a:latin typeface="Verdana"/>
              <a:ea typeface="Verdana"/>
              <a:cs typeface="Verdana"/>
              <a:sym typeface="Verdana"/>
            </a:endParaRPr>
          </a:p>
        </p:txBody>
      </p:sp>
      <p:sp>
        <p:nvSpPr>
          <p:cNvPr id="552" name="Google Shape;552;p59"/>
          <p:cNvSpPr txBox="1">
            <a:spLocks noGrp="1"/>
          </p:cNvSpPr>
          <p:nvPr>
            <p:ph type="body" idx="1"/>
          </p:nvPr>
        </p:nvSpPr>
        <p:spPr>
          <a:xfrm>
            <a:off x="1484310" y="1652949"/>
            <a:ext cx="10018713" cy="739832"/>
          </a:xfrm>
          <a:prstGeom prst="rect">
            <a:avLst/>
          </a:prstGeom>
          <a:noFill/>
          <a:ln>
            <a:noFill/>
          </a:ln>
        </p:spPr>
        <p:txBody>
          <a:bodyPr spcFirstLastPara="1" wrap="square" lIns="91425" tIns="45700" rIns="91425" bIns="45700" anchor="ctr" anchorCtr="0">
            <a:normAutofit/>
          </a:bodyPr>
          <a:lstStyle/>
          <a:p>
            <a:pPr marL="0" lvl="0" indent="0">
              <a:spcBef>
                <a:spcPts val="0"/>
              </a:spcBef>
              <a:buSzPts val="2320"/>
              <a:buNone/>
            </a:pPr>
            <a:r>
              <a:rPr lang="el-GR" sz="1600" dirty="0">
                <a:latin typeface="Verdana"/>
                <a:ea typeface="Verdana"/>
                <a:cs typeface="Verdana"/>
                <a:sym typeface="Verdana"/>
              </a:rPr>
              <a:t>Θετικά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Δομημένο και εύκολα κατανοητό.</a:t>
            </a:r>
            <a:endParaRPr dirty="0"/>
          </a:p>
          <a:p>
            <a:pPr marL="0" lvl="0" indent="0">
              <a:spcBef>
                <a:spcPts val="920"/>
              </a:spcBef>
              <a:buSzPts val="2320"/>
              <a:buNone/>
            </a:pPr>
            <a:r>
              <a:rPr lang="el-GR" sz="1600" dirty="0">
                <a:latin typeface="Verdana"/>
                <a:ea typeface="Verdana"/>
                <a:cs typeface="Verdana"/>
                <a:sym typeface="Verdana"/>
              </a:rPr>
              <a:t>Αρνητικά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Περιορισμένη ευελιξία και προσαρμοστικότητα.</a:t>
            </a:r>
            <a:endParaRPr sz="1600" dirty="0">
              <a:latin typeface="Verdana"/>
              <a:ea typeface="Verdana"/>
              <a:cs typeface="Verdana"/>
              <a:sym typeface="Verdana"/>
            </a:endParaRPr>
          </a:p>
        </p:txBody>
      </p:sp>
      <p:sp>
        <p:nvSpPr>
          <p:cNvPr id="553" name="Google Shape;553;p59"/>
          <p:cNvSpPr/>
          <p:nvPr/>
        </p:nvSpPr>
        <p:spPr>
          <a:xfrm>
            <a:off x="1484310" y="1278108"/>
            <a:ext cx="457689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1800" b="1">
                <a:solidFill>
                  <a:schemeClr val="dk1"/>
                </a:solidFill>
                <a:latin typeface="Verdana"/>
                <a:ea typeface="Verdana"/>
                <a:cs typeface="Verdana"/>
                <a:sym typeface="Verdana"/>
              </a:rPr>
              <a:t>3.1.1. Το μοντέλο του καταρράκτη</a:t>
            </a:r>
            <a:endParaRPr sz="1800" b="1">
              <a:solidFill>
                <a:schemeClr val="dk1"/>
              </a:solidFill>
              <a:latin typeface="Verdana"/>
              <a:ea typeface="Verdana"/>
              <a:cs typeface="Verdana"/>
              <a:sym typeface="Verdana"/>
            </a:endParaRPr>
          </a:p>
        </p:txBody>
      </p:sp>
      <p:sp>
        <p:nvSpPr>
          <p:cNvPr id="554" name="Google Shape;554;p59"/>
          <p:cNvSpPr/>
          <p:nvPr/>
        </p:nvSpPr>
        <p:spPr>
          <a:xfrm>
            <a:off x="1484310" y="2711703"/>
            <a:ext cx="269657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1800" b="1">
                <a:solidFill>
                  <a:schemeClr val="dk1"/>
                </a:solidFill>
                <a:latin typeface="Verdana"/>
                <a:ea typeface="Verdana"/>
                <a:cs typeface="Verdana"/>
                <a:sym typeface="Verdana"/>
              </a:rPr>
              <a:t>3.1.2. Το μοντέλο V</a:t>
            </a:r>
            <a:endParaRPr sz="1800" b="1">
              <a:solidFill>
                <a:schemeClr val="dk1"/>
              </a:solidFill>
              <a:latin typeface="Verdana"/>
              <a:ea typeface="Verdana"/>
              <a:cs typeface="Verdana"/>
              <a:sym typeface="Verdana"/>
            </a:endParaRPr>
          </a:p>
        </p:txBody>
      </p:sp>
      <p:sp>
        <p:nvSpPr>
          <p:cNvPr id="555" name="Google Shape;555;p59"/>
          <p:cNvSpPr/>
          <p:nvPr/>
        </p:nvSpPr>
        <p:spPr>
          <a:xfrm>
            <a:off x="1484299" y="3081025"/>
            <a:ext cx="9463500" cy="830956"/>
          </a:xfrm>
          <a:prstGeom prst="rect">
            <a:avLst/>
          </a:prstGeom>
          <a:noFill/>
          <a:ln>
            <a:noFill/>
          </a:ln>
        </p:spPr>
        <p:txBody>
          <a:bodyPr spcFirstLastPara="1" wrap="square" lIns="91425" tIns="45700" rIns="91425" bIns="45700" anchor="t" anchorCtr="0">
            <a:spAutoFit/>
          </a:bodyPr>
          <a:lstStyle/>
          <a:p>
            <a:pPr lvl="0">
              <a:lnSpc>
                <a:spcPct val="150000"/>
              </a:lnSpc>
            </a:pPr>
            <a:r>
              <a:rPr lang="el-GR" sz="1600" dirty="0">
                <a:solidFill>
                  <a:schemeClr val="dk1"/>
                </a:solidFill>
                <a:latin typeface="Verdana"/>
                <a:ea typeface="Verdana"/>
                <a:cs typeface="Verdana"/>
                <a:sym typeface="Verdana"/>
              </a:rPr>
              <a:t>Θετικά </a:t>
            </a:r>
            <a:r>
              <a:rPr lang="el-GR" sz="1600" dirty="0">
                <a:latin typeface="Verdana"/>
                <a:ea typeface="Verdana"/>
                <a:cs typeface="Verdana"/>
                <a:sym typeface="Wingdings" panose="05000000000000000000" pitchFamily="2" charset="2"/>
              </a:rPr>
              <a:t></a:t>
            </a:r>
            <a:r>
              <a:rPr lang="el-GR" sz="1600" dirty="0" smtClean="0">
                <a:solidFill>
                  <a:schemeClr val="dk1"/>
                </a:solidFill>
                <a:latin typeface="Verdana"/>
                <a:ea typeface="Verdana"/>
                <a:cs typeface="Verdana"/>
                <a:sym typeface="Verdana"/>
              </a:rPr>
              <a:t> </a:t>
            </a:r>
            <a:r>
              <a:rPr lang="el-GR" sz="1600" dirty="0">
                <a:solidFill>
                  <a:schemeClr val="dk1"/>
                </a:solidFill>
                <a:latin typeface="Verdana"/>
                <a:ea typeface="Verdana"/>
                <a:cs typeface="Verdana"/>
                <a:sym typeface="Verdana"/>
              </a:rPr>
              <a:t>Πειθαρχημένο και αποτελεσματικό για μικρά έργα.</a:t>
            </a:r>
            <a:endParaRPr dirty="0"/>
          </a:p>
          <a:p>
            <a:pPr lvl="0">
              <a:lnSpc>
                <a:spcPct val="150000"/>
              </a:lnSpc>
            </a:pPr>
            <a:r>
              <a:rPr lang="el-GR" sz="1600" dirty="0">
                <a:solidFill>
                  <a:schemeClr val="dk1"/>
                </a:solidFill>
                <a:latin typeface="Verdana"/>
                <a:ea typeface="Verdana"/>
                <a:cs typeface="Verdana"/>
                <a:sym typeface="Verdana"/>
              </a:rPr>
              <a:t>Αρνητικά </a:t>
            </a:r>
            <a:r>
              <a:rPr lang="el-GR" sz="1600" dirty="0">
                <a:latin typeface="Verdana"/>
                <a:ea typeface="Verdana"/>
                <a:cs typeface="Verdana"/>
                <a:sym typeface="Wingdings" panose="05000000000000000000" pitchFamily="2" charset="2"/>
              </a:rPr>
              <a:t></a:t>
            </a:r>
            <a:r>
              <a:rPr lang="el-GR" sz="1600" dirty="0" smtClean="0">
                <a:solidFill>
                  <a:schemeClr val="dk1"/>
                </a:solidFill>
                <a:latin typeface="Verdana"/>
                <a:ea typeface="Verdana"/>
                <a:cs typeface="Verdana"/>
                <a:sym typeface="Verdana"/>
              </a:rPr>
              <a:t> </a:t>
            </a:r>
            <a:r>
              <a:rPr lang="el-GR" sz="1600" dirty="0">
                <a:solidFill>
                  <a:schemeClr val="dk1"/>
                </a:solidFill>
                <a:latin typeface="Verdana"/>
                <a:ea typeface="Verdana"/>
                <a:cs typeface="Verdana"/>
                <a:sym typeface="Verdana"/>
              </a:rPr>
              <a:t>Υψηλός κίνδυνος και λιγότερο κατάλληλο για έργα με αβέβαιες απαιτήσεις.</a:t>
            </a:r>
            <a:endParaRPr dirty="0"/>
          </a:p>
        </p:txBody>
      </p:sp>
      <p:sp>
        <p:nvSpPr>
          <p:cNvPr id="556" name="Google Shape;556;p59"/>
          <p:cNvSpPr/>
          <p:nvPr/>
        </p:nvSpPr>
        <p:spPr>
          <a:xfrm>
            <a:off x="1484310" y="4323522"/>
            <a:ext cx="498085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1800" b="1">
                <a:solidFill>
                  <a:schemeClr val="dk1"/>
                </a:solidFill>
                <a:latin typeface="Verdana"/>
                <a:ea typeface="Verdana"/>
                <a:cs typeface="Verdana"/>
                <a:sym typeface="Verdana"/>
              </a:rPr>
              <a:t>3.1.3. Το μοντέλο πρωτοτυποποίησης</a:t>
            </a:r>
            <a:endParaRPr sz="1800" b="1">
              <a:solidFill>
                <a:schemeClr val="dk1"/>
              </a:solidFill>
              <a:latin typeface="Verdana"/>
              <a:ea typeface="Verdana"/>
              <a:cs typeface="Verdana"/>
              <a:sym typeface="Verdana"/>
            </a:endParaRPr>
          </a:p>
        </p:txBody>
      </p:sp>
      <p:sp>
        <p:nvSpPr>
          <p:cNvPr id="557" name="Google Shape;557;p59"/>
          <p:cNvSpPr/>
          <p:nvPr/>
        </p:nvSpPr>
        <p:spPr>
          <a:xfrm>
            <a:off x="1484310" y="4692854"/>
            <a:ext cx="9463552" cy="830997"/>
          </a:xfrm>
          <a:prstGeom prst="rect">
            <a:avLst/>
          </a:prstGeom>
          <a:noFill/>
          <a:ln>
            <a:noFill/>
          </a:ln>
        </p:spPr>
        <p:txBody>
          <a:bodyPr spcFirstLastPara="1" wrap="square" lIns="91425" tIns="45700" rIns="91425" bIns="45700" anchor="t" anchorCtr="0">
            <a:spAutoFit/>
          </a:bodyPr>
          <a:lstStyle/>
          <a:p>
            <a:pPr lvl="0">
              <a:lnSpc>
                <a:spcPct val="150000"/>
              </a:lnSpc>
            </a:pPr>
            <a:r>
              <a:rPr lang="el-GR" sz="1600" dirty="0">
                <a:solidFill>
                  <a:schemeClr val="dk1"/>
                </a:solidFill>
                <a:latin typeface="Verdana"/>
                <a:ea typeface="Verdana"/>
                <a:cs typeface="Verdana"/>
                <a:sym typeface="Verdana"/>
              </a:rPr>
              <a:t>Θετικά </a:t>
            </a:r>
            <a:r>
              <a:rPr lang="el-GR" sz="1600" dirty="0">
                <a:latin typeface="Verdana"/>
                <a:ea typeface="Verdana"/>
                <a:cs typeface="Verdana"/>
                <a:sym typeface="Wingdings" panose="05000000000000000000" pitchFamily="2" charset="2"/>
              </a:rPr>
              <a:t></a:t>
            </a:r>
            <a:r>
              <a:rPr lang="el-GR" sz="1600" dirty="0" smtClean="0">
                <a:solidFill>
                  <a:schemeClr val="dk1"/>
                </a:solidFill>
                <a:latin typeface="Verdana"/>
                <a:ea typeface="Verdana"/>
                <a:cs typeface="Verdana"/>
                <a:sym typeface="Verdana"/>
              </a:rPr>
              <a:t> </a:t>
            </a:r>
            <a:r>
              <a:rPr lang="el-GR" sz="1600" dirty="0">
                <a:solidFill>
                  <a:schemeClr val="dk1"/>
                </a:solidFill>
                <a:latin typeface="Verdana"/>
                <a:ea typeface="Verdana"/>
                <a:cs typeface="Verdana"/>
                <a:sym typeface="Verdana"/>
              </a:rPr>
              <a:t>Επιτρέπει την ανατροφοδότηση των χρηστών και την επαναληπτική ανάπτυξη.</a:t>
            </a:r>
            <a:endParaRPr sz="1600" dirty="0">
              <a:solidFill>
                <a:schemeClr val="dk1"/>
              </a:solidFill>
              <a:latin typeface="Verdana"/>
              <a:ea typeface="Verdana"/>
              <a:cs typeface="Verdana"/>
              <a:sym typeface="Verdana"/>
            </a:endParaRPr>
          </a:p>
          <a:p>
            <a:pPr lvl="0">
              <a:lnSpc>
                <a:spcPct val="150000"/>
              </a:lnSpc>
            </a:pPr>
            <a:r>
              <a:rPr lang="el-GR" sz="1600" dirty="0" smtClean="0">
                <a:solidFill>
                  <a:schemeClr val="dk1"/>
                </a:solidFill>
                <a:latin typeface="Verdana"/>
                <a:ea typeface="Verdana"/>
                <a:cs typeface="Verdana"/>
                <a:sym typeface="Verdana"/>
              </a:rPr>
              <a:t>Αρνητικά </a:t>
            </a:r>
            <a:r>
              <a:rPr lang="el-GR" sz="1600" dirty="0">
                <a:latin typeface="Verdana"/>
                <a:ea typeface="Verdana"/>
                <a:cs typeface="Verdana"/>
                <a:sym typeface="Wingdings" panose="05000000000000000000" pitchFamily="2" charset="2"/>
              </a:rPr>
              <a:t></a:t>
            </a:r>
            <a:r>
              <a:rPr lang="el-GR" sz="1600" dirty="0" smtClean="0">
                <a:solidFill>
                  <a:schemeClr val="dk1"/>
                </a:solidFill>
                <a:latin typeface="Verdana"/>
                <a:ea typeface="Verdana"/>
                <a:cs typeface="Verdana"/>
                <a:sym typeface="Verdana"/>
              </a:rPr>
              <a:t> </a:t>
            </a:r>
            <a:r>
              <a:rPr lang="el-GR" sz="1600" dirty="0">
                <a:solidFill>
                  <a:schemeClr val="dk1"/>
                </a:solidFill>
                <a:latin typeface="Verdana"/>
                <a:ea typeface="Verdana"/>
                <a:cs typeface="Verdana"/>
                <a:sym typeface="Verdana"/>
              </a:rPr>
              <a:t>Ενδέχεται να είναι ελλιπής από δομή και λεπτομερή τεκμηρίωση.</a:t>
            </a:r>
            <a:endParaRPr sz="1600" dirty="0">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562" name="Google Shape;562;p60"/>
          <p:cNvSpPr txBox="1">
            <a:spLocks noGrp="1"/>
          </p:cNvSpPr>
          <p:nvPr>
            <p:ph type="title"/>
          </p:nvPr>
        </p:nvSpPr>
        <p:spPr>
          <a:xfrm>
            <a:off x="1484310" y="-16625"/>
            <a:ext cx="1058862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3.1. Καταλληλότητα των Βασικών Μοντέλων Ανάπτυξης Λογισμικού</a:t>
            </a:r>
            <a:endParaRPr sz="3000" b="1">
              <a:latin typeface="Verdana"/>
              <a:ea typeface="Verdana"/>
              <a:cs typeface="Verdana"/>
              <a:sym typeface="Verdana"/>
            </a:endParaRPr>
          </a:p>
        </p:txBody>
      </p:sp>
      <p:sp>
        <p:nvSpPr>
          <p:cNvPr id="563" name="Google Shape;563;p60"/>
          <p:cNvSpPr txBox="1">
            <a:spLocks noGrp="1"/>
          </p:cNvSpPr>
          <p:nvPr>
            <p:ph type="body" idx="1"/>
          </p:nvPr>
        </p:nvSpPr>
        <p:spPr>
          <a:xfrm>
            <a:off x="1484308" y="3186005"/>
            <a:ext cx="10018713" cy="1091189"/>
          </a:xfrm>
          <a:prstGeom prst="rect">
            <a:avLst/>
          </a:prstGeom>
          <a:noFill/>
          <a:ln>
            <a:noFill/>
          </a:ln>
        </p:spPr>
        <p:txBody>
          <a:bodyPr spcFirstLastPara="1" wrap="square" lIns="91425" tIns="45700" rIns="91425" bIns="45700" anchor="ctr" anchorCtr="0">
            <a:noAutofit/>
          </a:bodyPr>
          <a:lstStyle/>
          <a:p>
            <a:pPr marL="0" lvl="0" indent="0">
              <a:lnSpc>
                <a:spcPct val="150000"/>
              </a:lnSpc>
              <a:spcBef>
                <a:spcPts val="0"/>
              </a:spcBef>
              <a:buSzPts val="2320"/>
              <a:buNone/>
            </a:pPr>
            <a:r>
              <a:rPr lang="el-GR" sz="1600" dirty="0">
                <a:latin typeface="Verdana"/>
                <a:ea typeface="Verdana"/>
                <a:cs typeface="Verdana"/>
                <a:sym typeface="Verdana"/>
              </a:rPr>
              <a:t>Θετικά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Επαναληπτικό, προσαρμογή σε αλλαγές κατά την ανάπτυξη.</a:t>
            </a:r>
            <a:br>
              <a:rPr lang="el-GR" sz="1600" dirty="0">
                <a:latin typeface="Verdana"/>
                <a:ea typeface="Verdana"/>
                <a:cs typeface="Verdana"/>
                <a:sym typeface="Verdana"/>
              </a:rPr>
            </a:br>
            <a:r>
              <a:rPr lang="el-GR" sz="1600" dirty="0">
                <a:latin typeface="Verdana"/>
                <a:ea typeface="Verdana"/>
                <a:cs typeface="Verdana"/>
                <a:sym typeface="Verdana"/>
              </a:rPr>
              <a:t>Αρνητικά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Πολύπλοκο και μπορεί να συνεπάγεται υψηλότερο κόστος.</a:t>
            </a:r>
            <a:endParaRPr dirty="0"/>
          </a:p>
        </p:txBody>
      </p:sp>
      <p:sp>
        <p:nvSpPr>
          <p:cNvPr id="564" name="Google Shape;564;p60"/>
          <p:cNvSpPr/>
          <p:nvPr/>
        </p:nvSpPr>
        <p:spPr>
          <a:xfrm>
            <a:off x="1484310" y="1118647"/>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b="1">
              <a:solidFill>
                <a:schemeClr val="dk1"/>
              </a:solidFill>
              <a:latin typeface="Verdana"/>
              <a:ea typeface="Verdana"/>
              <a:cs typeface="Verdana"/>
              <a:sym typeface="Verdana"/>
            </a:endParaRPr>
          </a:p>
        </p:txBody>
      </p:sp>
      <p:sp>
        <p:nvSpPr>
          <p:cNvPr id="565" name="Google Shape;565;p60"/>
          <p:cNvSpPr/>
          <p:nvPr/>
        </p:nvSpPr>
        <p:spPr>
          <a:xfrm>
            <a:off x="1484309" y="1501617"/>
            <a:ext cx="563808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1800" b="1">
                <a:solidFill>
                  <a:schemeClr val="dk1"/>
                </a:solidFill>
                <a:latin typeface="Verdana"/>
                <a:ea typeface="Verdana"/>
                <a:cs typeface="Verdana"/>
                <a:sym typeface="Verdana"/>
              </a:rPr>
              <a:t>3.1.4. Το μοντέλο λειτουργικής επαύξησης</a:t>
            </a:r>
            <a:endParaRPr sz="1800" b="1">
              <a:solidFill>
                <a:schemeClr val="dk1"/>
              </a:solidFill>
              <a:latin typeface="Verdana"/>
              <a:ea typeface="Verdana"/>
              <a:cs typeface="Verdana"/>
              <a:sym typeface="Verdana"/>
            </a:endParaRPr>
          </a:p>
        </p:txBody>
      </p:sp>
      <p:sp>
        <p:nvSpPr>
          <p:cNvPr id="566" name="Google Shape;566;p60"/>
          <p:cNvSpPr/>
          <p:nvPr/>
        </p:nvSpPr>
        <p:spPr>
          <a:xfrm>
            <a:off x="1484308" y="1870949"/>
            <a:ext cx="10018713" cy="830997"/>
          </a:xfrm>
          <a:prstGeom prst="rect">
            <a:avLst/>
          </a:prstGeom>
          <a:noFill/>
          <a:ln>
            <a:noFill/>
          </a:ln>
        </p:spPr>
        <p:txBody>
          <a:bodyPr spcFirstLastPara="1" wrap="square" lIns="91425" tIns="45700" rIns="91425" bIns="45700" anchor="t" anchorCtr="0">
            <a:spAutoFit/>
          </a:bodyPr>
          <a:lstStyle/>
          <a:p>
            <a:pPr lvl="0">
              <a:lnSpc>
                <a:spcPct val="150000"/>
              </a:lnSpc>
            </a:pPr>
            <a:r>
              <a:rPr lang="el-GR" sz="1600" dirty="0">
                <a:solidFill>
                  <a:schemeClr val="dk1"/>
                </a:solidFill>
                <a:latin typeface="Verdana"/>
                <a:ea typeface="Verdana"/>
                <a:cs typeface="Verdana"/>
                <a:sym typeface="Verdana"/>
              </a:rPr>
              <a:t>Θετικά </a:t>
            </a:r>
            <a:r>
              <a:rPr lang="el-GR" sz="1600" dirty="0">
                <a:latin typeface="Verdana"/>
                <a:ea typeface="Verdana"/>
                <a:cs typeface="Verdana"/>
                <a:sym typeface="Wingdings" panose="05000000000000000000" pitchFamily="2" charset="2"/>
              </a:rPr>
              <a:t></a:t>
            </a:r>
            <a:r>
              <a:rPr lang="el-GR" sz="1600" dirty="0" smtClean="0">
                <a:solidFill>
                  <a:schemeClr val="dk1"/>
                </a:solidFill>
                <a:latin typeface="Verdana"/>
                <a:ea typeface="Verdana"/>
                <a:cs typeface="Verdana"/>
                <a:sym typeface="Verdana"/>
              </a:rPr>
              <a:t> </a:t>
            </a:r>
            <a:r>
              <a:rPr lang="el-GR" sz="1600" dirty="0">
                <a:solidFill>
                  <a:schemeClr val="dk1"/>
                </a:solidFill>
                <a:latin typeface="Verdana"/>
                <a:ea typeface="Verdana"/>
                <a:cs typeface="Verdana"/>
                <a:sym typeface="Verdana"/>
              </a:rPr>
              <a:t>Σταδιακή ανάπτυξη με προσθήκη λειτουργικότητας.</a:t>
            </a:r>
            <a:br>
              <a:rPr lang="el-GR" sz="1600" dirty="0">
                <a:solidFill>
                  <a:schemeClr val="dk1"/>
                </a:solidFill>
                <a:latin typeface="Verdana"/>
                <a:ea typeface="Verdana"/>
                <a:cs typeface="Verdana"/>
                <a:sym typeface="Verdana"/>
              </a:rPr>
            </a:br>
            <a:r>
              <a:rPr lang="el-GR" sz="1600" dirty="0">
                <a:solidFill>
                  <a:schemeClr val="dk1"/>
                </a:solidFill>
                <a:latin typeface="Verdana"/>
                <a:ea typeface="Verdana"/>
                <a:cs typeface="Verdana"/>
                <a:sym typeface="Verdana"/>
              </a:rPr>
              <a:t>Αρνητικά </a:t>
            </a:r>
            <a:r>
              <a:rPr lang="el-GR" sz="1600" dirty="0">
                <a:latin typeface="Verdana"/>
                <a:ea typeface="Verdana"/>
                <a:cs typeface="Verdana"/>
                <a:sym typeface="Wingdings" panose="05000000000000000000" pitchFamily="2" charset="2"/>
              </a:rPr>
              <a:t></a:t>
            </a:r>
            <a:r>
              <a:rPr lang="el-GR" sz="1600" dirty="0" smtClean="0">
                <a:solidFill>
                  <a:schemeClr val="dk1"/>
                </a:solidFill>
                <a:latin typeface="Verdana"/>
                <a:ea typeface="Verdana"/>
                <a:cs typeface="Verdana"/>
                <a:sym typeface="Verdana"/>
              </a:rPr>
              <a:t> </a:t>
            </a:r>
            <a:r>
              <a:rPr lang="el-GR" sz="1600" dirty="0">
                <a:solidFill>
                  <a:schemeClr val="dk1"/>
                </a:solidFill>
                <a:latin typeface="Verdana"/>
                <a:ea typeface="Verdana"/>
                <a:cs typeface="Verdana"/>
                <a:sym typeface="Verdana"/>
              </a:rPr>
              <a:t>Μπορεί να αντιμετωπίσει προκλήσεις με την ενσωμάτωση νέων ιδεών.</a:t>
            </a:r>
            <a:endParaRPr sz="1600" dirty="0">
              <a:solidFill>
                <a:schemeClr val="dk1"/>
              </a:solidFill>
              <a:latin typeface="Verdana"/>
              <a:ea typeface="Verdana"/>
              <a:cs typeface="Verdana"/>
              <a:sym typeface="Verdana"/>
            </a:endParaRPr>
          </a:p>
        </p:txBody>
      </p:sp>
      <p:sp>
        <p:nvSpPr>
          <p:cNvPr id="567" name="Google Shape;567;p60"/>
          <p:cNvSpPr/>
          <p:nvPr/>
        </p:nvSpPr>
        <p:spPr>
          <a:xfrm>
            <a:off x="1484309" y="2991911"/>
            <a:ext cx="423224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1800" b="1">
                <a:solidFill>
                  <a:schemeClr val="dk1"/>
                </a:solidFill>
                <a:latin typeface="Verdana"/>
                <a:ea typeface="Verdana"/>
                <a:cs typeface="Verdana"/>
                <a:sym typeface="Verdana"/>
              </a:rPr>
              <a:t>3.1.5. Το σπειροειδές μοντέλο </a:t>
            </a:r>
            <a:endParaRPr sz="18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61"/>
          <p:cNvSpPr txBox="1">
            <a:spLocks noGrp="1"/>
          </p:cNvSpPr>
          <p:nvPr>
            <p:ph type="title"/>
          </p:nvPr>
        </p:nvSpPr>
        <p:spPr>
          <a:xfrm>
            <a:off x="1484310" y="-16625"/>
            <a:ext cx="1058862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3.2. Καταλληλότητα των Σύγχρονων Μοντέλων Ανάπτυξης Λογισμικού</a:t>
            </a:r>
            <a:endParaRPr sz="3000" b="1">
              <a:latin typeface="Verdana"/>
              <a:ea typeface="Verdana"/>
              <a:cs typeface="Verdana"/>
              <a:sym typeface="Verdana"/>
            </a:endParaRPr>
          </a:p>
        </p:txBody>
      </p:sp>
      <p:sp>
        <p:nvSpPr>
          <p:cNvPr id="573" name="Google Shape;573;p61"/>
          <p:cNvSpPr txBox="1">
            <a:spLocks noGrp="1"/>
          </p:cNvSpPr>
          <p:nvPr>
            <p:ph type="body" idx="1"/>
          </p:nvPr>
        </p:nvSpPr>
        <p:spPr>
          <a:xfrm>
            <a:off x="1484310" y="1652949"/>
            <a:ext cx="10018713" cy="739832"/>
          </a:xfrm>
          <a:prstGeom prst="rect">
            <a:avLst/>
          </a:prstGeom>
          <a:noFill/>
          <a:ln>
            <a:noFill/>
          </a:ln>
        </p:spPr>
        <p:txBody>
          <a:bodyPr spcFirstLastPara="1" wrap="square" lIns="91425" tIns="45700" rIns="91425" bIns="45700" anchor="ctr" anchorCtr="0">
            <a:normAutofit/>
          </a:bodyPr>
          <a:lstStyle/>
          <a:p>
            <a:pPr marL="0" lvl="0" indent="0">
              <a:spcBef>
                <a:spcPts val="0"/>
              </a:spcBef>
              <a:buSzPts val="2320"/>
              <a:buNone/>
            </a:pPr>
            <a:r>
              <a:rPr lang="el-GR" sz="1600" dirty="0">
                <a:latin typeface="Verdana"/>
                <a:ea typeface="Verdana"/>
                <a:cs typeface="Verdana"/>
                <a:sym typeface="Verdana"/>
              </a:rPr>
              <a:t>Θετικά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Ενσωματώνει τις βέλτιστες πρακτικές, κατάλληλη για μεγάλα έργα.</a:t>
            </a:r>
            <a:endParaRPr sz="1600" dirty="0">
              <a:latin typeface="Verdana"/>
              <a:ea typeface="Verdana"/>
              <a:cs typeface="Verdana"/>
              <a:sym typeface="Verdana"/>
            </a:endParaRPr>
          </a:p>
          <a:p>
            <a:pPr marL="0" lvl="0" indent="0">
              <a:spcBef>
                <a:spcPts val="920"/>
              </a:spcBef>
              <a:buSzPts val="2320"/>
              <a:buNone/>
            </a:pPr>
            <a:r>
              <a:rPr lang="el-GR" sz="1600" dirty="0">
                <a:latin typeface="Verdana"/>
                <a:ea typeface="Verdana"/>
                <a:cs typeface="Verdana"/>
                <a:sym typeface="Verdana"/>
              </a:rPr>
              <a:t>Αρνητικά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Μπορεί να είναι πολύπλοκο και να απαιτεί εξειδικευμένη ομάδα.</a:t>
            </a:r>
            <a:endParaRPr dirty="0"/>
          </a:p>
        </p:txBody>
      </p:sp>
      <p:sp>
        <p:nvSpPr>
          <p:cNvPr id="574" name="Google Shape;574;p61"/>
          <p:cNvSpPr/>
          <p:nvPr/>
        </p:nvSpPr>
        <p:spPr>
          <a:xfrm>
            <a:off x="1484310" y="1278108"/>
            <a:ext cx="657263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1800" b="1">
                <a:solidFill>
                  <a:schemeClr val="dk1"/>
                </a:solidFill>
                <a:latin typeface="Verdana"/>
                <a:ea typeface="Verdana"/>
                <a:cs typeface="Verdana"/>
                <a:sym typeface="Verdana"/>
              </a:rPr>
              <a:t>3.2.1. Ενοποιημένη προσέγγιση (Unified Process)</a:t>
            </a:r>
            <a:endParaRPr sz="1800" b="1">
              <a:solidFill>
                <a:schemeClr val="dk1"/>
              </a:solidFill>
              <a:latin typeface="Verdana"/>
              <a:ea typeface="Verdana"/>
              <a:cs typeface="Verdana"/>
              <a:sym typeface="Verdana"/>
            </a:endParaRPr>
          </a:p>
        </p:txBody>
      </p:sp>
      <p:sp>
        <p:nvSpPr>
          <p:cNvPr id="575" name="Google Shape;575;p61"/>
          <p:cNvSpPr/>
          <p:nvPr/>
        </p:nvSpPr>
        <p:spPr>
          <a:xfrm>
            <a:off x="1484310" y="2711703"/>
            <a:ext cx="62343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1800" b="1">
                <a:solidFill>
                  <a:schemeClr val="dk1"/>
                </a:solidFill>
                <a:latin typeface="Verdana"/>
                <a:ea typeface="Verdana"/>
                <a:cs typeface="Verdana"/>
                <a:sym typeface="Verdana"/>
              </a:rPr>
              <a:t>3.2.2. Ευέλικτη Ανάπτυξη (Agile Development)</a:t>
            </a:r>
            <a:endParaRPr sz="1800" b="1">
              <a:solidFill>
                <a:schemeClr val="dk1"/>
              </a:solidFill>
              <a:latin typeface="Verdana"/>
              <a:ea typeface="Verdana"/>
              <a:cs typeface="Verdana"/>
              <a:sym typeface="Verdana"/>
            </a:endParaRPr>
          </a:p>
        </p:txBody>
      </p:sp>
      <p:sp>
        <p:nvSpPr>
          <p:cNvPr id="576" name="Google Shape;576;p61"/>
          <p:cNvSpPr/>
          <p:nvPr/>
        </p:nvSpPr>
        <p:spPr>
          <a:xfrm>
            <a:off x="1484310" y="3081035"/>
            <a:ext cx="8889974" cy="830956"/>
          </a:xfrm>
          <a:prstGeom prst="rect">
            <a:avLst/>
          </a:prstGeom>
          <a:noFill/>
          <a:ln>
            <a:noFill/>
          </a:ln>
        </p:spPr>
        <p:txBody>
          <a:bodyPr spcFirstLastPara="1" wrap="square" lIns="91425" tIns="45700" rIns="91425" bIns="45700" anchor="t" anchorCtr="0">
            <a:spAutoFit/>
          </a:bodyPr>
          <a:lstStyle/>
          <a:p>
            <a:pPr lvl="0">
              <a:lnSpc>
                <a:spcPct val="150000"/>
              </a:lnSpc>
            </a:pPr>
            <a:r>
              <a:rPr lang="el-GR" sz="1600" dirty="0">
                <a:solidFill>
                  <a:schemeClr val="dk1"/>
                </a:solidFill>
                <a:latin typeface="Verdana"/>
                <a:ea typeface="Verdana"/>
                <a:cs typeface="Verdana"/>
                <a:sym typeface="Verdana"/>
              </a:rPr>
              <a:t>Θετικά </a:t>
            </a:r>
            <a:r>
              <a:rPr lang="el-GR" sz="1600" dirty="0">
                <a:latin typeface="Verdana"/>
                <a:ea typeface="Verdana"/>
                <a:cs typeface="Verdana"/>
                <a:sym typeface="Wingdings" panose="05000000000000000000" pitchFamily="2" charset="2"/>
              </a:rPr>
              <a:t></a:t>
            </a:r>
            <a:r>
              <a:rPr lang="el-GR" sz="1600" dirty="0" smtClean="0">
                <a:solidFill>
                  <a:schemeClr val="dk1"/>
                </a:solidFill>
                <a:latin typeface="Verdana"/>
                <a:ea typeface="Verdana"/>
                <a:cs typeface="Verdana"/>
                <a:sym typeface="Verdana"/>
              </a:rPr>
              <a:t> </a:t>
            </a:r>
            <a:r>
              <a:rPr lang="el-GR" sz="1600" dirty="0">
                <a:solidFill>
                  <a:schemeClr val="dk1"/>
                </a:solidFill>
                <a:latin typeface="Verdana"/>
                <a:ea typeface="Verdana"/>
                <a:cs typeface="Verdana"/>
                <a:sym typeface="Verdana"/>
              </a:rPr>
              <a:t>Ευέλικτη, προσαρμοστική και προάγει τη συνεργασία. </a:t>
            </a:r>
            <a:endParaRPr dirty="0"/>
          </a:p>
          <a:p>
            <a:pPr lvl="0">
              <a:lnSpc>
                <a:spcPct val="150000"/>
              </a:lnSpc>
            </a:pPr>
            <a:r>
              <a:rPr lang="el-GR" sz="1600" dirty="0">
                <a:solidFill>
                  <a:schemeClr val="dk1"/>
                </a:solidFill>
                <a:latin typeface="Verdana"/>
                <a:ea typeface="Verdana"/>
                <a:cs typeface="Verdana"/>
                <a:sym typeface="Verdana"/>
              </a:rPr>
              <a:t>Αρνητικά </a:t>
            </a:r>
            <a:r>
              <a:rPr lang="el-GR" sz="1600" dirty="0">
                <a:latin typeface="Verdana"/>
                <a:ea typeface="Verdana"/>
                <a:cs typeface="Verdana"/>
                <a:sym typeface="Wingdings" panose="05000000000000000000" pitchFamily="2" charset="2"/>
              </a:rPr>
              <a:t></a:t>
            </a:r>
            <a:r>
              <a:rPr lang="el-GR" sz="1600" dirty="0" smtClean="0">
                <a:solidFill>
                  <a:schemeClr val="dk1"/>
                </a:solidFill>
                <a:latin typeface="Verdana"/>
                <a:ea typeface="Verdana"/>
                <a:cs typeface="Verdana"/>
                <a:sym typeface="Verdana"/>
              </a:rPr>
              <a:t> </a:t>
            </a:r>
            <a:r>
              <a:rPr lang="el-GR" sz="1600" dirty="0">
                <a:solidFill>
                  <a:schemeClr val="dk1"/>
                </a:solidFill>
                <a:latin typeface="Verdana"/>
                <a:ea typeface="Verdana"/>
                <a:cs typeface="Verdana"/>
                <a:sym typeface="Verdana"/>
              </a:rPr>
              <a:t>Μπορεί να απαιτεί έμπειρα μέλη της ομάδας για βέλτιστα αποτελέσματα.</a:t>
            </a:r>
            <a:endParaRPr sz="1600" dirty="0">
              <a:solidFill>
                <a:schemeClr val="dk1"/>
              </a:solidFill>
              <a:latin typeface="Verdana"/>
              <a:ea typeface="Verdana"/>
              <a:cs typeface="Verdana"/>
              <a:sym typeface="Verdana"/>
            </a:endParaRPr>
          </a:p>
        </p:txBody>
      </p:sp>
      <p:sp>
        <p:nvSpPr>
          <p:cNvPr id="577" name="Google Shape;577;p61"/>
          <p:cNvSpPr/>
          <p:nvPr/>
        </p:nvSpPr>
        <p:spPr>
          <a:xfrm>
            <a:off x="1484310" y="4323522"/>
            <a:ext cx="344838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1800" b="1">
                <a:solidFill>
                  <a:schemeClr val="dk1"/>
                </a:solidFill>
                <a:latin typeface="Verdana"/>
                <a:ea typeface="Verdana"/>
                <a:cs typeface="Verdana"/>
                <a:sym typeface="Verdana"/>
              </a:rPr>
              <a:t>3.2.3. Ανάπτυξης DevOps</a:t>
            </a:r>
            <a:endParaRPr sz="1800" b="1">
              <a:solidFill>
                <a:schemeClr val="dk1"/>
              </a:solidFill>
              <a:latin typeface="Verdana"/>
              <a:ea typeface="Verdana"/>
              <a:cs typeface="Verdana"/>
              <a:sym typeface="Verdana"/>
            </a:endParaRPr>
          </a:p>
        </p:txBody>
      </p:sp>
      <p:sp>
        <p:nvSpPr>
          <p:cNvPr id="578" name="Google Shape;578;p61"/>
          <p:cNvSpPr/>
          <p:nvPr/>
        </p:nvSpPr>
        <p:spPr>
          <a:xfrm>
            <a:off x="1484310" y="4692854"/>
            <a:ext cx="9463552" cy="830997"/>
          </a:xfrm>
          <a:prstGeom prst="rect">
            <a:avLst/>
          </a:prstGeom>
          <a:noFill/>
          <a:ln>
            <a:noFill/>
          </a:ln>
        </p:spPr>
        <p:txBody>
          <a:bodyPr spcFirstLastPara="1" wrap="square" lIns="91425" tIns="45700" rIns="91425" bIns="45700" anchor="t" anchorCtr="0">
            <a:spAutoFit/>
          </a:bodyPr>
          <a:lstStyle/>
          <a:p>
            <a:pPr lvl="0">
              <a:lnSpc>
                <a:spcPct val="150000"/>
              </a:lnSpc>
            </a:pPr>
            <a:r>
              <a:rPr lang="el-GR" sz="1600" dirty="0">
                <a:solidFill>
                  <a:schemeClr val="dk1"/>
                </a:solidFill>
                <a:latin typeface="Verdana"/>
                <a:ea typeface="Verdana"/>
                <a:cs typeface="Verdana"/>
                <a:sym typeface="Verdana"/>
              </a:rPr>
              <a:t>Θετικά </a:t>
            </a:r>
            <a:r>
              <a:rPr lang="el-GR" sz="1600" dirty="0">
                <a:latin typeface="Verdana"/>
                <a:ea typeface="Verdana"/>
                <a:cs typeface="Verdana"/>
                <a:sym typeface="Wingdings" panose="05000000000000000000" pitchFamily="2" charset="2"/>
              </a:rPr>
              <a:t></a:t>
            </a:r>
            <a:r>
              <a:rPr lang="el-GR" sz="1600" dirty="0" smtClean="0">
                <a:solidFill>
                  <a:schemeClr val="dk1"/>
                </a:solidFill>
                <a:latin typeface="Verdana"/>
                <a:ea typeface="Verdana"/>
                <a:cs typeface="Verdana"/>
                <a:sym typeface="Verdana"/>
              </a:rPr>
              <a:t> </a:t>
            </a:r>
            <a:r>
              <a:rPr lang="el-GR" sz="1600" dirty="0">
                <a:solidFill>
                  <a:schemeClr val="dk1"/>
                </a:solidFill>
                <a:latin typeface="Verdana"/>
                <a:ea typeface="Verdana"/>
                <a:cs typeface="Verdana"/>
                <a:sym typeface="Verdana"/>
              </a:rPr>
              <a:t>Ενισχύει τη συνεργασία μεταξύ ανάπτυξης και λειτουργίας. </a:t>
            </a:r>
            <a:endParaRPr sz="1600" dirty="0">
              <a:solidFill>
                <a:schemeClr val="dk1"/>
              </a:solidFill>
              <a:latin typeface="Verdana"/>
              <a:ea typeface="Verdana"/>
              <a:cs typeface="Verdana"/>
              <a:sym typeface="Verdana"/>
            </a:endParaRPr>
          </a:p>
          <a:p>
            <a:pPr lvl="0">
              <a:lnSpc>
                <a:spcPct val="150000"/>
              </a:lnSpc>
            </a:pPr>
            <a:r>
              <a:rPr lang="el-GR" sz="1600" dirty="0">
                <a:solidFill>
                  <a:schemeClr val="dk1"/>
                </a:solidFill>
                <a:latin typeface="Verdana"/>
                <a:ea typeface="Verdana"/>
                <a:cs typeface="Verdana"/>
                <a:sym typeface="Verdana"/>
              </a:rPr>
              <a:t>Αρνητικά </a:t>
            </a:r>
            <a:r>
              <a:rPr lang="el-GR" sz="1600" dirty="0">
                <a:latin typeface="Verdana"/>
                <a:ea typeface="Verdana"/>
                <a:cs typeface="Verdana"/>
                <a:sym typeface="Wingdings" panose="05000000000000000000" pitchFamily="2" charset="2"/>
              </a:rPr>
              <a:t></a:t>
            </a:r>
            <a:r>
              <a:rPr lang="el-GR" sz="1600" dirty="0" smtClean="0">
                <a:solidFill>
                  <a:schemeClr val="dk1"/>
                </a:solidFill>
                <a:latin typeface="Verdana"/>
                <a:ea typeface="Verdana"/>
                <a:cs typeface="Verdana"/>
                <a:sym typeface="Verdana"/>
              </a:rPr>
              <a:t> </a:t>
            </a:r>
            <a:r>
              <a:rPr lang="el-GR" sz="1600" dirty="0">
                <a:solidFill>
                  <a:schemeClr val="dk1"/>
                </a:solidFill>
                <a:latin typeface="Verdana"/>
                <a:ea typeface="Verdana"/>
                <a:cs typeface="Verdana"/>
                <a:sym typeface="Verdana"/>
              </a:rPr>
              <a:t>Απαιτεί πολιτισμικές αλλαγές εντός του οργανισμού.</a:t>
            </a:r>
            <a:endParaRPr sz="1600" dirty="0">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82"/>
        <p:cNvGrpSpPr/>
        <p:nvPr/>
      </p:nvGrpSpPr>
      <p:grpSpPr>
        <a:xfrm>
          <a:off x="0" y="0"/>
          <a:ext cx="0" cy="0"/>
          <a:chOff x="0" y="0"/>
          <a:chExt cx="0" cy="0"/>
        </a:xfrm>
      </p:grpSpPr>
      <p:sp>
        <p:nvSpPr>
          <p:cNvPr id="583" name="Google Shape;583;p62"/>
          <p:cNvSpPr txBox="1">
            <a:spLocks noGrp="1"/>
          </p:cNvSpPr>
          <p:nvPr>
            <p:ph type="title"/>
          </p:nvPr>
        </p:nvSpPr>
        <p:spPr>
          <a:xfrm>
            <a:off x="1484310" y="-16625"/>
            <a:ext cx="1058862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3.2. Καταλληλότητα των Σύγχρονων Μοντέλων Ανάπτυξης Λογισμικού</a:t>
            </a:r>
            <a:endParaRPr sz="3000" b="1">
              <a:latin typeface="Verdana"/>
              <a:ea typeface="Verdana"/>
              <a:cs typeface="Verdana"/>
              <a:sym typeface="Verdana"/>
            </a:endParaRPr>
          </a:p>
        </p:txBody>
      </p:sp>
      <p:sp>
        <p:nvSpPr>
          <p:cNvPr id="584" name="Google Shape;584;p62"/>
          <p:cNvSpPr txBox="1">
            <a:spLocks noGrp="1"/>
          </p:cNvSpPr>
          <p:nvPr>
            <p:ph type="body" idx="1"/>
          </p:nvPr>
        </p:nvSpPr>
        <p:spPr>
          <a:xfrm>
            <a:off x="1484310" y="1652949"/>
            <a:ext cx="10018713" cy="739832"/>
          </a:xfrm>
          <a:prstGeom prst="rect">
            <a:avLst/>
          </a:prstGeom>
          <a:noFill/>
          <a:ln>
            <a:noFill/>
          </a:ln>
        </p:spPr>
        <p:txBody>
          <a:bodyPr spcFirstLastPara="1" wrap="square" lIns="91425" tIns="45700" rIns="91425" bIns="45700" anchor="ctr" anchorCtr="0">
            <a:normAutofit fontScale="92500"/>
          </a:bodyPr>
          <a:lstStyle/>
          <a:p>
            <a:pPr marL="0" lvl="0" indent="0">
              <a:spcBef>
                <a:spcPts val="0"/>
              </a:spcBef>
              <a:buSzPct val="145000"/>
              <a:buNone/>
            </a:pPr>
            <a:r>
              <a:rPr lang="el-GR" sz="1600" dirty="0">
                <a:latin typeface="Verdana"/>
                <a:ea typeface="Verdana"/>
                <a:cs typeface="Verdana"/>
                <a:sym typeface="Verdana"/>
              </a:rPr>
              <a:t>Θετικά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Εξασφαλίζει την επιτυχημένη ολοκλήρωση του έργου και προσαρμόζεται στις αλλαγές του.</a:t>
            </a:r>
            <a:endParaRPr sz="1600" dirty="0">
              <a:latin typeface="Verdana"/>
              <a:ea typeface="Verdana"/>
              <a:cs typeface="Verdana"/>
              <a:sym typeface="Verdana"/>
            </a:endParaRPr>
          </a:p>
          <a:p>
            <a:pPr marL="0" lvl="0" indent="0">
              <a:spcBef>
                <a:spcPts val="920"/>
              </a:spcBef>
              <a:buSzPct val="145000"/>
              <a:buNone/>
            </a:pPr>
            <a:r>
              <a:rPr lang="el-GR" sz="1600" dirty="0">
                <a:latin typeface="Verdana"/>
                <a:ea typeface="Verdana"/>
                <a:cs typeface="Verdana"/>
                <a:sym typeface="Verdana"/>
              </a:rPr>
              <a:t>Αρνητικά </a:t>
            </a:r>
            <a:r>
              <a:rPr lang="el-GR" sz="1600" dirty="0">
                <a:latin typeface="Verdana"/>
                <a:ea typeface="Verdana"/>
                <a:cs typeface="Verdana"/>
                <a:sym typeface="Wingdings" panose="05000000000000000000" pitchFamily="2" charset="2"/>
              </a:rPr>
              <a:t></a:t>
            </a:r>
            <a:r>
              <a:rPr lang="el-GR" sz="1600" dirty="0" smtClean="0">
                <a:latin typeface="Verdana"/>
                <a:ea typeface="Verdana"/>
                <a:cs typeface="Verdana"/>
                <a:sym typeface="Verdana"/>
              </a:rPr>
              <a:t> </a:t>
            </a:r>
            <a:r>
              <a:rPr lang="el-GR" sz="1600" dirty="0">
                <a:latin typeface="Verdana"/>
                <a:ea typeface="Verdana"/>
                <a:cs typeface="Verdana"/>
                <a:sym typeface="Verdana"/>
              </a:rPr>
              <a:t>Μπορεί να απαιτεί έμπειρους Scrum Masters για την αποτελεσματική εφαρμογή.</a:t>
            </a:r>
            <a:endParaRPr dirty="0"/>
          </a:p>
        </p:txBody>
      </p:sp>
      <p:sp>
        <p:nvSpPr>
          <p:cNvPr id="585" name="Google Shape;585;p62"/>
          <p:cNvSpPr/>
          <p:nvPr/>
        </p:nvSpPr>
        <p:spPr>
          <a:xfrm>
            <a:off x="1484310" y="1278108"/>
            <a:ext cx="359746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1800" b="1">
                <a:solidFill>
                  <a:schemeClr val="dk1"/>
                </a:solidFill>
                <a:latin typeface="Verdana"/>
                <a:ea typeface="Verdana"/>
                <a:cs typeface="Verdana"/>
                <a:sym typeface="Verdana"/>
              </a:rPr>
              <a:t>3.2.4. Μεθοδολογία Scrum</a:t>
            </a:r>
            <a:endParaRPr sz="1800" b="1">
              <a:solidFill>
                <a:schemeClr val="dk1"/>
              </a:solidFill>
              <a:latin typeface="Verdana"/>
              <a:ea typeface="Verdana"/>
              <a:cs typeface="Verdana"/>
              <a:sym typeface="Verdana"/>
            </a:endParaRPr>
          </a:p>
        </p:txBody>
      </p:sp>
      <p:sp>
        <p:nvSpPr>
          <p:cNvPr id="586" name="Google Shape;586;p62"/>
          <p:cNvSpPr/>
          <p:nvPr/>
        </p:nvSpPr>
        <p:spPr>
          <a:xfrm>
            <a:off x="1484310" y="2711703"/>
            <a:ext cx="76754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1800" b="1">
                <a:solidFill>
                  <a:schemeClr val="dk1"/>
                </a:solidFill>
                <a:latin typeface="Verdana"/>
                <a:ea typeface="Verdana"/>
                <a:cs typeface="Verdana"/>
                <a:sym typeface="Verdana"/>
              </a:rPr>
              <a:t>3.2.5. Ακραίος Προγραμματισμός (Extreme Programming)</a:t>
            </a:r>
            <a:endParaRPr sz="1800" b="1">
              <a:solidFill>
                <a:schemeClr val="dk1"/>
              </a:solidFill>
              <a:latin typeface="Verdana"/>
              <a:ea typeface="Verdana"/>
              <a:cs typeface="Verdana"/>
              <a:sym typeface="Verdana"/>
            </a:endParaRPr>
          </a:p>
        </p:txBody>
      </p:sp>
      <p:sp>
        <p:nvSpPr>
          <p:cNvPr id="587" name="Google Shape;587;p62"/>
          <p:cNvSpPr/>
          <p:nvPr/>
        </p:nvSpPr>
        <p:spPr>
          <a:xfrm>
            <a:off x="1484298" y="3081025"/>
            <a:ext cx="9641700" cy="831000"/>
          </a:xfrm>
          <a:prstGeom prst="rect">
            <a:avLst/>
          </a:prstGeom>
          <a:noFill/>
          <a:ln>
            <a:noFill/>
          </a:ln>
        </p:spPr>
        <p:txBody>
          <a:bodyPr spcFirstLastPara="1" wrap="square" lIns="91425" tIns="45700" rIns="91425" bIns="45700" anchor="t" anchorCtr="0">
            <a:spAutoFit/>
          </a:bodyPr>
          <a:lstStyle/>
          <a:p>
            <a:pPr lvl="0">
              <a:lnSpc>
                <a:spcPct val="150000"/>
              </a:lnSpc>
            </a:pPr>
            <a:r>
              <a:rPr lang="el-GR" sz="1600" dirty="0">
                <a:solidFill>
                  <a:schemeClr val="dk1"/>
                </a:solidFill>
                <a:latin typeface="Verdana"/>
                <a:ea typeface="Verdana"/>
                <a:cs typeface="Verdana"/>
                <a:sym typeface="Verdana"/>
              </a:rPr>
              <a:t>Θετικά </a:t>
            </a:r>
            <a:r>
              <a:rPr lang="el-GR" sz="1600" dirty="0">
                <a:latin typeface="Verdana"/>
                <a:ea typeface="Verdana"/>
                <a:cs typeface="Verdana"/>
                <a:sym typeface="Wingdings" panose="05000000000000000000" pitchFamily="2" charset="2"/>
              </a:rPr>
              <a:t></a:t>
            </a:r>
            <a:r>
              <a:rPr lang="el-GR" sz="1600" dirty="0" smtClean="0">
                <a:solidFill>
                  <a:schemeClr val="dk1"/>
                </a:solidFill>
                <a:latin typeface="Verdana"/>
                <a:ea typeface="Verdana"/>
                <a:cs typeface="Verdana"/>
                <a:sym typeface="Verdana"/>
              </a:rPr>
              <a:t> </a:t>
            </a:r>
            <a:r>
              <a:rPr lang="el-GR" sz="1600" dirty="0">
                <a:solidFill>
                  <a:schemeClr val="dk1"/>
                </a:solidFill>
                <a:latin typeface="Verdana"/>
                <a:ea typeface="Verdana"/>
                <a:cs typeface="Verdana"/>
                <a:sym typeface="Verdana"/>
              </a:rPr>
              <a:t>Δίνει έμφαση στην ικανοποίηση του πελάτη με γρήγορη ανάπτυξη και ευελιξία.</a:t>
            </a:r>
            <a:endParaRPr sz="1600" dirty="0">
              <a:solidFill>
                <a:schemeClr val="dk1"/>
              </a:solidFill>
              <a:latin typeface="Verdana"/>
              <a:ea typeface="Verdana"/>
              <a:cs typeface="Verdana"/>
              <a:sym typeface="Verdana"/>
            </a:endParaRPr>
          </a:p>
          <a:p>
            <a:pPr lvl="0">
              <a:lnSpc>
                <a:spcPct val="150000"/>
              </a:lnSpc>
            </a:pPr>
            <a:r>
              <a:rPr lang="el-GR" sz="1600" dirty="0">
                <a:solidFill>
                  <a:schemeClr val="dk1"/>
                </a:solidFill>
                <a:latin typeface="Verdana"/>
                <a:ea typeface="Verdana"/>
                <a:cs typeface="Verdana"/>
                <a:sym typeface="Verdana"/>
              </a:rPr>
              <a:t>Αρνητικά </a:t>
            </a:r>
            <a:r>
              <a:rPr lang="el-GR" sz="1600" dirty="0">
                <a:latin typeface="Verdana"/>
                <a:ea typeface="Verdana"/>
                <a:cs typeface="Verdana"/>
                <a:sym typeface="Wingdings" panose="05000000000000000000" pitchFamily="2" charset="2"/>
              </a:rPr>
              <a:t> </a:t>
            </a:r>
            <a:r>
              <a:rPr lang="el-GR" sz="1600" dirty="0" smtClean="0">
                <a:solidFill>
                  <a:schemeClr val="dk1"/>
                </a:solidFill>
                <a:latin typeface="Verdana"/>
                <a:ea typeface="Verdana"/>
                <a:cs typeface="Verdana"/>
                <a:sym typeface="Verdana"/>
              </a:rPr>
              <a:t>Απαιτεί </a:t>
            </a:r>
            <a:r>
              <a:rPr lang="el-GR" sz="1600" dirty="0">
                <a:solidFill>
                  <a:schemeClr val="dk1"/>
                </a:solidFill>
                <a:latin typeface="Verdana"/>
                <a:ea typeface="Verdana"/>
                <a:cs typeface="Verdana"/>
                <a:sym typeface="Verdana"/>
              </a:rPr>
              <a:t>πειθαρχημένες ομαδικές πρακτικές.</a:t>
            </a:r>
            <a:endParaRPr sz="1600" dirty="0">
              <a:solidFill>
                <a:schemeClr val="dk1"/>
              </a:solidFill>
              <a:latin typeface="Verdana"/>
              <a:ea typeface="Verdana"/>
              <a:cs typeface="Verdana"/>
              <a:sym typeface="Verdana"/>
            </a:endParaRPr>
          </a:p>
        </p:txBody>
      </p:sp>
      <p:sp>
        <p:nvSpPr>
          <p:cNvPr id="588" name="Google Shape;588;p62"/>
          <p:cNvSpPr/>
          <p:nvPr/>
        </p:nvSpPr>
        <p:spPr>
          <a:xfrm>
            <a:off x="1484310" y="4323522"/>
            <a:ext cx="954620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1800" b="1">
                <a:solidFill>
                  <a:schemeClr val="dk1"/>
                </a:solidFill>
                <a:latin typeface="Verdana"/>
                <a:ea typeface="Verdana"/>
                <a:cs typeface="Verdana"/>
                <a:sym typeface="Verdana"/>
              </a:rPr>
              <a:t>3.2.6. Ανάπτυξη οδηγούμενη από τον έλεγχο (Test-driven Development)</a:t>
            </a:r>
            <a:endParaRPr sz="1800" b="1">
              <a:solidFill>
                <a:schemeClr val="dk1"/>
              </a:solidFill>
              <a:latin typeface="Verdana"/>
              <a:ea typeface="Verdana"/>
              <a:cs typeface="Verdana"/>
              <a:sym typeface="Verdana"/>
            </a:endParaRPr>
          </a:p>
        </p:txBody>
      </p:sp>
      <p:sp>
        <p:nvSpPr>
          <p:cNvPr id="589" name="Google Shape;589;p62"/>
          <p:cNvSpPr/>
          <p:nvPr/>
        </p:nvSpPr>
        <p:spPr>
          <a:xfrm>
            <a:off x="1484310" y="4692854"/>
            <a:ext cx="9463552" cy="830997"/>
          </a:xfrm>
          <a:prstGeom prst="rect">
            <a:avLst/>
          </a:prstGeom>
          <a:noFill/>
          <a:ln>
            <a:noFill/>
          </a:ln>
        </p:spPr>
        <p:txBody>
          <a:bodyPr spcFirstLastPara="1" wrap="square" lIns="91425" tIns="45700" rIns="91425" bIns="45700" anchor="t" anchorCtr="0">
            <a:spAutoFit/>
          </a:bodyPr>
          <a:lstStyle/>
          <a:p>
            <a:pPr lvl="0">
              <a:lnSpc>
                <a:spcPct val="150000"/>
              </a:lnSpc>
            </a:pPr>
            <a:r>
              <a:rPr lang="el-GR" sz="1600" dirty="0">
                <a:solidFill>
                  <a:schemeClr val="dk1"/>
                </a:solidFill>
                <a:latin typeface="Verdana"/>
                <a:ea typeface="Verdana"/>
                <a:cs typeface="Verdana"/>
                <a:sym typeface="Verdana"/>
              </a:rPr>
              <a:t>Θετικά </a:t>
            </a:r>
            <a:r>
              <a:rPr lang="el-GR" sz="1600" dirty="0">
                <a:latin typeface="Verdana"/>
                <a:ea typeface="Verdana"/>
                <a:cs typeface="Verdana"/>
                <a:sym typeface="Wingdings" panose="05000000000000000000" pitchFamily="2" charset="2"/>
              </a:rPr>
              <a:t></a:t>
            </a:r>
            <a:r>
              <a:rPr lang="el-GR" sz="1600" dirty="0" smtClean="0">
                <a:solidFill>
                  <a:schemeClr val="dk1"/>
                </a:solidFill>
                <a:latin typeface="Verdana"/>
                <a:ea typeface="Verdana"/>
                <a:cs typeface="Verdana"/>
                <a:sym typeface="Verdana"/>
              </a:rPr>
              <a:t> </a:t>
            </a:r>
            <a:r>
              <a:rPr lang="el-GR" sz="1600" dirty="0">
                <a:solidFill>
                  <a:schemeClr val="dk1"/>
                </a:solidFill>
                <a:latin typeface="Verdana"/>
                <a:ea typeface="Verdana"/>
                <a:cs typeface="Verdana"/>
                <a:sym typeface="Verdana"/>
              </a:rPr>
              <a:t>Παρέχει έλεγχο των φάσεων και των παραδοτέων του έργου.</a:t>
            </a:r>
            <a:endParaRPr sz="1600" dirty="0">
              <a:solidFill>
                <a:schemeClr val="dk1"/>
              </a:solidFill>
              <a:latin typeface="Verdana"/>
              <a:ea typeface="Verdana"/>
              <a:cs typeface="Verdana"/>
              <a:sym typeface="Verdana"/>
            </a:endParaRPr>
          </a:p>
          <a:p>
            <a:pPr lvl="0">
              <a:lnSpc>
                <a:spcPct val="150000"/>
              </a:lnSpc>
            </a:pPr>
            <a:r>
              <a:rPr lang="el-GR" sz="1600" dirty="0">
                <a:solidFill>
                  <a:schemeClr val="dk1"/>
                </a:solidFill>
                <a:latin typeface="Verdana"/>
                <a:ea typeface="Verdana"/>
                <a:cs typeface="Verdana"/>
                <a:sym typeface="Verdana"/>
              </a:rPr>
              <a:t>Αρνητικά </a:t>
            </a:r>
            <a:r>
              <a:rPr lang="el-GR" sz="1600" dirty="0">
                <a:latin typeface="Verdana"/>
                <a:ea typeface="Verdana"/>
                <a:cs typeface="Verdana"/>
                <a:sym typeface="Wingdings" panose="05000000000000000000" pitchFamily="2" charset="2"/>
              </a:rPr>
              <a:t></a:t>
            </a:r>
            <a:r>
              <a:rPr lang="el-GR" sz="1600" dirty="0" smtClean="0">
                <a:solidFill>
                  <a:schemeClr val="dk1"/>
                </a:solidFill>
                <a:latin typeface="Verdana"/>
                <a:ea typeface="Verdana"/>
                <a:cs typeface="Verdana"/>
                <a:sym typeface="Verdana"/>
              </a:rPr>
              <a:t> </a:t>
            </a:r>
            <a:r>
              <a:rPr lang="el-GR" sz="1600" dirty="0">
                <a:solidFill>
                  <a:schemeClr val="dk1"/>
                </a:solidFill>
                <a:latin typeface="Verdana"/>
                <a:ea typeface="Verdana"/>
                <a:cs typeface="Verdana"/>
                <a:sym typeface="Verdana"/>
              </a:rPr>
              <a:t>Μπορεί να είναι άκαμπτο και να ανταποκρίνεται λιγότερο στις αλλαγές.</a:t>
            </a:r>
            <a:endParaRPr sz="1600" dirty="0">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63"/>
          <p:cNvSpPr txBox="1"/>
          <p:nvPr/>
        </p:nvSpPr>
        <p:spPr>
          <a:xfrm>
            <a:off x="1342992" y="673331"/>
            <a:ext cx="10018713" cy="1752599"/>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dk1"/>
              </a:buClr>
              <a:buSzPts val="3000"/>
              <a:buFont typeface="Verdana"/>
              <a:buNone/>
            </a:pPr>
            <a:r>
              <a:rPr lang="el-GR" sz="3000" b="1" cap="none">
                <a:solidFill>
                  <a:schemeClr val="dk1"/>
                </a:solidFill>
                <a:latin typeface="Verdana"/>
                <a:ea typeface="Verdana"/>
                <a:cs typeface="Verdana"/>
                <a:sym typeface="Verdana"/>
              </a:rPr>
              <a:t>3.3. ΣΥΝΟΨΗ  </a:t>
            </a:r>
            <a:endParaRPr sz="3000" b="1" cap="none">
              <a:solidFill>
                <a:schemeClr val="dk1"/>
              </a:solidFill>
              <a:latin typeface="Verdana"/>
              <a:ea typeface="Verdana"/>
              <a:cs typeface="Verdana"/>
              <a:sym typeface="Verdana"/>
            </a:endParaRPr>
          </a:p>
        </p:txBody>
      </p:sp>
      <p:sp>
        <p:nvSpPr>
          <p:cNvPr id="595" name="Google Shape;595;p63"/>
          <p:cNvSpPr txBox="1"/>
          <p:nvPr/>
        </p:nvSpPr>
        <p:spPr>
          <a:xfrm>
            <a:off x="4613564" y="3142211"/>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orbel"/>
              <a:ea typeface="Corbel"/>
              <a:cs typeface="Corbel"/>
              <a:sym typeface="Corbel"/>
            </a:endParaRPr>
          </a:p>
        </p:txBody>
      </p:sp>
      <p:sp>
        <p:nvSpPr>
          <p:cNvPr id="596" name="Google Shape;596;p63"/>
          <p:cNvSpPr/>
          <p:nvPr/>
        </p:nvSpPr>
        <p:spPr>
          <a:xfrm>
            <a:off x="1782619" y="2357381"/>
            <a:ext cx="9946638" cy="15696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l-GR" sz="1600">
                <a:solidFill>
                  <a:schemeClr val="dk1"/>
                </a:solidFill>
                <a:latin typeface="Verdana"/>
                <a:ea typeface="Verdana"/>
                <a:cs typeface="Verdana"/>
                <a:sym typeface="Verdana"/>
              </a:rPr>
              <a:t>Η κατάλληλη μεθοδολογία ανάπτυξης λογισμικού εξαρτάται από τις ειδικές ανάγκες του έργου. Για δομημένα και σαφώς καθορισμένα έργα, μπορεί να είναι κατάλληλα βασικά μοντέλα όπως το μοντέλο καταρράκτη ή το μοντέλο V. Για έργα με εξελισσόμενες απαιτήσεις και έμφαση στη συνεργασία, τα σύγχρονα μοντέλα όπως το Agile, το Scrum ή το DevOps μπορεί να είναι πιο κατάλληλα. Τελικά, η επιλογή θα πρέπει να ευθυγραμμιστεί με τους στόχους του έργου, τις δυνατότητες της ομάδας και τη φύση του περιβάλλοντος ανάπτυξης.</a:t>
            </a:r>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64"/>
          <p:cNvSpPr txBox="1">
            <a:spLocks noGrp="1"/>
          </p:cNvSpPr>
          <p:nvPr>
            <p:ph type="title"/>
          </p:nvPr>
        </p:nvSpPr>
        <p:spPr>
          <a:xfrm>
            <a:off x="1484311" y="685800"/>
            <a:ext cx="10018713" cy="79386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4. ΓΕΝΙΚΗ ΣΥΝΟΨΗ  </a:t>
            </a:r>
            <a:br>
              <a:rPr lang="el-GR" sz="3000" b="1">
                <a:latin typeface="Verdana"/>
                <a:ea typeface="Verdana"/>
                <a:cs typeface="Verdana"/>
                <a:sym typeface="Verdana"/>
              </a:rPr>
            </a:br>
            <a:endParaRPr sz="3000"/>
          </a:p>
        </p:txBody>
      </p:sp>
      <p:sp>
        <p:nvSpPr>
          <p:cNvPr id="602" name="Google Shape;602;p64"/>
          <p:cNvSpPr txBox="1">
            <a:spLocks noGrp="1"/>
          </p:cNvSpPr>
          <p:nvPr>
            <p:ph type="body" idx="1"/>
          </p:nvPr>
        </p:nvSpPr>
        <p:spPr>
          <a:xfrm>
            <a:off x="1484310" y="1877290"/>
            <a:ext cx="10018713" cy="3124201"/>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2320"/>
              <a:buNone/>
            </a:pPr>
            <a:r>
              <a:rPr lang="el-GR" sz="1600">
                <a:latin typeface="Verdana"/>
                <a:ea typeface="Verdana"/>
                <a:cs typeface="Verdana"/>
                <a:sym typeface="Verdana"/>
              </a:rPr>
              <a:t>Κλείνοντας, για να αντιμετωπίσουμε τις πολυπλοκότητες της ανάπτυξης λογισμικού, είναι σημαντικό να κατανοούμε τα μοντέλα ζωής του λογισμικού και τις μεθοδολογίες ανάπτυξης. Τα μοντέλα ζωής παρέχουν μια δομή, περιγράφοντας τις φάσεις ενός έργου, ενώ οι μεθοδολογίες προσφέρουν ευρύτερη προοπτική, καθοδηγώντας πρακτικές και αρχές για την επιτυχή υλοποίηση του έργου.</a:t>
            </a:r>
            <a:endParaRPr sz="1600">
              <a:latin typeface="Verdana"/>
              <a:ea typeface="Verdana"/>
              <a:cs typeface="Verdana"/>
              <a:sym typeface="Verdana"/>
            </a:endParaRPr>
          </a:p>
        </p:txBody>
      </p:sp>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606"/>
        <p:cNvGrpSpPr/>
        <p:nvPr/>
      </p:nvGrpSpPr>
      <p:grpSpPr>
        <a:xfrm>
          <a:off x="0" y="0"/>
          <a:ext cx="0" cy="0"/>
          <a:chOff x="0" y="0"/>
          <a:chExt cx="0" cy="0"/>
        </a:xfrm>
      </p:grpSpPr>
      <p:sp>
        <p:nvSpPr>
          <p:cNvPr id="607" name="Google Shape;607;p65"/>
          <p:cNvSpPr txBox="1">
            <a:spLocks noGrp="1"/>
          </p:cNvSpPr>
          <p:nvPr>
            <p:ph type="title"/>
          </p:nvPr>
        </p:nvSpPr>
        <p:spPr>
          <a:xfrm>
            <a:off x="1484310" y="133005"/>
            <a:ext cx="10018713" cy="1055716"/>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ΑΝΑΦΟΡΕΣ  </a:t>
            </a:r>
            <a:br>
              <a:rPr lang="el-GR" sz="3000" b="1">
                <a:latin typeface="Verdana"/>
                <a:ea typeface="Verdana"/>
                <a:cs typeface="Verdana"/>
                <a:sym typeface="Verdana"/>
              </a:rPr>
            </a:br>
            <a:endParaRPr sz="3000"/>
          </a:p>
        </p:txBody>
      </p:sp>
      <p:sp>
        <p:nvSpPr>
          <p:cNvPr id="608" name="Google Shape;608;p65"/>
          <p:cNvSpPr txBox="1">
            <a:spLocks noGrp="1"/>
          </p:cNvSpPr>
          <p:nvPr>
            <p:ph type="body" idx="1"/>
          </p:nvPr>
        </p:nvSpPr>
        <p:spPr>
          <a:xfrm>
            <a:off x="1484311" y="1321723"/>
            <a:ext cx="10018713" cy="5827221"/>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2320"/>
              <a:buNone/>
            </a:pPr>
            <a:r>
              <a:rPr lang="el-GR" sz="1600" b="1" dirty="0">
                <a:latin typeface="Verdana"/>
                <a:ea typeface="Verdana"/>
                <a:cs typeface="Verdana"/>
                <a:sym typeface="Verdana"/>
              </a:rPr>
              <a:t>0. Γενική Εισαγωγή</a:t>
            </a:r>
            <a:endParaRPr dirty="0"/>
          </a:p>
          <a:p>
            <a:pPr marL="0" lvl="0" indent="0" algn="l" rtl="0">
              <a:spcBef>
                <a:spcPts val="880"/>
              </a:spcBef>
              <a:spcAft>
                <a:spcPts val="0"/>
              </a:spcAft>
              <a:buSzPts val="2030"/>
              <a:buNone/>
            </a:pPr>
            <a:r>
              <a:rPr lang="el-GR" sz="1400" u="sng" dirty="0">
                <a:solidFill>
                  <a:schemeClr val="hlink"/>
                </a:solidFill>
                <a:latin typeface="Verdana"/>
                <a:ea typeface="Verdana"/>
                <a:cs typeface="Verdana"/>
                <a:sym typeface="Verdana"/>
                <a:hlinkClick r:id="rId3"/>
              </a:rPr>
              <a:t>https://stackify.com/what-is-sdlc/</a:t>
            </a:r>
            <a:endParaRPr sz="1400" dirty="0">
              <a:latin typeface="Verdana"/>
              <a:ea typeface="Verdana"/>
              <a:cs typeface="Verdana"/>
              <a:sym typeface="Verdana"/>
            </a:endParaRPr>
          </a:p>
          <a:p>
            <a:pPr marL="0" lvl="0" indent="0" algn="l" rtl="0">
              <a:spcBef>
                <a:spcPts val="920"/>
              </a:spcBef>
              <a:spcAft>
                <a:spcPts val="0"/>
              </a:spcAft>
              <a:buSzPts val="2320"/>
              <a:buNone/>
            </a:pPr>
            <a:r>
              <a:rPr lang="el-GR" sz="1600" b="1" dirty="0">
                <a:latin typeface="Verdana"/>
                <a:ea typeface="Verdana"/>
                <a:cs typeface="Verdana"/>
                <a:sym typeface="Verdana"/>
              </a:rPr>
              <a:t>1.1/3.1.1 Το μοντέλο του καταρράκτη</a:t>
            </a:r>
            <a:endParaRPr dirty="0"/>
          </a:p>
          <a:p>
            <a:pPr marL="0" lvl="0" indent="0" algn="l" rtl="0">
              <a:spcBef>
                <a:spcPts val="880"/>
              </a:spcBef>
              <a:spcAft>
                <a:spcPts val="0"/>
              </a:spcAft>
              <a:buSzPts val="2030"/>
              <a:buNone/>
            </a:pPr>
            <a:r>
              <a:rPr lang="el-GR" sz="1400" u="sng" dirty="0">
                <a:solidFill>
                  <a:schemeClr val="hlink"/>
                </a:solidFill>
                <a:latin typeface="Verdana"/>
                <a:ea typeface="Verdana"/>
                <a:cs typeface="Verdana"/>
                <a:sym typeface="Verdana"/>
                <a:hlinkClick r:id="rId4"/>
              </a:rPr>
              <a:t>(PDF) Γενικές Μεθοδολογίες ανάπτυξης λογισμικού (e-book)</a:t>
            </a:r>
            <a:endParaRPr sz="1400" dirty="0">
              <a:latin typeface="Verdana"/>
              <a:ea typeface="Verdana"/>
              <a:cs typeface="Verdana"/>
              <a:sym typeface="Verdana"/>
            </a:endParaRPr>
          </a:p>
          <a:p>
            <a:pPr marL="0" lvl="0" indent="0" algn="l" rtl="0">
              <a:spcBef>
                <a:spcPts val="880"/>
              </a:spcBef>
              <a:spcAft>
                <a:spcPts val="0"/>
              </a:spcAft>
              <a:buSzPts val="2030"/>
              <a:buNone/>
            </a:pPr>
            <a:r>
              <a:rPr lang="el-GR" sz="1400" u="sng" dirty="0">
                <a:solidFill>
                  <a:schemeClr val="hlink"/>
                </a:solidFill>
                <a:latin typeface="Verdana"/>
                <a:ea typeface="Verdana"/>
                <a:cs typeface="Verdana"/>
                <a:sym typeface="Verdana"/>
                <a:hlinkClick r:id="rId5"/>
              </a:rPr>
              <a:t>Διοίκηση Έργου Ανάπτυξης Πληροφοριακού Συστήματος …</a:t>
            </a:r>
            <a:endParaRPr sz="1400" dirty="0">
              <a:latin typeface="Verdana"/>
              <a:ea typeface="Verdana"/>
              <a:cs typeface="Verdana"/>
              <a:sym typeface="Verdana"/>
            </a:endParaRPr>
          </a:p>
          <a:p>
            <a:pPr marL="0" lvl="0" indent="0" algn="l" rtl="0">
              <a:spcBef>
                <a:spcPts val="880"/>
              </a:spcBef>
              <a:spcAft>
                <a:spcPts val="0"/>
              </a:spcAft>
              <a:buSzPts val="2030"/>
              <a:buNone/>
            </a:pPr>
            <a:r>
              <a:rPr lang="el-GR" sz="1400" u="sng" dirty="0">
                <a:solidFill>
                  <a:schemeClr val="hlink"/>
                </a:solidFill>
                <a:latin typeface="Verdana"/>
                <a:ea typeface="Verdana"/>
                <a:cs typeface="Verdana"/>
                <a:sym typeface="Verdana"/>
                <a:hlinkClick r:id="rId6"/>
              </a:rPr>
              <a:t>Agile vs Waterfall: Ποια είναι η καλύτερη μεθοδολογία για το έργο …</a:t>
            </a:r>
            <a:endParaRPr sz="1400" dirty="0">
              <a:latin typeface="Verdana"/>
              <a:ea typeface="Verdana"/>
              <a:cs typeface="Verdana"/>
              <a:sym typeface="Verdana"/>
            </a:endParaRPr>
          </a:p>
          <a:p>
            <a:pPr marL="0" lvl="0" indent="0" algn="l" rtl="0">
              <a:spcBef>
                <a:spcPts val="880"/>
              </a:spcBef>
              <a:spcAft>
                <a:spcPts val="0"/>
              </a:spcAft>
              <a:buSzPts val="2030"/>
              <a:buNone/>
            </a:pPr>
            <a:r>
              <a:rPr lang="el-GR" sz="1400" u="sng" dirty="0">
                <a:solidFill>
                  <a:schemeClr val="hlink"/>
                </a:solidFill>
                <a:latin typeface="Verdana"/>
                <a:ea typeface="Verdana"/>
                <a:cs typeface="Verdana"/>
                <a:sym typeface="Verdana"/>
                <a:hlinkClick r:id="rId7"/>
              </a:rPr>
              <a:t>Τι είναι το μοντέλο SDLC Waterfall; - Αλλα - myservername.com</a:t>
            </a:r>
            <a:endParaRPr sz="1400" u="sng" dirty="0">
              <a:latin typeface="Verdana"/>
              <a:ea typeface="Verdana"/>
              <a:cs typeface="Verdana"/>
              <a:sym typeface="Verdana"/>
            </a:endParaRPr>
          </a:p>
          <a:p>
            <a:pPr marL="0" lvl="0" indent="0" algn="l" rtl="0">
              <a:spcBef>
                <a:spcPts val="920"/>
              </a:spcBef>
              <a:spcAft>
                <a:spcPts val="0"/>
              </a:spcAft>
              <a:buSzPts val="2320"/>
              <a:buNone/>
            </a:pPr>
            <a:r>
              <a:rPr lang="el-GR" sz="1600" b="1" dirty="0">
                <a:latin typeface="Verdana"/>
                <a:ea typeface="Verdana"/>
                <a:cs typeface="Verdana"/>
                <a:sym typeface="Verdana"/>
              </a:rPr>
              <a:t>1.2/3.1.2 Το μοντέλο V</a:t>
            </a:r>
            <a:endParaRPr dirty="0"/>
          </a:p>
          <a:p>
            <a:pPr marL="0" lvl="0" indent="0" algn="l" rtl="0">
              <a:spcBef>
                <a:spcPts val="880"/>
              </a:spcBef>
              <a:spcAft>
                <a:spcPts val="0"/>
              </a:spcAft>
              <a:buSzPts val="2030"/>
              <a:buNone/>
            </a:pPr>
            <a:r>
              <a:rPr lang="el-GR" sz="1400" u="sng" dirty="0">
                <a:solidFill>
                  <a:schemeClr val="hlink"/>
                </a:solidFill>
                <a:latin typeface="Verdana"/>
                <a:ea typeface="Verdana"/>
                <a:cs typeface="Verdana"/>
                <a:sym typeface="Verdana"/>
                <a:hlinkClick r:id="rId8"/>
              </a:rPr>
              <a:t>https://www.geeksforgeeks.org/software-engineering-sdlc-v-model/</a:t>
            </a:r>
            <a:r>
              <a:rPr lang="el-GR" sz="1400" dirty="0">
                <a:latin typeface="Verdana"/>
                <a:ea typeface="Verdana"/>
                <a:cs typeface="Verdana"/>
                <a:sym typeface="Verdana"/>
              </a:rPr>
              <a:t> </a:t>
            </a:r>
            <a:endParaRPr dirty="0"/>
          </a:p>
          <a:p>
            <a:pPr marL="0" lvl="0" indent="0" algn="l" rtl="0">
              <a:spcBef>
                <a:spcPts val="880"/>
              </a:spcBef>
              <a:spcAft>
                <a:spcPts val="0"/>
              </a:spcAft>
              <a:buSzPts val="2030"/>
              <a:buNone/>
            </a:pPr>
            <a:r>
              <a:rPr lang="el-GR" sz="1400" u="sng" dirty="0">
                <a:solidFill>
                  <a:schemeClr val="hlink"/>
                </a:solidFill>
                <a:latin typeface="Verdana"/>
                <a:ea typeface="Verdana"/>
                <a:cs typeface="Verdana"/>
                <a:sym typeface="Verdana"/>
                <a:hlinkClick r:id="rId9"/>
              </a:rPr>
              <a:t>https://en.wikipedia.org/wiki/V-model</a:t>
            </a:r>
            <a:r>
              <a:rPr lang="el-GR" sz="1400" dirty="0">
                <a:latin typeface="Verdana"/>
                <a:ea typeface="Verdana"/>
                <a:cs typeface="Verdana"/>
                <a:sym typeface="Verdana"/>
              </a:rPr>
              <a:t> </a:t>
            </a:r>
            <a:endParaRPr sz="1400" dirty="0">
              <a:latin typeface="Verdana"/>
              <a:ea typeface="Verdana"/>
              <a:cs typeface="Verdana"/>
              <a:sym typeface="Verdana"/>
            </a:endParaRPr>
          </a:p>
          <a:p>
            <a:pPr marL="0" lvl="0" indent="0" algn="l" rtl="0">
              <a:spcBef>
                <a:spcPts val="920"/>
              </a:spcBef>
              <a:spcAft>
                <a:spcPts val="0"/>
              </a:spcAft>
              <a:buSzPts val="2320"/>
              <a:buNone/>
            </a:pPr>
            <a:r>
              <a:rPr lang="el-GR" sz="1600" b="1" dirty="0">
                <a:latin typeface="Verdana"/>
                <a:ea typeface="Verdana"/>
                <a:cs typeface="Verdana"/>
                <a:sym typeface="Verdana"/>
              </a:rPr>
              <a:t>1.3/3.1.3 Το μοντέλο πρωτοτυποποίησης</a:t>
            </a:r>
            <a:endParaRPr dirty="0"/>
          </a:p>
          <a:p>
            <a:pPr marL="0" lvl="0" indent="0" algn="l" rtl="0">
              <a:spcBef>
                <a:spcPts val="880"/>
              </a:spcBef>
              <a:spcAft>
                <a:spcPts val="0"/>
              </a:spcAft>
              <a:buSzPts val="2030"/>
              <a:buNone/>
            </a:pPr>
            <a:r>
              <a:rPr lang="el-GR" sz="1400" u="sng" dirty="0">
                <a:solidFill>
                  <a:schemeClr val="hlink"/>
                </a:solidFill>
                <a:latin typeface="Verdana"/>
                <a:ea typeface="Verdana"/>
                <a:cs typeface="Verdana"/>
                <a:sym typeface="Verdana"/>
                <a:hlinkClick r:id="rId10"/>
              </a:rPr>
              <a:t>https://www.codecademy.com/resources/docs/general/software-development-life-cycle/prototype-model</a:t>
            </a:r>
            <a:endParaRPr sz="1400" dirty="0">
              <a:latin typeface="Verdana"/>
              <a:ea typeface="Verdana"/>
              <a:cs typeface="Verdana"/>
              <a:sym typeface="Verdana"/>
            </a:endParaRPr>
          </a:p>
          <a:p>
            <a:pPr marL="0" lvl="0" indent="0" algn="l" rtl="0">
              <a:spcBef>
                <a:spcPts val="880"/>
              </a:spcBef>
              <a:spcAft>
                <a:spcPts val="0"/>
              </a:spcAft>
              <a:buSzPts val="2030"/>
              <a:buNone/>
            </a:pPr>
            <a:r>
              <a:rPr lang="el-GR" sz="1400" u="sng" dirty="0">
                <a:solidFill>
                  <a:schemeClr val="hlink"/>
                </a:solidFill>
                <a:latin typeface="Verdana"/>
                <a:ea typeface="Verdana"/>
                <a:cs typeface="Verdana"/>
                <a:sym typeface="Verdana"/>
                <a:hlinkClick r:id="rId11"/>
              </a:rPr>
              <a:t>https://www.javatpoint.com/software-engineering-prototype-model</a:t>
            </a:r>
            <a:endParaRPr sz="1400" dirty="0">
              <a:latin typeface="Verdana"/>
              <a:ea typeface="Verdana"/>
              <a:cs typeface="Verdana"/>
              <a:sym typeface="Verdana"/>
            </a:endParaRPr>
          </a:p>
          <a:p>
            <a:pPr marL="0" lvl="0" indent="0" algn="l" rtl="0">
              <a:spcBef>
                <a:spcPts val="880"/>
              </a:spcBef>
              <a:spcAft>
                <a:spcPts val="0"/>
              </a:spcAft>
              <a:buSzPts val="2030"/>
              <a:buNone/>
            </a:pPr>
            <a:r>
              <a:rPr lang="el-GR" sz="1400" u="sng" dirty="0">
                <a:solidFill>
                  <a:schemeClr val="hlink"/>
                </a:solidFill>
                <a:latin typeface="Verdana"/>
                <a:ea typeface="Verdana"/>
                <a:cs typeface="Verdana"/>
                <a:sym typeface="Verdana"/>
                <a:hlinkClick r:id="rId12"/>
              </a:rPr>
              <a:t>https://www.geeksforgeeks.org/software-engineering-prototyping-model/</a:t>
            </a:r>
            <a:endParaRPr sz="1400" dirty="0">
              <a:latin typeface="Verdana"/>
              <a:ea typeface="Verdana"/>
              <a:cs typeface="Verdana"/>
              <a:sym typeface="Verdana"/>
            </a:endParaRPr>
          </a:p>
          <a:p>
            <a:pPr marL="0" lvl="0" indent="0" algn="l" rtl="0">
              <a:spcBef>
                <a:spcPts val="1000"/>
              </a:spcBef>
              <a:spcAft>
                <a:spcPts val="0"/>
              </a:spcAft>
              <a:buSzPts val="2900"/>
              <a:buNone/>
            </a:pPr>
            <a:endParaRPr sz="2000" b="1" dirty="0">
              <a:latin typeface="Verdana"/>
              <a:ea typeface="Verdana"/>
              <a:cs typeface="Verdana"/>
              <a:sym typeface="Verdana"/>
            </a:endParaRPr>
          </a:p>
          <a:p>
            <a:pPr marL="0" lvl="0" indent="0" algn="l" rtl="0">
              <a:spcBef>
                <a:spcPts val="920"/>
              </a:spcBef>
              <a:spcAft>
                <a:spcPts val="0"/>
              </a:spcAft>
              <a:buSzPts val="2320"/>
              <a:buNone/>
            </a:pPr>
            <a:endParaRPr sz="1600" b="1" dirty="0">
              <a:latin typeface="Verdana"/>
              <a:ea typeface="Verdana"/>
              <a:cs typeface="Verdana"/>
              <a:sym typeface="Verdana"/>
            </a:endParaRPr>
          </a:p>
          <a:p>
            <a:pPr marL="0" lvl="0" indent="0" algn="l" rtl="0">
              <a:spcBef>
                <a:spcPts val="920"/>
              </a:spcBef>
              <a:spcAft>
                <a:spcPts val="0"/>
              </a:spcAft>
              <a:buSzPts val="2320"/>
              <a:buNone/>
            </a:pPr>
            <a:endParaRPr sz="1600" dirty="0">
              <a:latin typeface="Verdana"/>
              <a:ea typeface="Verdana"/>
              <a:cs typeface="Verdana"/>
              <a:sym typeface="Verdana"/>
            </a:endParaRPr>
          </a:p>
          <a:p>
            <a:pPr marL="0" lvl="0" indent="0" algn="l" rtl="0">
              <a:spcBef>
                <a:spcPts val="1000"/>
              </a:spcBef>
              <a:spcAft>
                <a:spcPts val="0"/>
              </a:spcAft>
              <a:buSzPts val="2900"/>
              <a:buNone/>
            </a:pPr>
            <a:endParaRPr sz="2000" b="1" dirty="0">
              <a:latin typeface="Verdana"/>
              <a:ea typeface="Verdana"/>
              <a:cs typeface="Verdana"/>
              <a:sym typeface="Verdana"/>
            </a:endParaRPr>
          </a:p>
        </p:txBody>
      </p:sp>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612"/>
        <p:cNvGrpSpPr/>
        <p:nvPr/>
      </p:nvGrpSpPr>
      <p:grpSpPr>
        <a:xfrm>
          <a:off x="0" y="0"/>
          <a:ext cx="0" cy="0"/>
          <a:chOff x="0" y="0"/>
          <a:chExt cx="0" cy="0"/>
        </a:xfrm>
      </p:grpSpPr>
      <p:sp>
        <p:nvSpPr>
          <p:cNvPr id="613" name="Google Shape;613;p66"/>
          <p:cNvSpPr txBox="1">
            <a:spLocks noGrp="1"/>
          </p:cNvSpPr>
          <p:nvPr>
            <p:ph type="title"/>
          </p:nvPr>
        </p:nvSpPr>
        <p:spPr>
          <a:xfrm>
            <a:off x="1484310" y="-72216"/>
            <a:ext cx="10018800" cy="8355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ΑΝΑΦΟΡΕΣ  </a:t>
            </a:r>
            <a:endParaRPr sz="3000"/>
          </a:p>
        </p:txBody>
      </p:sp>
      <p:sp>
        <p:nvSpPr>
          <p:cNvPr id="614" name="Google Shape;614;p66"/>
          <p:cNvSpPr txBox="1">
            <a:spLocks noGrp="1"/>
          </p:cNvSpPr>
          <p:nvPr>
            <p:ph type="body" idx="1"/>
          </p:nvPr>
        </p:nvSpPr>
        <p:spPr>
          <a:xfrm>
            <a:off x="1484309" y="615142"/>
            <a:ext cx="10018713" cy="6414655"/>
          </a:xfrm>
          <a:prstGeom prst="rect">
            <a:avLst/>
          </a:prstGeom>
          <a:noFill/>
          <a:ln>
            <a:noFill/>
          </a:ln>
        </p:spPr>
        <p:txBody>
          <a:bodyPr spcFirstLastPara="1" wrap="square" lIns="91425" tIns="45700" rIns="91425" bIns="45700" anchor="ctr" anchorCtr="0">
            <a:normAutofit fontScale="32500" lnSpcReduction="20000"/>
          </a:bodyPr>
          <a:lstStyle/>
          <a:p>
            <a:pPr marL="0" lvl="0" indent="0" algn="l" rtl="0">
              <a:spcBef>
                <a:spcPts val="0"/>
              </a:spcBef>
              <a:spcAft>
                <a:spcPts val="0"/>
              </a:spcAft>
              <a:buSzPct val="145000"/>
              <a:buNone/>
            </a:pPr>
            <a:r>
              <a:rPr lang="el-GR" sz="5000" b="1" dirty="0">
                <a:latin typeface="Verdana"/>
                <a:ea typeface="Verdana"/>
                <a:cs typeface="Verdana"/>
                <a:sym typeface="Verdana"/>
              </a:rPr>
              <a:t>1.4/3.1.4 Το μοντέλο λειτουργικής επαύξησης</a:t>
            </a:r>
            <a:endParaRPr dirty="0"/>
          </a:p>
          <a:p>
            <a:pPr marL="0" lvl="0" indent="0" algn="l" rtl="0">
              <a:spcBef>
                <a:spcPts val="879"/>
              </a:spcBef>
              <a:spcAft>
                <a:spcPts val="0"/>
              </a:spcAft>
              <a:buSzPct val="145000"/>
              <a:buNone/>
            </a:pPr>
            <a:r>
              <a:rPr lang="el-GR" sz="4300" u="sng" dirty="0">
                <a:solidFill>
                  <a:schemeClr val="hlink"/>
                </a:solidFill>
                <a:latin typeface="Verdana"/>
                <a:ea typeface="Verdana"/>
                <a:cs typeface="Verdana"/>
                <a:sym typeface="Verdana"/>
                <a:hlinkClick r:id="rId3"/>
              </a:rPr>
              <a:t>https://psifiakoskosmos.files.wordpress.com/2009/12/beskoukis1.pdf</a:t>
            </a:r>
            <a:endParaRPr sz="4300" u="sng" dirty="0">
              <a:latin typeface="Verdana"/>
              <a:ea typeface="Verdana"/>
              <a:cs typeface="Verdana"/>
              <a:sym typeface="Verdana"/>
            </a:endParaRPr>
          </a:p>
          <a:p>
            <a:pPr marL="0" lvl="0" indent="0" algn="l" rtl="0">
              <a:spcBef>
                <a:spcPts val="925"/>
              </a:spcBef>
              <a:spcAft>
                <a:spcPts val="0"/>
              </a:spcAft>
              <a:buSzPct val="145000"/>
              <a:buNone/>
            </a:pPr>
            <a:r>
              <a:rPr lang="el-GR" sz="5000" b="1" dirty="0">
                <a:latin typeface="Verdana"/>
                <a:ea typeface="Verdana"/>
                <a:cs typeface="Verdana"/>
                <a:sym typeface="Verdana"/>
              </a:rPr>
              <a:t>1.5/3.1.5 Το σπειροειδές μοντέλο</a:t>
            </a:r>
            <a:endParaRPr dirty="0"/>
          </a:p>
          <a:p>
            <a:pPr marL="0" lvl="0" indent="0" algn="l" rtl="0">
              <a:spcBef>
                <a:spcPts val="879"/>
              </a:spcBef>
              <a:spcAft>
                <a:spcPts val="0"/>
              </a:spcAft>
              <a:buSzPct val="145000"/>
              <a:buNone/>
            </a:pPr>
            <a:r>
              <a:rPr lang="el-GR" sz="4300" u="sng" dirty="0">
                <a:solidFill>
                  <a:schemeClr val="hlink"/>
                </a:solidFill>
                <a:latin typeface="Verdana"/>
                <a:ea typeface="Verdana"/>
                <a:cs typeface="Verdana"/>
                <a:sym typeface="Verdana"/>
                <a:hlinkClick r:id="rId4"/>
              </a:rPr>
              <a:t>https://www.geeksforgeeks.org/software-engineering-spiral-model/</a:t>
            </a:r>
            <a:endParaRPr sz="4300" dirty="0">
              <a:latin typeface="Verdana"/>
              <a:ea typeface="Verdana"/>
              <a:cs typeface="Verdana"/>
              <a:sym typeface="Verdana"/>
            </a:endParaRPr>
          </a:p>
          <a:p>
            <a:pPr marL="0" lvl="0" indent="0" algn="l" rtl="0">
              <a:spcBef>
                <a:spcPts val="879"/>
              </a:spcBef>
              <a:spcAft>
                <a:spcPts val="0"/>
              </a:spcAft>
              <a:buSzPct val="145000"/>
              <a:buNone/>
            </a:pPr>
            <a:r>
              <a:rPr lang="el-GR" sz="4300" u="sng" dirty="0">
                <a:solidFill>
                  <a:schemeClr val="hlink"/>
                </a:solidFill>
                <a:latin typeface="Verdana"/>
                <a:ea typeface="Verdana"/>
                <a:cs typeface="Verdana"/>
                <a:sym typeface="Verdana"/>
                <a:hlinkClick r:id="rId5"/>
              </a:rPr>
              <a:t>https://www.simplilearn.com/spiral-model-in-software-engineering-article#what_is_spiral_model_in_software_engineering</a:t>
            </a:r>
            <a:endParaRPr sz="4300" dirty="0">
              <a:latin typeface="Verdana"/>
              <a:ea typeface="Verdana"/>
              <a:cs typeface="Verdana"/>
              <a:sym typeface="Verdana"/>
            </a:endParaRPr>
          </a:p>
          <a:p>
            <a:pPr marL="0" lvl="0" indent="0" algn="l" rtl="0">
              <a:spcBef>
                <a:spcPts val="925"/>
              </a:spcBef>
              <a:spcAft>
                <a:spcPts val="0"/>
              </a:spcAft>
              <a:buSzPct val="145000"/>
              <a:buNone/>
            </a:pPr>
            <a:r>
              <a:rPr lang="el-GR" sz="5000" b="1" dirty="0">
                <a:latin typeface="Verdana"/>
                <a:ea typeface="Verdana"/>
                <a:cs typeface="Verdana"/>
                <a:sym typeface="Verdana"/>
              </a:rPr>
              <a:t>2.1/3.2.1 Ενοποιημένη προσέγγιση (Unified Process)</a:t>
            </a:r>
            <a:endParaRPr dirty="0"/>
          </a:p>
          <a:p>
            <a:pPr marL="0" lvl="0" indent="0" algn="l" rtl="0">
              <a:spcBef>
                <a:spcPts val="879"/>
              </a:spcBef>
              <a:spcAft>
                <a:spcPts val="0"/>
              </a:spcAft>
              <a:buSzPct val="145000"/>
              <a:buNone/>
            </a:pPr>
            <a:r>
              <a:rPr lang="el-GR" sz="4300" u="sng" dirty="0">
                <a:solidFill>
                  <a:schemeClr val="hlink"/>
                </a:solidFill>
                <a:latin typeface="Verdana"/>
                <a:ea typeface="Verdana"/>
                <a:cs typeface="Verdana"/>
                <a:sym typeface="Verdana"/>
                <a:hlinkClick r:id="rId6"/>
              </a:rPr>
              <a:t>https://www.open.edu/openlearn/science-maths-technology/approaches-software-development/content-section-3.3</a:t>
            </a:r>
            <a:endParaRPr sz="4300" dirty="0">
              <a:latin typeface="Verdana"/>
              <a:ea typeface="Verdana"/>
              <a:cs typeface="Verdana"/>
              <a:sym typeface="Verdana"/>
            </a:endParaRPr>
          </a:p>
          <a:p>
            <a:pPr marL="0" lvl="0" indent="0" algn="l" rtl="0">
              <a:spcBef>
                <a:spcPts val="879"/>
              </a:spcBef>
              <a:spcAft>
                <a:spcPts val="0"/>
              </a:spcAft>
              <a:buSzPct val="145000"/>
              <a:buNone/>
            </a:pPr>
            <a:r>
              <a:rPr lang="el-GR" sz="4300" u="sng" dirty="0">
                <a:solidFill>
                  <a:schemeClr val="hlink"/>
                </a:solidFill>
                <a:latin typeface="Verdana"/>
                <a:ea typeface="Verdana"/>
                <a:cs typeface="Verdana"/>
                <a:sym typeface="Verdana"/>
                <a:hlinkClick r:id="rId7"/>
              </a:rPr>
              <a:t>https://en.wikipedia.org/wiki/Rational_unified_process</a:t>
            </a:r>
            <a:endParaRPr sz="4300" dirty="0">
              <a:latin typeface="Verdana"/>
              <a:ea typeface="Verdana"/>
              <a:cs typeface="Verdana"/>
              <a:sym typeface="Verdana"/>
            </a:endParaRPr>
          </a:p>
          <a:p>
            <a:pPr marL="0" lvl="0" indent="0" algn="l" rtl="0">
              <a:spcBef>
                <a:spcPts val="879"/>
              </a:spcBef>
              <a:spcAft>
                <a:spcPts val="0"/>
              </a:spcAft>
              <a:buSzPct val="145000"/>
              <a:buNone/>
            </a:pPr>
            <a:r>
              <a:rPr lang="el-GR" sz="4300" u="sng" dirty="0">
                <a:solidFill>
                  <a:schemeClr val="hlink"/>
                </a:solidFill>
                <a:latin typeface="Verdana"/>
                <a:ea typeface="Verdana"/>
                <a:cs typeface="Verdana"/>
                <a:sym typeface="Verdana"/>
                <a:hlinkClick r:id="rId8"/>
              </a:rPr>
              <a:t>https://www.geeksforgeeks.org/rup-and-its-phases/?ref=gcse</a:t>
            </a:r>
            <a:endParaRPr sz="4300" u="sng" dirty="0">
              <a:latin typeface="Verdana"/>
              <a:ea typeface="Verdana"/>
              <a:cs typeface="Verdana"/>
              <a:sym typeface="Verdana"/>
            </a:endParaRPr>
          </a:p>
          <a:p>
            <a:pPr marL="0" lvl="0" indent="0" algn="l" rtl="0">
              <a:spcBef>
                <a:spcPts val="925"/>
              </a:spcBef>
              <a:spcAft>
                <a:spcPts val="0"/>
              </a:spcAft>
              <a:buSzPct val="145000"/>
              <a:buNone/>
            </a:pPr>
            <a:r>
              <a:rPr lang="el-GR" sz="5000" b="1" dirty="0">
                <a:latin typeface="Verdana"/>
                <a:ea typeface="Verdana"/>
                <a:cs typeface="Verdana"/>
                <a:sym typeface="Verdana"/>
              </a:rPr>
              <a:t>2.2/3.2.2 Ευέλικτη Ανάπτυξη (Agile Development)</a:t>
            </a:r>
            <a:endParaRPr dirty="0"/>
          </a:p>
          <a:p>
            <a:pPr marL="0" lvl="0" indent="0" algn="l" rtl="0">
              <a:spcBef>
                <a:spcPts val="879"/>
              </a:spcBef>
              <a:spcAft>
                <a:spcPts val="0"/>
              </a:spcAft>
              <a:buSzPct val="145000"/>
              <a:buNone/>
            </a:pPr>
            <a:r>
              <a:rPr lang="el-GR" sz="4300" u="sng" dirty="0">
                <a:solidFill>
                  <a:schemeClr val="hlink"/>
                </a:solidFill>
                <a:latin typeface="Verdana"/>
                <a:ea typeface="Verdana"/>
                <a:cs typeface="Verdana"/>
                <a:sym typeface="Verdana"/>
                <a:hlinkClick r:id="rId9"/>
              </a:rPr>
              <a:t>https://www.edrawmind.com/templates/agile-methodology-template.html</a:t>
            </a:r>
            <a:endParaRPr sz="4300" dirty="0">
              <a:latin typeface="Verdana"/>
              <a:ea typeface="Verdana"/>
              <a:cs typeface="Verdana"/>
              <a:sym typeface="Verdana"/>
            </a:endParaRPr>
          </a:p>
          <a:p>
            <a:pPr marL="0" lvl="0" indent="0" algn="l" rtl="0">
              <a:spcBef>
                <a:spcPts val="879"/>
              </a:spcBef>
              <a:spcAft>
                <a:spcPts val="0"/>
              </a:spcAft>
              <a:buSzPct val="145000"/>
              <a:buNone/>
            </a:pPr>
            <a:r>
              <a:rPr lang="el-GR" sz="4300" u="sng" dirty="0">
                <a:solidFill>
                  <a:schemeClr val="hlink"/>
                </a:solidFill>
                <a:latin typeface="Verdana"/>
                <a:ea typeface="Verdana"/>
                <a:cs typeface="Verdana"/>
                <a:sym typeface="Verdana"/>
                <a:hlinkClick r:id="rId10"/>
              </a:rPr>
              <a:t>https://activecollab.com/blog/project-management/agile-project-management-advantages-disadvantages</a:t>
            </a:r>
            <a:endParaRPr sz="4300" dirty="0">
              <a:latin typeface="Verdana"/>
              <a:ea typeface="Verdana"/>
              <a:cs typeface="Verdana"/>
              <a:sym typeface="Verdana"/>
            </a:endParaRPr>
          </a:p>
          <a:p>
            <a:pPr marL="0" lvl="0" indent="0" algn="l" rtl="0">
              <a:spcBef>
                <a:spcPts val="879"/>
              </a:spcBef>
              <a:spcAft>
                <a:spcPts val="0"/>
              </a:spcAft>
              <a:buSzPct val="145000"/>
              <a:buNone/>
            </a:pPr>
            <a:r>
              <a:rPr lang="el-GR" sz="4300" u="sng" dirty="0">
                <a:solidFill>
                  <a:schemeClr val="hlink"/>
                </a:solidFill>
                <a:latin typeface="Verdana"/>
                <a:ea typeface="Verdana"/>
                <a:cs typeface="Verdana"/>
                <a:sym typeface="Verdana"/>
                <a:hlinkClick r:id="rId11"/>
              </a:rPr>
              <a:t>https://www.inflectra.com/Ideas/Whitepaper/Introduction-to-Agile-Development-Methods.aspx</a:t>
            </a:r>
            <a:endParaRPr sz="4300" dirty="0">
              <a:latin typeface="Verdana"/>
              <a:ea typeface="Verdana"/>
              <a:cs typeface="Verdana"/>
              <a:sym typeface="Verdana"/>
            </a:endParaRPr>
          </a:p>
          <a:p>
            <a:pPr marL="0" lvl="0" indent="0" algn="l" rtl="0">
              <a:spcBef>
                <a:spcPts val="879"/>
              </a:spcBef>
              <a:spcAft>
                <a:spcPts val="0"/>
              </a:spcAft>
              <a:buSzPct val="145000"/>
              <a:buNone/>
            </a:pPr>
            <a:r>
              <a:rPr lang="el-GR" sz="4300" u="sng" dirty="0">
                <a:solidFill>
                  <a:schemeClr val="hlink"/>
                </a:solidFill>
                <a:latin typeface="Verdana"/>
                <a:ea typeface="Verdana"/>
                <a:cs typeface="Verdana"/>
                <a:sym typeface="Verdana"/>
                <a:hlinkClick r:id="rId12"/>
              </a:rPr>
              <a:t>https://startinfinity.com/templates/agile-development</a:t>
            </a:r>
            <a:endParaRPr sz="4300" dirty="0">
              <a:latin typeface="Verdana"/>
              <a:ea typeface="Verdana"/>
              <a:cs typeface="Verdana"/>
              <a:sym typeface="Verdana"/>
            </a:endParaRPr>
          </a:p>
          <a:p>
            <a:pPr marL="0" lvl="0" indent="0" algn="l" rtl="0">
              <a:spcBef>
                <a:spcPts val="879"/>
              </a:spcBef>
              <a:spcAft>
                <a:spcPts val="0"/>
              </a:spcAft>
              <a:buSzPct val="145000"/>
              <a:buNone/>
            </a:pPr>
            <a:r>
              <a:rPr lang="el-GR" sz="4300" u="sng" dirty="0">
                <a:solidFill>
                  <a:schemeClr val="hlink"/>
                </a:solidFill>
                <a:latin typeface="Verdana"/>
                <a:ea typeface="Verdana"/>
                <a:cs typeface="Verdana"/>
                <a:sym typeface="Verdana"/>
                <a:hlinkClick r:id="rId13"/>
              </a:rPr>
              <a:t>https://tryqa.com/what-is-agile-model-advantages-disadvantages-and-when-to-use-it/</a:t>
            </a:r>
            <a:endParaRPr sz="4300" dirty="0">
              <a:latin typeface="Verdana"/>
              <a:ea typeface="Verdana"/>
              <a:cs typeface="Verdana"/>
              <a:sym typeface="Verdana"/>
            </a:endParaRPr>
          </a:p>
          <a:p>
            <a:pPr marL="0" lvl="0" indent="0" algn="l" rtl="0">
              <a:spcBef>
                <a:spcPts val="879"/>
              </a:spcBef>
              <a:spcAft>
                <a:spcPts val="0"/>
              </a:spcAft>
              <a:buSzPct val="145000"/>
              <a:buNone/>
            </a:pPr>
            <a:r>
              <a:rPr lang="el-GR" sz="4300" u="sng" dirty="0">
                <a:solidFill>
                  <a:schemeClr val="hlink"/>
                </a:solidFill>
                <a:latin typeface="Verdana"/>
                <a:ea typeface="Verdana"/>
                <a:cs typeface="Verdana"/>
                <a:sym typeface="Verdana"/>
                <a:hlinkClick r:id="rId14"/>
              </a:rPr>
              <a:t>https://agilemodeling.com/essays/introductiontoam.htm</a:t>
            </a:r>
            <a:endParaRPr sz="4300" dirty="0">
              <a:latin typeface="Verdana"/>
              <a:ea typeface="Verdana"/>
              <a:cs typeface="Verdana"/>
              <a:sym typeface="Verdana"/>
            </a:endParaRPr>
          </a:p>
          <a:p>
            <a:pPr marL="0" lvl="0" indent="0" algn="l" rtl="0">
              <a:spcBef>
                <a:spcPts val="730"/>
              </a:spcBef>
              <a:spcAft>
                <a:spcPts val="0"/>
              </a:spcAft>
              <a:buSzPct val="145000"/>
              <a:buNone/>
            </a:pPr>
            <a:endParaRPr sz="2000" b="1" dirty="0">
              <a:latin typeface="Verdana"/>
              <a:ea typeface="Verdana"/>
              <a:cs typeface="Verdana"/>
              <a:sym typeface="Verdana"/>
            </a:endParaRPr>
          </a:p>
          <a:p>
            <a:pPr marL="0" lvl="0" indent="0" algn="l" rtl="0">
              <a:spcBef>
                <a:spcPts val="730"/>
              </a:spcBef>
              <a:spcAft>
                <a:spcPts val="0"/>
              </a:spcAft>
              <a:buSzPct val="145000"/>
              <a:buNone/>
            </a:pPr>
            <a:r>
              <a:rPr lang="el-GR" sz="2000" dirty="0"/>
              <a:t/>
            </a:r>
            <a:br>
              <a:rPr lang="el-GR" sz="2000" dirty="0"/>
            </a:br>
            <a:endParaRPr sz="2000" b="1" dirty="0">
              <a:latin typeface="Verdana"/>
              <a:ea typeface="Verdana"/>
              <a:cs typeface="Verdana"/>
              <a:sym typeface="Verdana"/>
            </a:endParaRPr>
          </a:p>
        </p:txBody>
      </p:sp>
    </p:spTree>
  </p:cSld>
  <p:clrMapOvr>
    <a:masterClrMapping/>
  </p:clrMapOvr>
  <p:transition spd="med">
    <p:pull/>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p67"/>
          <p:cNvSpPr txBox="1">
            <a:spLocks noGrp="1"/>
          </p:cNvSpPr>
          <p:nvPr>
            <p:ph type="title"/>
          </p:nvPr>
        </p:nvSpPr>
        <p:spPr>
          <a:xfrm>
            <a:off x="1484311" y="91441"/>
            <a:ext cx="10018713" cy="73152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ΑΝΑΦΟΡΕΣ </a:t>
            </a:r>
            <a:endParaRPr sz="3000"/>
          </a:p>
        </p:txBody>
      </p:sp>
      <p:sp>
        <p:nvSpPr>
          <p:cNvPr id="620" name="Google Shape;620;p67"/>
          <p:cNvSpPr txBox="1">
            <a:spLocks noGrp="1"/>
          </p:cNvSpPr>
          <p:nvPr>
            <p:ph type="body" idx="1"/>
          </p:nvPr>
        </p:nvSpPr>
        <p:spPr>
          <a:xfrm>
            <a:off x="1753650" y="822950"/>
            <a:ext cx="10018800" cy="57078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7105"/>
              <a:buNone/>
            </a:pPr>
            <a:endParaRPr sz="2050" b="1" dirty="0">
              <a:latin typeface="Verdana"/>
              <a:ea typeface="Verdana"/>
              <a:cs typeface="Verdana"/>
              <a:sym typeface="Verdana"/>
            </a:endParaRPr>
          </a:p>
          <a:p>
            <a:pPr marL="0" lvl="0" indent="0" algn="l" rtl="0">
              <a:spcBef>
                <a:spcPts val="0"/>
              </a:spcBef>
              <a:spcAft>
                <a:spcPts val="0"/>
              </a:spcAft>
              <a:buSzPts val="7105"/>
              <a:buNone/>
            </a:pPr>
            <a:r>
              <a:rPr lang="el-GR" sz="1600" b="1" dirty="0">
                <a:latin typeface="Verdana"/>
                <a:ea typeface="Verdana"/>
                <a:cs typeface="Verdana"/>
                <a:sym typeface="Verdana"/>
              </a:rPr>
              <a:t>2.3/3.2.3 Ανάπτυξης DevOps</a:t>
            </a:r>
            <a:endParaRPr sz="1600" dirty="0"/>
          </a:p>
          <a:p>
            <a:pPr marL="39729" lvl="0" indent="0" algn="l" rtl="0">
              <a:spcBef>
                <a:spcPts val="879"/>
              </a:spcBef>
              <a:spcAft>
                <a:spcPts val="0"/>
              </a:spcAft>
              <a:buSzPts val="1400"/>
              <a:buNone/>
            </a:pPr>
            <a:r>
              <a:rPr lang="el-GR" sz="1400" u="sng" dirty="0">
                <a:solidFill>
                  <a:schemeClr val="hlink"/>
                </a:solidFill>
                <a:latin typeface="Verdana"/>
                <a:ea typeface="Verdana"/>
                <a:cs typeface="Verdana"/>
                <a:sym typeface="Verdana"/>
                <a:hlinkClick r:id="rId3"/>
              </a:rPr>
              <a:t>https://www.atlassian.com/devops</a:t>
            </a:r>
            <a:endParaRPr sz="1400" dirty="0">
              <a:latin typeface="Verdana"/>
              <a:ea typeface="Verdana"/>
              <a:cs typeface="Verdana"/>
              <a:sym typeface="Verdana"/>
            </a:endParaRPr>
          </a:p>
          <a:p>
            <a:pPr marL="39729" lvl="0" indent="0" algn="l" rtl="0">
              <a:spcBef>
                <a:spcPts val="879"/>
              </a:spcBef>
              <a:spcAft>
                <a:spcPts val="0"/>
              </a:spcAft>
              <a:buSzPts val="1400"/>
              <a:buNone/>
            </a:pPr>
            <a:r>
              <a:rPr lang="el-GR" sz="1400" u="sng" dirty="0">
                <a:solidFill>
                  <a:schemeClr val="hlink"/>
                </a:solidFill>
                <a:latin typeface="Verdana"/>
                <a:ea typeface="Verdana"/>
                <a:cs typeface="Verdana"/>
                <a:sym typeface="Verdana"/>
                <a:hlinkClick r:id="rId4"/>
              </a:rPr>
              <a:t>https://aws.amazon.com/devops/what-is-devops/</a:t>
            </a:r>
            <a:endParaRPr sz="1400" dirty="0">
              <a:latin typeface="Verdana"/>
              <a:ea typeface="Verdana"/>
              <a:cs typeface="Verdana"/>
              <a:sym typeface="Verdana"/>
            </a:endParaRPr>
          </a:p>
          <a:p>
            <a:pPr marL="39729" lvl="0" indent="0" algn="l" rtl="0">
              <a:spcBef>
                <a:spcPts val="879"/>
              </a:spcBef>
              <a:spcAft>
                <a:spcPts val="0"/>
              </a:spcAft>
              <a:buSzPts val="1400"/>
              <a:buNone/>
            </a:pPr>
            <a:r>
              <a:rPr lang="el-GR" sz="1400" u="sng" dirty="0">
                <a:solidFill>
                  <a:schemeClr val="hlink"/>
                </a:solidFill>
                <a:latin typeface="Verdana"/>
                <a:ea typeface="Verdana"/>
                <a:cs typeface="Verdana"/>
                <a:sym typeface="Verdana"/>
                <a:hlinkClick r:id="rId5"/>
              </a:rPr>
              <a:t>https://bigblue.academy/gr/devops</a:t>
            </a:r>
            <a:endParaRPr sz="1400" dirty="0">
              <a:latin typeface="Verdana"/>
              <a:ea typeface="Verdana"/>
              <a:cs typeface="Verdana"/>
              <a:sym typeface="Verdana"/>
            </a:endParaRPr>
          </a:p>
          <a:p>
            <a:pPr marL="39729" lvl="0" indent="0" algn="l" rtl="0">
              <a:spcBef>
                <a:spcPts val="879"/>
              </a:spcBef>
              <a:spcAft>
                <a:spcPts val="0"/>
              </a:spcAft>
              <a:buSzPts val="1400"/>
              <a:buNone/>
            </a:pPr>
            <a:r>
              <a:rPr lang="el-GR" sz="1400" u="sng" dirty="0">
                <a:solidFill>
                  <a:schemeClr val="hlink"/>
                </a:solidFill>
                <a:latin typeface="Verdana"/>
                <a:ea typeface="Verdana"/>
                <a:cs typeface="Verdana"/>
                <a:sym typeface="Verdana"/>
                <a:hlinkClick r:id="rId6"/>
              </a:rPr>
              <a:t>https://www.simpliaxis.com/resources/devops-pros-and-cons</a:t>
            </a:r>
            <a:endParaRPr sz="1400" dirty="0">
              <a:latin typeface="Verdana"/>
              <a:ea typeface="Verdana"/>
              <a:cs typeface="Verdana"/>
              <a:sym typeface="Verdana"/>
            </a:endParaRPr>
          </a:p>
          <a:p>
            <a:pPr marL="0" lvl="0" indent="0" algn="l" rtl="0">
              <a:spcBef>
                <a:spcPts val="918"/>
              </a:spcBef>
              <a:spcAft>
                <a:spcPts val="0"/>
              </a:spcAft>
              <a:buSzPts val="7105"/>
              <a:buNone/>
            </a:pPr>
            <a:r>
              <a:rPr lang="el-GR" sz="1600" b="1" dirty="0">
                <a:latin typeface="Verdana"/>
                <a:ea typeface="Verdana"/>
                <a:cs typeface="Verdana"/>
                <a:sym typeface="Verdana"/>
              </a:rPr>
              <a:t>2.4/3.2.4 Μεθοδολογία Scrum</a:t>
            </a:r>
            <a:endParaRPr sz="1600" dirty="0"/>
          </a:p>
          <a:p>
            <a:pPr marL="39729" lvl="0" indent="0" algn="l" rtl="0">
              <a:spcBef>
                <a:spcPts val="879"/>
              </a:spcBef>
              <a:spcAft>
                <a:spcPts val="0"/>
              </a:spcAft>
              <a:buSzPts val="1400"/>
              <a:buNone/>
            </a:pPr>
            <a:r>
              <a:rPr lang="el-GR" sz="1400" u="sng" dirty="0">
                <a:solidFill>
                  <a:schemeClr val="hlink"/>
                </a:solidFill>
                <a:latin typeface="Verdana"/>
                <a:ea typeface="Verdana"/>
                <a:cs typeface="Verdana"/>
                <a:sym typeface="Verdana"/>
                <a:hlinkClick r:id="rId7"/>
              </a:rPr>
              <a:t>10 Free Workflow Templates in ClickUp &amp; Excel</a:t>
            </a:r>
            <a:endParaRPr sz="1400" dirty="0">
              <a:latin typeface="Verdana"/>
              <a:ea typeface="Verdana"/>
              <a:cs typeface="Verdana"/>
              <a:sym typeface="Verdana"/>
            </a:endParaRPr>
          </a:p>
          <a:p>
            <a:pPr marL="39729" lvl="0" indent="0" algn="l" rtl="0">
              <a:spcBef>
                <a:spcPts val="879"/>
              </a:spcBef>
              <a:spcAft>
                <a:spcPts val="0"/>
              </a:spcAft>
              <a:buSzPts val="1400"/>
              <a:buNone/>
            </a:pPr>
            <a:r>
              <a:rPr lang="el-GR" sz="1400" u="sng" dirty="0">
                <a:solidFill>
                  <a:schemeClr val="hlink"/>
                </a:solidFill>
                <a:latin typeface="Verdana"/>
                <a:ea typeface="Verdana"/>
                <a:cs typeface="Verdana"/>
                <a:sym typeface="Verdana"/>
                <a:hlinkClick r:id="rId8"/>
              </a:rPr>
              <a:t>Scrum Project Management: Advantages and Disadvantages</a:t>
            </a:r>
            <a:endParaRPr sz="1400" dirty="0">
              <a:latin typeface="Verdana"/>
              <a:ea typeface="Verdana"/>
              <a:cs typeface="Verdana"/>
              <a:sym typeface="Verdana"/>
            </a:endParaRPr>
          </a:p>
          <a:p>
            <a:pPr marL="39729" lvl="0" indent="0" algn="l" rtl="0">
              <a:spcBef>
                <a:spcPts val="879"/>
              </a:spcBef>
              <a:spcAft>
                <a:spcPts val="0"/>
              </a:spcAft>
              <a:buSzPts val="1400"/>
              <a:buNone/>
            </a:pPr>
            <a:r>
              <a:rPr lang="el-GR" sz="1400" u="sng" dirty="0">
                <a:solidFill>
                  <a:schemeClr val="hlink"/>
                </a:solidFill>
                <a:latin typeface="Verdana"/>
                <a:ea typeface="Verdana"/>
                <a:cs typeface="Verdana"/>
                <a:sym typeface="Verdana"/>
                <a:hlinkClick r:id="rId9"/>
              </a:rPr>
              <a:t>The Three Pillars of Empiricism (Scrum)</a:t>
            </a:r>
            <a:endParaRPr sz="1400" dirty="0">
              <a:latin typeface="Verdana"/>
              <a:ea typeface="Verdana"/>
              <a:cs typeface="Verdana"/>
              <a:sym typeface="Verdana"/>
            </a:endParaRPr>
          </a:p>
          <a:p>
            <a:pPr marL="39729" lvl="0" indent="0" algn="l" rtl="0">
              <a:spcBef>
                <a:spcPts val="879"/>
              </a:spcBef>
              <a:spcAft>
                <a:spcPts val="0"/>
              </a:spcAft>
              <a:buSzPts val="1400"/>
              <a:buNone/>
            </a:pPr>
            <a:r>
              <a:rPr lang="el-GR" sz="1400" u="sng" dirty="0">
                <a:solidFill>
                  <a:schemeClr val="hlink"/>
                </a:solidFill>
                <a:latin typeface="Verdana"/>
                <a:ea typeface="Verdana"/>
                <a:cs typeface="Verdana"/>
                <a:sym typeface="Verdana"/>
                <a:hlinkClick r:id="rId10"/>
              </a:rPr>
              <a:t>https://www.slideteam.net/blog/top-10-agile-scrum-framework-templates</a:t>
            </a:r>
            <a:endParaRPr sz="1400" dirty="0">
              <a:latin typeface="Verdana"/>
              <a:ea typeface="Verdana"/>
              <a:cs typeface="Verdana"/>
              <a:sym typeface="Verdana"/>
            </a:endParaRPr>
          </a:p>
          <a:p>
            <a:pPr marL="39729" lvl="0" indent="0" algn="l" rtl="0">
              <a:spcBef>
                <a:spcPts val="879"/>
              </a:spcBef>
              <a:spcAft>
                <a:spcPts val="0"/>
              </a:spcAft>
              <a:buSzPts val="1400"/>
              <a:buNone/>
            </a:pPr>
            <a:r>
              <a:rPr lang="el-GR" sz="1400" u="sng" dirty="0">
                <a:solidFill>
                  <a:schemeClr val="hlink"/>
                </a:solidFill>
                <a:latin typeface="Verdana"/>
                <a:ea typeface="Verdana"/>
                <a:cs typeface="Verdana"/>
                <a:sym typeface="Verdana"/>
                <a:hlinkClick r:id="rId11"/>
              </a:rPr>
              <a:t>https://www.theknowledgeacademy.com/blog/advantages-and-disadvantages-of-scrum/</a:t>
            </a:r>
            <a:endParaRPr sz="1400" dirty="0">
              <a:latin typeface="Verdana"/>
              <a:ea typeface="Verdana"/>
              <a:cs typeface="Verdana"/>
              <a:sym typeface="Verdana"/>
            </a:endParaRPr>
          </a:p>
          <a:p>
            <a:pPr marL="39730" lvl="0" indent="0" algn="l" rtl="0">
              <a:spcBef>
                <a:spcPts val="879"/>
              </a:spcBef>
              <a:spcAft>
                <a:spcPts val="0"/>
              </a:spcAft>
              <a:buSzPts val="1400"/>
              <a:buNone/>
            </a:pPr>
            <a:r>
              <a:rPr lang="el-GR" sz="1400" u="sng" dirty="0">
                <a:solidFill>
                  <a:schemeClr val="hlink"/>
                </a:solidFill>
                <a:latin typeface="Verdana"/>
                <a:ea typeface="Verdana"/>
                <a:cs typeface="Verdana"/>
                <a:sym typeface="Verdana"/>
                <a:hlinkClick r:id="rId12"/>
              </a:rPr>
              <a:t>https://medium.com/agile-outside-the-box/understanding-scrum-the-scrum-5-3-5-3-3-d8c2553899df</a:t>
            </a:r>
            <a:endParaRPr sz="1400" dirty="0">
              <a:latin typeface="Verdana"/>
              <a:ea typeface="Verdana"/>
              <a:cs typeface="Verdana"/>
              <a:sym typeface="Verdana"/>
            </a:endParaRPr>
          </a:p>
          <a:p>
            <a:pPr marL="0" lvl="0" indent="0" algn="l" rtl="0">
              <a:spcBef>
                <a:spcPts val="756"/>
              </a:spcBef>
              <a:spcAft>
                <a:spcPts val="0"/>
              </a:spcAft>
              <a:buSzPts val="3480"/>
              <a:buNone/>
            </a:pPr>
            <a:endParaRPr b="1" dirty="0">
              <a:latin typeface="Verdana"/>
              <a:ea typeface="Verdana"/>
              <a:cs typeface="Verdana"/>
              <a:sym typeface="Verdana"/>
            </a:endParaRPr>
          </a:p>
          <a:p>
            <a:pPr marL="0" lvl="0" indent="0" algn="l" rtl="0">
              <a:spcBef>
                <a:spcPts val="756"/>
              </a:spcBef>
              <a:spcAft>
                <a:spcPts val="0"/>
              </a:spcAft>
              <a:buSzPts val="3480"/>
              <a:buNone/>
            </a:pPr>
            <a:endParaRPr dirty="0"/>
          </a:p>
        </p:txBody>
      </p:sp>
    </p:spTree>
  </p:cSld>
  <p:clrMapOvr>
    <a:masterClrMapping/>
  </p:clrMapOvr>
  <p:transition spd="med">
    <p:pull/>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sp>
        <p:nvSpPr>
          <p:cNvPr id="625" name="Google Shape;625;p68"/>
          <p:cNvSpPr txBox="1">
            <a:spLocks noGrp="1"/>
          </p:cNvSpPr>
          <p:nvPr>
            <p:ph type="title"/>
          </p:nvPr>
        </p:nvSpPr>
        <p:spPr>
          <a:xfrm>
            <a:off x="1484310" y="0"/>
            <a:ext cx="10018713" cy="1752599"/>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ΑΝΑΦΟΡΕΣ </a:t>
            </a:r>
            <a:endParaRPr sz="3000"/>
          </a:p>
        </p:txBody>
      </p:sp>
      <p:sp>
        <p:nvSpPr>
          <p:cNvPr id="626" name="Google Shape;626;p68"/>
          <p:cNvSpPr txBox="1">
            <a:spLocks noGrp="1"/>
          </p:cNvSpPr>
          <p:nvPr>
            <p:ph type="body" idx="1"/>
          </p:nvPr>
        </p:nvSpPr>
        <p:spPr>
          <a:xfrm>
            <a:off x="1484263" y="1287849"/>
            <a:ext cx="10018800" cy="4845000"/>
          </a:xfrm>
          <a:prstGeom prst="rect">
            <a:avLst/>
          </a:prstGeom>
          <a:noFill/>
          <a:ln>
            <a:noFill/>
          </a:ln>
        </p:spPr>
        <p:txBody>
          <a:bodyPr spcFirstLastPara="1" wrap="square" lIns="91425" tIns="45700" rIns="91425" bIns="45700" anchor="ctr" anchorCtr="0">
            <a:normAutofit/>
          </a:bodyPr>
          <a:lstStyle/>
          <a:p>
            <a:pPr marL="0" lvl="0" indent="0" algn="l" rtl="0">
              <a:spcBef>
                <a:spcPts val="918"/>
              </a:spcBef>
              <a:spcAft>
                <a:spcPts val="0"/>
              </a:spcAft>
              <a:buClr>
                <a:schemeClr val="dk1"/>
              </a:buClr>
              <a:buSzPts val="7105"/>
              <a:buFont typeface="Arial"/>
              <a:buNone/>
            </a:pPr>
            <a:r>
              <a:rPr lang="el-GR" sz="1600" b="1" dirty="0">
                <a:latin typeface="Verdana"/>
                <a:ea typeface="Verdana"/>
                <a:cs typeface="Verdana"/>
                <a:sym typeface="Verdana"/>
              </a:rPr>
              <a:t>2.5/3.2.5 Ακραίος Προγραμματισμός (Extreme Programming)</a:t>
            </a:r>
            <a:endParaRPr sz="1600" dirty="0"/>
          </a:p>
          <a:p>
            <a:pPr marL="39730" lvl="0" indent="0" algn="l" rtl="0">
              <a:spcBef>
                <a:spcPts val="879"/>
              </a:spcBef>
              <a:spcAft>
                <a:spcPts val="0"/>
              </a:spcAft>
              <a:buSzPts val="1400"/>
              <a:buNone/>
            </a:pPr>
            <a:r>
              <a:rPr lang="el-GR" sz="1400" u="sng" dirty="0">
                <a:solidFill>
                  <a:schemeClr val="hlink"/>
                </a:solidFill>
                <a:latin typeface="Verdana"/>
                <a:ea typeface="Verdana"/>
                <a:cs typeface="Verdana"/>
                <a:sym typeface="Verdana"/>
                <a:hlinkClick r:id="rId3"/>
              </a:rPr>
              <a:t>https://en.wikipedia.org/wiki/Extreme_programming</a:t>
            </a:r>
            <a:endParaRPr sz="1400" dirty="0">
              <a:latin typeface="Verdana"/>
              <a:ea typeface="Verdana"/>
              <a:cs typeface="Verdana"/>
              <a:sym typeface="Verdana"/>
            </a:endParaRPr>
          </a:p>
          <a:p>
            <a:pPr marL="39730" lvl="0" indent="0" algn="l" rtl="0">
              <a:spcBef>
                <a:spcPts val="879"/>
              </a:spcBef>
              <a:spcAft>
                <a:spcPts val="0"/>
              </a:spcAft>
              <a:buSzPts val="1400"/>
              <a:buNone/>
            </a:pPr>
            <a:r>
              <a:rPr lang="el-GR" sz="1400" u="sng" dirty="0">
                <a:solidFill>
                  <a:schemeClr val="hlink"/>
                </a:solidFill>
                <a:latin typeface="Verdana"/>
                <a:ea typeface="Verdana"/>
                <a:cs typeface="Verdana"/>
                <a:sym typeface="Verdana"/>
                <a:hlinkClick r:id="rId4"/>
              </a:rPr>
              <a:t>https://asana.com/resources/extreme-programming-xp</a:t>
            </a:r>
            <a:endParaRPr sz="1400" dirty="0">
              <a:latin typeface="Verdana"/>
              <a:ea typeface="Verdana"/>
              <a:cs typeface="Verdana"/>
              <a:sym typeface="Verdana"/>
            </a:endParaRPr>
          </a:p>
          <a:p>
            <a:pPr marL="39730" lvl="0" indent="0" algn="l" rtl="0">
              <a:spcBef>
                <a:spcPts val="879"/>
              </a:spcBef>
              <a:spcAft>
                <a:spcPts val="0"/>
              </a:spcAft>
              <a:buSzPts val="1400"/>
              <a:buNone/>
            </a:pPr>
            <a:r>
              <a:rPr lang="el-GR" sz="1400" u="sng" dirty="0">
                <a:solidFill>
                  <a:schemeClr val="hlink"/>
                </a:solidFill>
                <a:latin typeface="Verdana"/>
                <a:ea typeface="Verdana"/>
                <a:cs typeface="Verdana"/>
                <a:sym typeface="Verdana"/>
                <a:hlinkClick r:id="rId5"/>
              </a:rPr>
              <a:t>https://www.nimblework.com/agile/extreme-programming-xp/#elementor-toc__heading-anchor-1</a:t>
            </a:r>
            <a:endParaRPr sz="1400" dirty="0">
              <a:latin typeface="Verdana"/>
              <a:ea typeface="Verdana"/>
              <a:cs typeface="Verdana"/>
              <a:sym typeface="Verdana"/>
            </a:endParaRPr>
          </a:p>
          <a:p>
            <a:pPr marL="39730" lvl="0" indent="0" algn="l" rtl="0">
              <a:spcBef>
                <a:spcPts val="879"/>
              </a:spcBef>
              <a:spcAft>
                <a:spcPts val="0"/>
              </a:spcAft>
              <a:buSzPts val="1400"/>
              <a:buNone/>
            </a:pPr>
            <a:r>
              <a:rPr lang="el-GR" sz="1400" u="sng" dirty="0">
                <a:solidFill>
                  <a:schemeClr val="hlink"/>
                </a:solidFill>
                <a:latin typeface="Verdana"/>
                <a:ea typeface="Verdana"/>
                <a:cs typeface="Verdana"/>
                <a:sym typeface="Verdana"/>
                <a:hlinkClick r:id="rId6"/>
              </a:rPr>
              <a:t>https://hygger.io/blog/disadvantages-and-advantages-of-extreme-programming/</a:t>
            </a:r>
            <a:endParaRPr sz="1400" dirty="0">
              <a:latin typeface="Verdana"/>
              <a:ea typeface="Verdana"/>
              <a:cs typeface="Verdana"/>
              <a:sym typeface="Verdana"/>
            </a:endParaRPr>
          </a:p>
          <a:p>
            <a:pPr marL="0" lvl="0" indent="0" algn="l" rtl="0">
              <a:spcBef>
                <a:spcPts val="0"/>
              </a:spcBef>
              <a:spcAft>
                <a:spcPts val="0"/>
              </a:spcAft>
              <a:buSzPts val="2320"/>
              <a:buNone/>
            </a:pPr>
            <a:r>
              <a:rPr lang="el-GR" sz="1400" u="sng" dirty="0" smtClean="0">
                <a:solidFill>
                  <a:schemeClr val="hlink"/>
                </a:solidFill>
                <a:latin typeface="Verdana"/>
                <a:ea typeface="Verdana"/>
                <a:cs typeface="Verdana"/>
                <a:sym typeface="Verdana"/>
                <a:hlinkClick r:id="rId7"/>
              </a:rPr>
              <a:t/>
            </a:r>
            <a:br>
              <a:rPr lang="el-GR" sz="1400" u="sng" dirty="0" smtClean="0">
                <a:solidFill>
                  <a:schemeClr val="hlink"/>
                </a:solidFill>
                <a:latin typeface="Verdana"/>
                <a:ea typeface="Verdana"/>
                <a:cs typeface="Verdana"/>
                <a:sym typeface="Verdana"/>
                <a:hlinkClick r:id="rId7"/>
              </a:rPr>
            </a:br>
            <a:r>
              <a:rPr lang="el-GR" sz="1400" u="sng" dirty="0" smtClean="0">
                <a:solidFill>
                  <a:schemeClr val="hlink"/>
                </a:solidFill>
                <a:latin typeface="Verdana"/>
                <a:ea typeface="Verdana"/>
                <a:cs typeface="Verdana"/>
                <a:sym typeface="Verdana"/>
                <a:hlinkClick r:id="rId7"/>
              </a:rPr>
              <a:t>https</a:t>
            </a:r>
            <a:r>
              <a:rPr lang="el-GR" sz="1400" u="sng" dirty="0">
                <a:solidFill>
                  <a:schemeClr val="hlink"/>
                </a:solidFill>
                <a:latin typeface="Verdana"/>
                <a:ea typeface="Verdana"/>
                <a:cs typeface="Verdana"/>
                <a:sym typeface="Verdana"/>
                <a:hlinkClick r:id="rId7"/>
              </a:rPr>
              <a:t>://simpleprogrammer.com/pros-cons-extreme-programming-xp/?utm_content=cmp-true</a:t>
            </a:r>
            <a:r>
              <a:rPr lang="el-GR" sz="1400" b="1" dirty="0">
                <a:latin typeface="Verdana"/>
                <a:ea typeface="Verdana"/>
                <a:cs typeface="Verdana"/>
                <a:sym typeface="Verdana"/>
              </a:rPr>
              <a:t/>
            </a:r>
            <a:br>
              <a:rPr lang="el-GR" sz="1400" b="1" dirty="0">
                <a:latin typeface="Verdana"/>
                <a:ea typeface="Verdana"/>
                <a:cs typeface="Verdana"/>
                <a:sym typeface="Verdana"/>
              </a:rPr>
            </a:br>
            <a:endParaRPr sz="1400" b="1" dirty="0">
              <a:latin typeface="Verdana"/>
              <a:ea typeface="Verdana"/>
              <a:cs typeface="Verdana"/>
              <a:sym typeface="Verdana"/>
            </a:endParaRPr>
          </a:p>
          <a:p>
            <a:pPr marL="0" lvl="0" indent="0" algn="l" rtl="0">
              <a:spcBef>
                <a:spcPts val="0"/>
              </a:spcBef>
              <a:spcAft>
                <a:spcPts val="0"/>
              </a:spcAft>
              <a:buSzPts val="2320"/>
              <a:buNone/>
            </a:pPr>
            <a:r>
              <a:rPr lang="el-GR" sz="1600" b="1" dirty="0">
                <a:latin typeface="Verdana"/>
                <a:ea typeface="Verdana"/>
                <a:cs typeface="Verdana"/>
                <a:sym typeface="Verdana"/>
              </a:rPr>
              <a:t>2.6/3.2.6 Ανάπτυξη οδηγούμενη από τον έλεγχο (Test-driven development)</a:t>
            </a:r>
            <a:endParaRPr sz="1600" dirty="0"/>
          </a:p>
          <a:p>
            <a:pPr marL="40005" lvl="0" indent="0" algn="l" rtl="0">
              <a:spcBef>
                <a:spcPts val="880"/>
              </a:spcBef>
              <a:spcAft>
                <a:spcPts val="0"/>
              </a:spcAft>
              <a:buSzPts val="1400"/>
              <a:buNone/>
            </a:pPr>
            <a:r>
              <a:rPr lang="el-GR" sz="1400" u="sng" dirty="0">
                <a:solidFill>
                  <a:schemeClr val="hlink"/>
                </a:solidFill>
                <a:latin typeface="Verdana"/>
                <a:ea typeface="Verdana"/>
                <a:cs typeface="Verdana"/>
                <a:sym typeface="Verdana"/>
                <a:hlinkClick r:id="rId8"/>
              </a:rPr>
              <a:t>https://www.geeksforgeeks.org/advantages-and-disadvantages-of-test-driven-development-tdd/?ref=gcse</a:t>
            </a:r>
            <a:r>
              <a:rPr lang="el-GR" sz="1400" dirty="0">
                <a:latin typeface="Verdana"/>
                <a:ea typeface="Verdana"/>
                <a:cs typeface="Verdana"/>
                <a:sym typeface="Verdana"/>
              </a:rPr>
              <a:t> </a:t>
            </a:r>
            <a:endParaRPr sz="1400" dirty="0"/>
          </a:p>
          <a:p>
            <a:pPr marL="40005" lvl="0" indent="0" algn="l" rtl="0">
              <a:spcBef>
                <a:spcPts val="880"/>
              </a:spcBef>
              <a:spcAft>
                <a:spcPts val="0"/>
              </a:spcAft>
              <a:buSzPts val="1400"/>
              <a:buNone/>
            </a:pPr>
            <a:r>
              <a:rPr lang="el-GR" sz="1400" u="sng" dirty="0">
                <a:solidFill>
                  <a:schemeClr val="hlink"/>
                </a:solidFill>
                <a:latin typeface="Verdana"/>
                <a:ea typeface="Verdana"/>
                <a:cs typeface="Verdana"/>
                <a:sym typeface="Verdana"/>
                <a:hlinkClick r:id="rId9"/>
              </a:rPr>
              <a:t>https://www.geeksforgeeks.org/test-driven-development-tdd/?ref=gcse</a:t>
            </a:r>
            <a:endParaRPr sz="1400" dirty="0">
              <a:latin typeface="Verdana"/>
              <a:ea typeface="Verdana"/>
              <a:cs typeface="Verdana"/>
              <a:sym typeface="Verdana"/>
            </a:endParaRPr>
          </a:p>
          <a:p>
            <a:pPr marL="0" lvl="0" indent="0" algn="l" rtl="0">
              <a:spcBef>
                <a:spcPts val="920"/>
              </a:spcBef>
              <a:spcAft>
                <a:spcPts val="0"/>
              </a:spcAft>
              <a:buSzPts val="2320"/>
              <a:buNone/>
            </a:pPr>
            <a:endParaRPr sz="1600" b="1" dirty="0">
              <a:latin typeface="Verdana"/>
              <a:ea typeface="Verdana"/>
              <a:cs typeface="Verdana"/>
              <a:sym typeface="Verdana"/>
            </a:endParaRPr>
          </a:p>
          <a:p>
            <a:pPr marL="0" lvl="0" indent="0" algn="l" rtl="0">
              <a:spcBef>
                <a:spcPts val="1080"/>
              </a:spcBef>
              <a:spcAft>
                <a:spcPts val="0"/>
              </a:spcAft>
              <a:buSzPts val="3480"/>
              <a:buNone/>
            </a:pPr>
            <a:endParaRPr dirty="0"/>
          </a:p>
        </p:txBody>
      </p:sp>
    </p:spTree>
  </p:cSld>
  <p:clrMapOvr>
    <a:masterClrMapping/>
  </p:clrMapOvr>
  <p:transition spd="med">
    <p:pull/>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631" name="Google Shape;631;p69"/>
          <p:cNvSpPr txBox="1">
            <a:spLocks noGrp="1"/>
          </p:cNvSpPr>
          <p:nvPr>
            <p:ph type="title"/>
          </p:nvPr>
        </p:nvSpPr>
        <p:spPr>
          <a:xfrm>
            <a:off x="1467685" y="211975"/>
            <a:ext cx="10018713" cy="100168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l-GR" sz="3000" b="1">
                <a:latin typeface="Verdana"/>
                <a:ea typeface="Verdana"/>
                <a:cs typeface="Verdana"/>
                <a:sym typeface="Verdana"/>
              </a:rPr>
              <a:t>ΕΡΩΤΗΣΕΙΣ;</a:t>
            </a:r>
            <a:endParaRPr sz="300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94700" y="1213659"/>
            <a:ext cx="4964682" cy="4964682"/>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Parallax">
  <a:themeElements>
    <a:clrScheme name="Parallax">
      <a:dk1>
        <a:srgbClr val="000000"/>
      </a:dk1>
      <a:lt1>
        <a:srgbClr val="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82</TotalTime>
  <Words>3554</Words>
  <Application>Microsoft Office PowerPoint</Application>
  <PresentationFormat>Widescreen</PresentationFormat>
  <Paragraphs>365</Paragraphs>
  <Slides>65</Slides>
  <Notes>65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65</vt:i4>
      </vt:variant>
    </vt:vector>
  </HeadingPairs>
  <TitlesOfParts>
    <vt:vector size="71" baseType="lpstr">
      <vt:lpstr>Calibri</vt:lpstr>
      <vt:lpstr>Corbel</vt:lpstr>
      <vt:lpstr>Wingdings</vt:lpstr>
      <vt:lpstr>Arial</vt:lpstr>
      <vt:lpstr>Verdana</vt:lpstr>
      <vt:lpstr>Parallax</vt:lpstr>
      <vt:lpstr>ΠΟΙΟΤΗΤΑ &amp; ΑΞΙΟΠΙΣΤΙΑ ΛΟΓΙΣΜΙΚΟΥ   ΜΟΝΤΕΛΑ &amp; ΜΕΘΟΔΟΛΟΓΙΕΣ ΚΥΚΛΟΥ ΖΩΗΣ ΛΟΓΙΣΜΙΚΟΥ</vt:lpstr>
      <vt:lpstr>0. ΓΕΝΙΚΗ ΕΙΣΑΓΩΓΗ</vt:lpstr>
      <vt:lpstr>1. ΒΑΣΙΚΑ ΜΟΝΤΕΛΑ ΑΝΑΠΤΥΞΗΣ ΛΟΓΙΣΜΙΚΟΥ</vt:lpstr>
      <vt:lpstr>1.1. Το μοντέλο του καταρράκτη</vt:lpstr>
      <vt:lpstr>1.1. Το μοντέλο του καταρράκτη</vt:lpstr>
      <vt:lpstr>1.1. Το μοντέλο του καταρράκτη</vt:lpstr>
      <vt:lpstr>1.1. Το μοντέλο του καταρράκτη</vt:lpstr>
      <vt:lpstr>1.2. Το μοντέλο V</vt:lpstr>
      <vt:lpstr>1.2. Το μοντέλο V</vt:lpstr>
      <vt:lpstr>1.2. Το μοντέλο V</vt:lpstr>
      <vt:lpstr>1.2. Το μοντέλο V</vt:lpstr>
      <vt:lpstr>1.3. Το μοντέλο πρωτοτυποποίησης</vt:lpstr>
      <vt:lpstr>1.3. Το μοντέλο πρωτοτυποποίησης</vt:lpstr>
      <vt:lpstr>1.3. Το μοντέλο πρωτοτυποποίησης</vt:lpstr>
      <vt:lpstr>1.3. Το μοντέλο πρωτοτυποποίησης</vt:lpstr>
      <vt:lpstr>1.4. Το μοντέλο λειτουργικής επαύξησης</vt:lpstr>
      <vt:lpstr>1.4. Το μοντέλο λειτουργικής επαύξησης</vt:lpstr>
      <vt:lpstr>1.4. Το μοντέλο λειτουργικής επαύξησης</vt:lpstr>
      <vt:lpstr>1.4. Το μοντέλο λειτουργικής επαύξησης</vt:lpstr>
      <vt:lpstr>1.5. Το σπειροειδές μοντέλο</vt:lpstr>
      <vt:lpstr>1.5. Το σπειροειδές μοντέλο </vt:lpstr>
      <vt:lpstr>1.5. Το σπειροειδές μοντέλο </vt:lpstr>
      <vt:lpstr>1.5. Το σπειροειδές μοντέλο </vt:lpstr>
      <vt:lpstr>1.5. Το σπειροειδές μοντέλο </vt:lpstr>
      <vt:lpstr>2. ΣΥΓΧΡΟΝΑ ΜΟΝΤΕΛΑ ΑΝΑΠΤΥΞΗΣ ΛΟΓΙΣΜΙΚΟΥ</vt:lpstr>
      <vt:lpstr>2.1. Ενοποιημένη Προσέγγιση  (Unified Process)</vt:lpstr>
      <vt:lpstr>2.1. Ενοποιημένη Προσέγγιση  (Unified Process)</vt:lpstr>
      <vt:lpstr>2.1. Ενοποιημένη Προσέγγιση  (Unified Process)</vt:lpstr>
      <vt:lpstr>2.1. Ενοποιημένη Προσέγγιση  (Unified Process)</vt:lpstr>
      <vt:lpstr>2.2. Ευέλικτη Ανάπτυξη  (Agile Development)</vt:lpstr>
      <vt:lpstr>2.2. Ευέλικτη Ανάπτυξη  (Agile Development)</vt:lpstr>
      <vt:lpstr>2.2. Ευέλικτη Ανάπτυξη (Agile Development)</vt:lpstr>
      <vt:lpstr>2.2. Ευέλικτη Ανάπτυξη  (Agile Development)</vt:lpstr>
      <vt:lpstr>2.3. Ανάπτυξης DevOps</vt:lpstr>
      <vt:lpstr>2.3. Ανάπτυξης DevOps</vt:lpstr>
      <vt:lpstr>2.3. Ανάπτυξης DevOps</vt:lpstr>
      <vt:lpstr>2.3. Ανάπτυξης DevOps</vt:lpstr>
      <vt:lpstr>2.3. Ανάπτυξης DevOps</vt:lpstr>
      <vt:lpstr>2.3. Ανάπτυξης DevOps</vt:lpstr>
      <vt:lpstr>2.4. Μεθοδολογία Scrum</vt:lpstr>
      <vt:lpstr>2.4. Μεθοδολογία Scrum</vt:lpstr>
      <vt:lpstr>2.4. Μεθοδολογία Scrum</vt:lpstr>
      <vt:lpstr>2.4. Μεθοδολογία Scrum</vt:lpstr>
      <vt:lpstr>2.5. Ακραίος Προγραμματισμός  (Extreme Programming)</vt:lpstr>
      <vt:lpstr>2.5. Ακραίος Προγραμματισμός  (Extreme Programming)</vt:lpstr>
      <vt:lpstr>2.5. Ακραίος Προγραμματισμός  (Extreme Programming)</vt:lpstr>
      <vt:lpstr>2.5. Ακραίος Προγραμματισμός  (Extreme Programming)</vt:lpstr>
      <vt:lpstr>2.5. Ακραίος Προγραμματισμός  (Extreme Programming)</vt:lpstr>
      <vt:lpstr>2.6. Ανάπτυξη οδηγούμενη από τον έλεγχο  (Test-driven Development)</vt:lpstr>
      <vt:lpstr>2.6. Ανάπτυξη οδηγούμενη από τον έλεγχο  (Test-driven Development)</vt:lpstr>
      <vt:lpstr>2.6. Ανάπτυξη οδηγούμενη από τον έλεγχο  (Test-driven Development)</vt:lpstr>
      <vt:lpstr>2.6. Ανάπτυξη οδηγούμενη από τον έλεγχο  (Test-driven Development)</vt:lpstr>
      <vt:lpstr>3. ΕΠΙΛΟΓΗ ΚΑΤΑΛΛΗΛΗΣ ΜΕΘΟΔΟΛΟΓΙΑΣ ΑΝΑΠΤΥΞΗΣ </vt:lpstr>
      <vt:lpstr>3.0. ΕΙΣΑΓΩΓΗ </vt:lpstr>
      <vt:lpstr>3.1. Καταλληλότητα των Βασικών Μοντέλων Ανάπτυξης Λογισμικού</vt:lpstr>
      <vt:lpstr>3.1. Καταλληλότητα των Βασικών Μοντέλων Ανάπτυξης Λογισμικού</vt:lpstr>
      <vt:lpstr>3.2. Καταλληλότητα των Σύγχρονων Μοντέλων Ανάπτυξης Λογισμικού</vt:lpstr>
      <vt:lpstr>3.2. Καταλληλότητα των Σύγχρονων Μοντέλων Ανάπτυξης Λογισμικού</vt:lpstr>
      <vt:lpstr>PowerPoint Presentation</vt:lpstr>
      <vt:lpstr>4. ΓΕΝΙΚΗ ΣΥΝΟΨΗ   </vt:lpstr>
      <vt:lpstr>ΑΝΑΦΟΡΕΣ   </vt:lpstr>
      <vt:lpstr>ΑΝΑΦΟΡΕΣ  </vt:lpstr>
      <vt:lpstr>ΑΝΑΦΟΡΕΣ </vt:lpstr>
      <vt:lpstr>ΑΝΑΦΟΡΕΣ </vt:lpstr>
      <vt:lpstr>ΕΡΩΤΗΣΕΙΣ;</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ΠΟΙΟΤΗΤΑ &amp; ΑΞΙΟΠΙΣΤΙΑ ΛΟΓΙΣΜΙΚΟΥ   ΜΟΝΤΕΛΑ &amp; ΜΕΘΟΔΟΛΟΓΙΕΣ ΚΥΚΛΟΥ ΖΩΗΣ ΛΟΓΙΣΜΙΚΟΥ</dc:title>
  <dc:creator>billath131908@gmail.com</dc:creator>
  <cp:lastModifiedBy>billath131908@gmail.com</cp:lastModifiedBy>
  <cp:revision>10</cp:revision>
  <dcterms:created xsi:type="dcterms:W3CDTF">2023-12-04T20:31:04Z</dcterms:created>
  <dcterms:modified xsi:type="dcterms:W3CDTF">2024-01-30T08:23:32Z</dcterms:modified>
</cp:coreProperties>
</file>